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21"/>
  </p:notesMasterIdLst>
  <p:sldIdLst>
    <p:sldId id="310" r:id="rId2"/>
    <p:sldId id="307" r:id="rId3"/>
    <p:sldId id="328" r:id="rId4"/>
    <p:sldId id="329" r:id="rId5"/>
    <p:sldId id="330" r:id="rId6"/>
    <p:sldId id="331" r:id="rId7"/>
    <p:sldId id="333" r:id="rId8"/>
    <p:sldId id="335" r:id="rId9"/>
    <p:sldId id="346" r:id="rId10"/>
    <p:sldId id="336" r:id="rId11"/>
    <p:sldId id="347" r:id="rId12"/>
    <p:sldId id="348" r:id="rId13"/>
    <p:sldId id="349" r:id="rId14"/>
    <p:sldId id="350" r:id="rId15"/>
    <p:sldId id="342" r:id="rId16"/>
    <p:sldId id="343" r:id="rId17"/>
    <p:sldId id="344" r:id="rId18"/>
    <p:sldId id="345" r:id="rId19"/>
    <p:sldId id="327" r:id="rId20"/>
  </p:sldIdLst>
  <p:sldSz cx="12192000" cy="6858000"/>
  <p:notesSz cx="9144000" cy="6858000"/>
  <p:custDataLst>
    <p:tags r:id="rId22"/>
  </p:custDataLst>
  <p:defaultText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The Alpha" id="{C999F64D-FDE6-49F9-80AF-FA547EF512A7}">
          <p14:sldIdLst>
            <p14:sldId id="310"/>
            <p14:sldId id="307"/>
          </p14:sldIdLst>
        </p14:section>
        <p14:section name="研究背景" id="{65165754-9099-4F44-B0D1-F5A05E9CA901}">
          <p14:sldIdLst>
            <p14:sldId id="328"/>
            <p14:sldId id="329"/>
          </p14:sldIdLst>
        </p14:section>
        <p14:section name="研究现状" id="{23778104-C823-4D72-91CD-8523DB7795C7}">
          <p14:sldIdLst>
            <p14:sldId id="330"/>
            <p14:sldId id="331"/>
            <p14:sldId id="333"/>
          </p14:sldIdLst>
        </p14:section>
        <p14:section name="理论依据与研究内容" id="{FBCCB31B-38C1-43B5-AED6-DFC5320C671A}">
          <p14:sldIdLst>
            <p14:sldId id="335"/>
            <p14:sldId id="346"/>
            <p14:sldId id="336"/>
            <p14:sldId id="347"/>
            <p14:sldId id="348"/>
            <p14:sldId id="349"/>
            <p14:sldId id="350"/>
          </p14:sldIdLst>
        </p14:section>
        <p14:section name="创新点总结" id="{A11A4F55-FEED-4682-80FA-B8E3E6B6838E}">
          <p14:sldIdLst>
            <p14:sldId id="342"/>
            <p14:sldId id="343"/>
            <p14:sldId id="344"/>
            <p14:sldId id="345"/>
          </p14:sldIdLst>
        </p14:section>
        <p14:section name="The Omega" id="{AE237F10-02DC-4B5B-93BE-2BC14F90E57C}">
          <p14:sldIdLst>
            <p14:sldId id="32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60" userDrawn="1">
          <p15:clr>
            <a:srgbClr val="A4A3A4"/>
          </p15:clr>
        </p15:guide>
        <p15:guide id="2" pos="288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4C9AE"/>
    <a:srgbClr val="9966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922" y="91"/>
      </p:cViewPr>
      <p:guideLst>
        <p:guide orient="horz" pos="2160"/>
        <p:guide pos="3840"/>
      </p:guideLst>
    </p:cSldViewPr>
  </p:slideViewPr>
  <p:notesTextViewPr>
    <p:cViewPr>
      <p:scale>
        <a:sx n="100" d="100"/>
        <a:sy n="100" d="100"/>
      </p:scale>
      <p:origin x="0" y="0"/>
    </p:cViewPr>
  </p:notesTextViewPr>
  <p:notesViewPr>
    <p:cSldViewPr showGuides="1">
      <p:cViewPr varScale="1">
        <p:scale>
          <a:sx n="61" d="100"/>
          <a:sy n="61" d="100"/>
        </p:scale>
        <p:origin x="-3216" y="-72"/>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C92CDB1E-9234-4DE3-B1B0-A3145D9229B4}" type="datetimeFigureOut">
              <a:rPr lang="zh-CN" altLang="en-US" smtClean="0"/>
              <a:t>2025/10/19</a:t>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9AAA8746-F1BF-4756-BE87-F7DCC251CE0E}" type="slidenum">
              <a:rPr lang="zh-CN" altLang="en-US" smtClean="0"/>
              <a:t>‹#›</a:t>
            </a:fld>
            <a:endParaRPr lang="zh-CN" altLang="en-US"/>
          </a:p>
        </p:txBody>
      </p:sp>
    </p:spTree>
    <p:extLst>
      <p:ext uri="{BB962C8B-B14F-4D97-AF65-F5344CB8AC3E}">
        <p14:creationId xmlns:p14="http://schemas.microsoft.com/office/powerpoint/2010/main" val="154062173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t>0</a:t>
            </a:fld>
            <a:endParaRPr lang="zh-CN" altLang="en-US"/>
          </a:p>
        </p:txBody>
      </p:sp>
    </p:spTree>
    <p:extLst>
      <p:ext uri="{BB962C8B-B14F-4D97-AF65-F5344CB8AC3E}">
        <p14:creationId xmlns:p14="http://schemas.microsoft.com/office/powerpoint/2010/main" val="521452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t>1</a:t>
            </a:fld>
            <a:endParaRPr lang="zh-CN" altLang="en-US"/>
          </a:p>
        </p:txBody>
      </p:sp>
    </p:spTree>
    <p:extLst>
      <p:ext uri="{BB962C8B-B14F-4D97-AF65-F5344CB8AC3E}">
        <p14:creationId xmlns:p14="http://schemas.microsoft.com/office/powerpoint/2010/main" val="312963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0CD3F-3CCF-B3D0-D641-2CBC27C954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430ABF-195F-8AED-8FFF-831A9B4760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65574B-41F0-5DC2-4D40-32FAE65A6E1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EFB4334-9876-0462-88E1-47EF7D31B191}"/>
              </a:ext>
            </a:extLst>
          </p:cNvPr>
          <p:cNvSpPr>
            <a:spLocks noGrp="1"/>
          </p:cNvSpPr>
          <p:nvPr>
            <p:ph type="sldNum" sz="quarter" idx="5"/>
          </p:nvPr>
        </p:nvSpPr>
        <p:spPr/>
        <p:txBody>
          <a:bodyPr/>
          <a:lstStyle/>
          <a:p>
            <a:fld id="{9AAA8746-F1BF-4756-BE87-F7DCC251CE0E}" type="slidenum">
              <a:rPr lang="zh-CN" altLang="en-US" smtClean="0"/>
              <a:t>2</a:t>
            </a:fld>
            <a:endParaRPr lang="zh-CN" altLang="en-US"/>
          </a:p>
        </p:txBody>
      </p:sp>
    </p:spTree>
    <p:extLst>
      <p:ext uri="{BB962C8B-B14F-4D97-AF65-F5344CB8AC3E}">
        <p14:creationId xmlns:p14="http://schemas.microsoft.com/office/powerpoint/2010/main" val="703564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t>18</a:t>
            </a:fld>
            <a:endParaRPr lang="zh-CN" altLang="en-US"/>
          </a:p>
        </p:txBody>
      </p:sp>
    </p:spTree>
    <p:extLst>
      <p:ext uri="{BB962C8B-B14F-4D97-AF65-F5344CB8AC3E}">
        <p14:creationId xmlns:p14="http://schemas.microsoft.com/office/powerpoint/2010/main" val="316125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67C5B03-7F97-4E79-9970-74E343E91A89}" type="datetime1">
              <a:rPr lang="zh-CN" altLang="en-US" smtClean="0"/>
              <a:t>2025/10/19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733848F-BBF5-4C05-A5DC-471468FCAE78}" type="datetime1">
              <a:rPr lang="zh-CN" altLang="en-US" smtClean="0"/>
              <a:t>2025/10/19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C625651-3E16-4BAA-9544-7CCA2849C260}" type="datetime1">
              <a:rPr lang="zh-CN" altLang="en-US" smtClean="0"/>
              <a:t>2025/10/19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09954C0-A83B-4331-BAA3-AFA1F045ADB4}" type="datetime1">
              <a:rPr lang="zh-CN" altLang="en-US" smtClean="0"/>
              <a:t>2025/10/19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2"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C181AC3-D0F6-40C3-8A72-6770DA6E9922}" type="datetime1">
              <a:rPr lang="zh-CN" altLang="en-US" smtClean="0"/>
              <a:t>2025/10/19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8F1F759-96E6-4F34-8C6F-B991D53DAD4A}" type="datetime1">
              <a:rPr lang="zh-CN" altLang="en-US" smtClean="0"/>
              <a:t>2025/10/19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9CF9E2A-7113-2718-2B8E-BB758CCF39DA}"/>
              </a:ext>
            </a:extLst>
          </p:cNvPr>
          <p:cNvPicPr>
            <a:picLocks noChangeAspect="1"/>
          </p:cNvPicPr>
          <p:nvPr userDrawn="1"/>
        </p:nvPicPr>
        <p:blipFill rotWithShape="1">
          <a:blip r:embed="rId2">
            <a:lum bright="70000" contrast="-70000"/>
            <a:extLst>
              <a:ext uri="{BEBA8EAE-BF5A-486C-A8C5-ECC9F3942E4B}">
                <a14:imgProps xmlns:a14="http://schemas.microsoft.com/office/drawing/2010/main">
                  <a14:imgLayer r:embed="rId3">
                    <a14:imgEffect>
                      <a14:artisticLightScreen/>
                    </a14:imgEffect>
                    <a14:imgEffect>
                      <a14:saturation sat="5000"/>
                    </a14:imgEffect>
                  </a14:imgLayer>
                </a14:imgProps>
              </a:ext>
              <a:ext uri="{28A0092B-C50C-407E-A947-70E740481C1C}">
                <a14:useLocalDpi xmlns:a14="http://schemas.microsoft.com/office/drawing/2010/main" val="0"/>
              </a:ext>
            </a:extLst>
          </a:blip>
          <a:srcRect r="50044"/>
          <a:stretch/>
        </p:blipFill>
        <p:spPr>
          <a:xfrm>
            <a:off x="8880309" y="-6285"/>
            <a:ext cx="3311691" cy="6773968"/>
          </a:xfrm>
          <a:prstGeom prst="rect">
            <a:avLst/>
          </a:prstGeom>
          <a:noFill/>
          <a:ln>
            <a:noFill/>
          </a:ln>
          <a:effectLst>
            <a:softEdge rad="12700"/>
          </a:effectLst>
        </p:spPr>
      </p:pic>
      <p:sp>
        <p:nvSpPr>
          <p:cNvPr id="2" name="日期占位符 1"/>
          <p:cNvSpPr>
            <a:spLocks noGrp="1"/>
          </p:cNvSpPr>
          <p:nvPr>
            <p:ph type="dt" sz="half" idx="10"/>
          </p:nvPr>
        </p:nvSpPr>
        <p:spPr/>
        <p:txBody>
          <a:bodyPr/>
          <a:lstStyle/>
          <a:p>
            <a:fld id="{DA782932-DF3E-4957-A4AA-44CEF3DB0866}" type="datetime1">
              <a:rPr lang="zh-CN" altLang="en-US" smtClean="0"/>
              <a:t>2025/10/19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31931969"/>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49"/>
            <a:ext cx="4011084" cy="1162051"/>
          </a:xfr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24811CD-691E-48E9-8982-6F2778941B76}" type="datetime1">
              <a:rPr lang="zh-CN" altLang="en-US" smtClean="0"/>
              <a:t>2025/10/19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9"/>
          </a:xfr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zh-CN" altLang="en-US"/>
          </a:p>
        </p:txBody>
      </p:sp>
      <p:sp>
        <p:nvSpPr>
          <p:cNvPr id="4" name="文本占位符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BD7BB23-F02F-4F27-94DC-7169393C91E2}" type="datetime1">
              <a:rPr lang="zh-CN" altLang="en-US" smtClean="0"/>
              <a:t>2025/10/19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DBEDA0F-74B4-4C3C-A21E-DD9911FDA076}" type="datetime1">
              <a:rPr lang="zh-CN" altLang="en-US" smtClean="0"/>
              <a:t>2025/10/19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40A43EF-637B-423D-B011-7DDF86FED2D4}" type="datetime1">
              <a:rPr lang="zh-CN" altLang="en-US" smtClean="0"/>
              <a:t>2025/10/19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7"/>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48FF1743-7B50-42D0-9E99-38DBBF5E4D05}" type="datetime1">
              <a:rPr lang="zh-CN" altLang="en-US" smtClean="0"/>
              <a:t>2025/10/19</a:t>
            </a:fld>
            <a:endParaRPr lang="zh-CN" altLang="en-US"/>
          </a:p>
        </p:txBody>
      </p:sp>
      <p:sp>
        <p:nvSpPr>
          <p:cNvPr id="5" name="页脚占位符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hf hdr="0" ftr="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webp"/><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34" Type="http://schemas.openxmlformats.org/officeDocument/2006/relationships/image" Target="../media/image6.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slideLayout" Target="../slideLayouts/slideLayout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tags" Target="../tags/tag33.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tags" Target="../tags/tag3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s>
</file>

<file path=ppt/slides/_rels/slide6.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tags" Target="../tags/tag51.xml"/><Relationship Id="rId26" Type="http://schemas.openxmlformats.org/officeDocument/2006/relationships/tags" Target="../tags/tag59.xml"/><Relationship Id="rId3" Type="http://schemas.openxmlformats.org/officeDocument/2006/relationships/tags" Target="../tags/tag36.xml"/><Relationship Id="rId21" Type="http://schemas.openxmlformats.org/officeDocument/2006/relationships/tags" Target="../tags/tag54.xml"/><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5" Type="http://schemas.openxmlformats.org/officeDocument/2006/relationships/tags" Target="../tags/tag58.xml"/><Relationship Id="rId33" Type="http://schemas.openxmlformats.org/officeDocument/2006/relationships/slideLayout" Target="../slideLayouts/slideLayout8.xml"/><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tags" Target="../tags/tag53.xml"/><Relationship Id="rId29" Type="http://schemas.openxmlformats.org/officeDocument/2006/relationships/tags" Target="../tags/tag62.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tags" Target="../tags/tag57.xml"/><Relationship Id="rId32" Type="http://schemas.openxmlformats.org/officeDocument/2006/relationships/tags" Target="../tags/tag65.xml"/><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tags" Target="../tags/tag56.xml"/><Relationship Id="rId28" Type="http://schemas.openxmlformats.org/officeDocument/2006/relationships/tags" Target="../tags/tag61.xml"/><Relationship Id="rId10" Type="http://schemas.openxmlformats.org/officeDocument/2006/relationships/tags" Target="../tags/tag43.xml"/><Relationship Id="rId19" Type="http://schemas.openxmlformats.org/officeDocument/2006/relationships/tags" Target="../tags/tag52.xml"/><Relationship Id="rId31" Type="http://schemas.openxmlformats.org/officeDocument/2006/relationships/tags" Target="../tags/tag64.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tags" Target="../tags/tag55.xml"/><Relationship Id="rId27" Type="http://schemas.openxmlformats.org/officeDocument/2006/relationships/tags" Target="../tags/tag60.xml"/><Relationship Id="rId30" Type="http://schemas.openxmlformats.org/officeDocument/2006/relationships/tags" Target="../tags/tag6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jpeg"/><Relationship Id="rId1" Type="http://schemas.openxmlformats.org/officeDocument/2006/relationships/slideLayout" Target="../slideLayouts/slideLayout8.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jpeg"/><Relationship Id="rId10" Type="http://schemas.openxmlformats.org/officeDocument/2006/relationships/image" Target="../media/image16.png"/><Relationship Id="rId4" Type="http://schemas.openxmlformats.org/officeDocument/2006/relationships/image" Target="../media/image10.jpe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image" Target="../media/image26.png"/><Relationship Id="rId18" Type="http://schemas.openxmlformats.org/officeDocument/2006/relationships/image" Target="../media/image31.jp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2.jpg"/><Relationship Id="rId16" Type="http://schemas.openxmlformats.org/officeDocument/2006/relationships/image" Target="../media/image29.png"/><Relationship Id="rId1" Type="http://schemas.openxmlformats.org/officeDocument/2006/relationships/slideLayout" Target="../slideLayouts/slideLayout8.xml"/><Relationship Id="rId6" Type="http://schemas.openxmlformats.org/officeDocument/2006/relationships/image" Target="../media/image23.png"/><Relationship Id="rId11" Type="http://schemas.openxmlformats.org/officeDocument/2006/relationships/image" Target="../media/image8.jpeg"/><Relationship Id="rId5" Type="http://schemas.openxmlformats.org/officeDocument/2006/relationships/image" Target="../media/image22.png"/><Relationship Id="rId15" Type="http://schemas.openxmlformats.org/officeDocument/2006/relationships/image" Target="../media/image28.png"/><Relationship Id="rId10" Type="http://schemas.openxmlformats.org/officeDocument/2006/relationships/image" Target="../media/image9.jpeg"/><Relationship Id="rId4" Type="http://schemas.openxmlformats.org/officeDocument/2006/relationships/image" Target="../media/image21.png"/><Relationship Id="rId9" Type="http://schemas.openxmlformats.org/officeDocument/2006/relationships/image" Target="../media/image10.jpeg"/><Relationship Id="rId1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3" Type="http://schemas.openxmlformats.org/officeDocument/2006/relationships/image" Target="../media/image8.jpeg"/><Relationship Id="rId21" Type="http://schemas.openxmlformats.org/officeDocument/2006/relationships/image" Target="../media/image46.png"/><Relationship Id="rId7" Type="http://schemas.openxmlformats.org/officeDocument/2006/relationships/image" Target="../media/image10.jpe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image" Target="../media/image11.jpeg"/><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8.xml"/><Relationship Id="rId6" Type="http://schemas.openxmlformats.org/officeDocument/2006/relationships/image" Target="../media/image9.jpeg"/><Relationship Id="rId11" Type="http://schemas.openxmlformats.org/officeDocument/2006/relationships/image" Target="../media/image36.png"/><Relationship Id="rId5" Type="http://schemas.openxmlformats.org/officeDocument/2006/relationships/image" Target="../media/image25.png"/><Relationship Id="rId15" Type="http://schemas.openxmlformats.org/officeDocument/2006/relationships/image" Target="../media/image40.png"/><Relationship Id="rId23" Type="http://schemas.openxmlformats.org/officeDocument/2006/relationships/image" Target="../media/image32.png"/><Relationship Id="rId10" Type="http://schemas.openxmlformats.org/officeDocument/2006/relationships/image" Target="../media/image35.png"/><Relationship Id="rId19" Type="http://schemas.openxmlformats.org/officeDocument/2006/relationships/image" Target="../media/image44.png"/><Relationship Id="rId4" Type="http://schemas.openxmlformats.org/officeDocument/2006/relationships/image" Target="../media/image12.jp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1344" y="164638"/>
            <a:ext cx="11809312" cy="6528725"/>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grpSp>
        <p:nvGrpSpPr>
          <p:cNvPr id="18" name="组合 17"/>
          <p:cNvGrpSpPr/>
          <p:nvPr/>
        </p:nvGrpSpPr>
        <p:grpSpPr>
          <a:xfrm>
            <a:off x="1913345" y="770428"/>
            <a:ext cx="8705900" cy="4289393"/>
            <a:chOff x="1435008" y="577820"/>
            <a:chExt cx="6529425" cy="3217045"/>
          </a:xfrm>
        </p:grpSpPr>
        <p:sp>
          <p:nvSpPr>
            <p:cNvPr id="8" name="矩形 7"/>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sp>
          <p:nvSpPr>
            <p:cNvPr id="9" name="矩形 8"/>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sp>
          <p:nvSpPr>
            <p:cNvPr id="11" name="矩形 10"/>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cxnSp>
          <p:nvCxnSpPr>
            <p:cNvPr id="13" name="直接连接符 12"/>
            <p:cNvCxnSpPr/>
            <p:nvPr/>
          </p:nvCxnSpPr>
          <p:spPr>
            <a:xfrm flipH="1">
              <a:off x="7015627" y="577820"/>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35008" y="2975534"/>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6420580E-4B99-DB59-97F8-1BE209F0BFED}"/>
              </a:ext>
            </a:extLst>
          </p:cNvPr>
          <p:cNvGrpSpPr/>
          <p:nvPr/>
        </p:nvGrpSpPr>
        <p:grpSpPr>
          <a:xfrm>
            <a:off x="149531" y="2352568"/>
            <a:ext cx="11851125" cy="1129344"/>
            <a:chOff x="112148" y="1750377"/>
            <a:chExt cx="8888344" cy="847008"/>
          </a:xfrm>
        </p:grpSpPr>
        <p:sp>
          <p:nvSpPr>
            <p:cNvPr id="12" name="文本框 11"/>
            <p:cNvSpPr txBox="1"/>
            <p:nvPr/>
          </p:nvSpPr>
          <p:spPr>
            <a:xfrm>
              <a:off x="2195736" y="2312643"/>
              <a:ext cx="4464496" cy="284742"/>
            </a:xfrm>
            <a:prstGeom prst="rect">
              <a:avLst/>
            </a:prstGeom>
            <a:noFill/>
          </p:spPr>
          <p:txBody>
            <a:bodyPr wrap="square" rtlCol="0">
              <a:spAutoFit/>
            </a:bodyPr>
            <a:lstStyle/>
            <a:p>
              <a:pPr algn="ctr"/>
              <a:r>
                <a:rPr lang="zh-CN" altLang="en-US" sz="1867" b="1" dirty="0">
                  <a:latin typeface="苹方-简" panose="020B0400000000000000" pitchFamily="34" charset="-122"/>
                  <a:ea typeface="苹方-简" panose="020B0400000000000000" pitchFamily="34" charset="-122"/>
                  <a:cs typeface="+mn-ea"/>
                </a:rPr>
                <a:t>答辩人：王佳伟  指导教师：袁帅</a:t>
              </a:r>
            </a:p>
          </p:txBody>
        </p:sp>
        <p:sp>
          <p:nvSpPr>
            <p:cNvPr id="14" name="文本框 13"/>
            <p:cNvSpPr txBox="1"/>
            <p:nvPr/>
          </p:nvSpPr>
          <p:spPr>
            <a:xfrm>
              <a:off x="112148" y="1750377"/>
              <a:ext cx="8888344" cy="561741"/>
            </a:xfrm>
            <a:prstGeom prst="rect">
              <a:avLst/>
            </a:prstGeom>
            <a:noFill/>
          </p:spPr>
          <p:txBody>
            <a:bodyPr wrap="square" rtlCol="0">
              <a:spAutoFit/>
            </a:bodyPr>
            <a:lstStyle/>
            <a:p>
              <a:pPr algn="ctr"/>
              <a:r>
                <a:rPr lang="zh-CN" altLang="en-US" sz="4267" b="1" dirty="0">
                  <a:latin typeface="苹方-简 中黑体" panose="020B0600000000000000" pitchFamily="34" charset="-122"/>
                  <a:ea typeface="苹方-简 中黑体" panose="020B0600000000000000" pitchFamily="34" charset="-122"/>
                  <a:cs typeface="+mn-ea"/>
                </a:rPr>
                <a:t>基于扩散模型的深度估计方法</a:t>
              </a:r>
            </a:p>
          </p:txBody>
        </p:sp>
      </p:grpSp>
    </p:spTree>
    <p:extLst>
      <p:ext uri="{BB962C8B-B14F-4D97-AF65-F5344CB8AC3E}">
        <p14:creationId xmlns:p14="http://schemas.microsoft.com/office/powerpoint/2010/main" val="3989798349"/>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1344" y="164638"/>
            <a:ext cx="11809312" cy="6528725"/>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grpSp>
        <p:nvGrpSpPr>
          <p:cNvPr id="7" name="组合 6">
            <a:extLst>
              <a:ext uri="{FF2B5EF4-FFF2-40B4-BE49-F238E27FC236}">
                <a16:creationId xmlns:a16="http://schemas.microsoft.com/office/drawing/2014/main" id="{15BB4600-5F18-40C6-BF5E-E8C78820B854}"/>
              </a:ext>
            </a:extLst>
          </p:cNvPr>
          <p:cNvGrpSpPr/>
          <p:nvPr/>
        </p:nvGrpSpPr>
        <p:grpSpPr>
          <a:xfrm>
            <a:off x="805471" y="1796819"/>
            <a:ext cx="1434367" cy="2866573"/>
            <a:chOff x="604102" y="1347614"/>
            <a:chExt cx="1075775" cy="2149930"/>
          </a:xfrm>
        </p:grpSpPr>
        <p:grpSp>
          <p:nvGrpSpPr>
            <p:cNvPr id="3" name="组合 2"/>
            <p:cNvGrpSpPr/>
            <p:nvPr/>
          </p:nvGrpSpPr>
          <p:grpSpPr>
            <a:xfrm>
              <a:off x="755576" y="1347614"/>
              <a:ext cx="806989" cy="2149930"/>
              <a:chOff x="1477543" y="637844"/>
              <a:chExt cx="6486890" cy="3157021"/>
            </a:xfrm>
          </p:grpSpPr>
          <p:sp>
            <p:nvSpPr>
              <p:cNvPr id="4" name="矩形 3"/>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sp>
            <p:nvSpPr>
              <p:cNvPr id="5" name="矩形 4"/>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sp>
            <p:nvSpPr>
              <p:cNvPr id="6" name="矩形 5"/>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grpSp>
        <p:sp>
          <p:nvSpPr>
            <p:cNvPr id="9" name="文本框 8"/>
            <p:cNvSpPr txBox="1"/>
            <p:nvPr/>
          </p:nvSpPr>
          <p:spPr>
            <a:xfrm>
              <a:off x="812014" y="1858649"/>
              <a:ext cx="692498" cy="1127860"/>
            </a:xfrm>
            <a:prstGeom prst="rect">
              <a:avLst/>
            </a:prstGeom>
            <a:noFill/>
          </p:spPr>
          <p:txBody>
            <a:bodyPr vert="eaVert" wrap="square" rtlCol="0">
              <a:spAutoFit/>
            </a:bodyPr>
            <a:lstStyle/>
            <a:p>
              <a:r>
                <a:rPr lang="zh-CN" altLang="en-US" sz="4800" b="1" dirty="0">
                  <a:cs typeface="+mn-ea"/>
                </a:rPr>
                <a:t>目录</a:t>
              </a:r>
            </a:p>
          </p:txBody>
        </p:sp>
        <p:cxnSp>
          <p:nvCxnSpPr>
            <p:cNvPr id="10" name="直接连接符 9"/>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4B756C28-8A60-4AF9-BAA9-62973E22580C}"/>
              </a:ext>
            </a:extLst>
          </p:cNvPr>
          <p:cNvGrpSpPr/>
          <p:nvPr/>
        </p:nvGrpSpPr>
        <p:grpSpPr>
          <a:xfrm>
            <a:off x="3599723" y="1610529"/>
            <a:ext cx="4526413" cy="1107996"/>
            <a:chOff x="3212859" y="1207896"/>
            <a:chExt cx="3394810" cy="830997"/>
          </a:xfrm>
        </p:grpSpPr>
        <p:sp>
          <p:nvSpPr>
            <p:cNvPr id="14" name="文本框 13"/>
            <p:cNvSpPr txBox="1"/>
            <p:nvPr/>
          </p:nvSpPr>
          <p:spPr>
            <a:xfrm>
              <a:off x="3212859" y="1207896"/>
              <a:ext cx="3394810" cy="777232"/>
            </a:xfrm>
            <a:prstGeom prst="rect">
              <a:avLst/>
            </a:prstGeom>
            <a:noFill/>
          </p:spPr>
          <p:txBody>
            <a:bodyPr vert="horz" wrap="square" rtlCol="0">
              <a:spAutoFit/>
            </a:bodyPr>
            <a:lstStyle/>
            <a:p>
              <a:r>
                <a:rPr lang="en-US" altLang="zh-CN" sz="1867" b="1" dirty="0">
                  <a:latin typeface="+mn-ea"/>
                  <a:cs typeface="+mn-ea"/>
                </a:rPr>
                <a:t>Part 01</a:t>
              </a:r>
            </a:p>
            <a:p>
              <a:r>
                <a:rPr lang="zh-CN" altLang="en-US" sz="2667" b="1" dirty="0">
                  <a:latin typeface="+mn-ea"/>
                  <a:cs typeface="+mn-ea"/>
                </a:rPr>
                <a:t>选题背景</a:t>
              </a:r>
              <a:endParaRPr lang="en-US" altLang="zh-CN" sz="2667" b="1" dirty="0">
                <a:latin typeface="+mn-ea"/>
                <a:cs typeface="+mn-ea"/>
              </a:endParaRPr>
            </a:p>
            <a:p>
              <a:r>
                <a:rPr lang="en-US" altLang="zh-CN" sz="1600" b="1" dirty="0">
                  <a:latin typeface="+mn-ea"/>
                  <a:cs typeface="+mn-ea"/>
                </a:rPr>
                <a:t>background</a:t>
              </a:r>
              <a:endParaRPr lang="zh-CN" altLang="en-US" sz="1600" b="1" dirty="0">
                <a:latin typeface="+mn-ea"/>
                <a:cs typeface="+mn-ea"/>
              </a:endParaRPr>
            </a:p>
          </p:txBody>
        </p:sp>
        <p:cxnSp>
          <p:nvCxnSpPr>
            <p:cNvPr id="26" name="直接连接符 25"/>
            <p:cNvCxnSpPr>
              <a:cxnSpLocks/>
            </p:cNvCxnSpPr>
            <p:nvPr/>
          </p:nvCxnSpPr>
          <p:spPr>
            <a:xfrm>
              <a:off x="3284867" y="2038893"/>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FC4818E3-61B0-4B38-A0CF-F4ACC9AEB0AF}"/>
              </a:ext>
            </a:extLst>
          </p:cNvPr>
          <p:cNvGrpSpPr/>
          <p:nvPr/>
        </p:nvGrpSpPr>
        <p:grpSpPr>
          <a:xfrm>
            <a:off x="3599723" y="4130210"/>
            <a:ext cx="4526413" cy="1107996"/>
            <a:chOff x="3212859" y="3097656"/>
            <a:chExt cx="3394810" cy="830997"/>
          </a:xfrm>
        </p:grpSpPr>
        <p:sp>
          <p:nvSpPr>
            <p:cNvPr id="17" name="文本框 16"/>
            <p:cNvSpPr txBox="1"/>
            <p:nvPr/>
          </p:nvSpPr>
          <p:spPr>
            <a:xfrm>
              <a:off x="3212859" y="3097656"/>
              <a:ext cx="3394810" cy="777232"/>
            </a:xfrm>
            <a:prstGeom prst="rect">
              <a:avLst/>
            </a:prstGeom>
            <a:noFill/>
          </p:spPr>
          <p:txBody>
            <a:bodyPr vert="horz" wrap="square" rtlCol="0">
              <a:spAutoFit/>
            </a:bodyPr>
            <a:lstStyle/>
            <a:p>
              <a:r>
                <a:rPr lang="en-US" altLang="zh-CN" sz="1867" b="1" dirty="0">
                  <a:latin typeface="+mn-ea"/>
                  <a:cs typeface="+mn-ea"/>
                </a:rPr>
                <a:t>Part 03</a:t>
              </a:r>
            </a:p>
            <a:p>
              <a:r>
                <a:rPr lang="zh-CN" altLang="en-US" sz="2667" b="1" dirty="0">
                  <a:latin typeface="+mn-ea"/>
                  <a:cs typeface="+mn-ea"/>
                </a:rPr>
                <a:t>研究内容与理论依据</a:t>
              </a:r>
              <a:endParaRPr lang="en-US" altLang="zh-CN" sz="2667" b="1" dirty="0">
                <a:latin typeface="+mn-ea"/>
                <a:cs typeface="+mn-ea"/>
              </a:endParaRPr>
            </a:p>
            <a:p>
              <a:r>
                <a:rPr lang="en-US" altLang="zh-CN" sz="1600" b="1" dirty="0">
                  <a:latin typeface="+mn-ea"/>
                  <a:cs typeface="+mn-ea"/>
                </a:rPr>
                <a:t>Research Content and Theory</a:t>
              </a:r>
              <a:endParaRPr lang="zh-CN" altLang="en-US" sz="1600" b="1" dirty="0">
                <a:latin typeface="+mn-ea"/>
                <a:cs typeface="+mn-ea"/>
              </a:endParaRPr>
            </a:p>
          </p:txBody>
        </p:sp>
        <p:cxnSp>
          <p:nvCxnSpPr>
            <p:cNvPr id="28" name="直接连接符 27"/>
            <p:cNvCxnSpPr/>
            <p:nvPr/>
          </p:nvCxnSpPr>
          <p:spPr>
            <a:xfrm>
              <a:off x="3284867" y="3928653"/>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12ED4192-45D6-4F53-B272-24C6804A632A}"/>
              </a:ext>
            </a:extLst>
          </p:cNvPr>
          <p:cNvGrpSpPr/>
          <p:nvPr/>
        </p:nvGrpSpPr>
        <p:grpSpPr>
          <a:xfrm>
            <a:off x="7971709" y="1610529"/>
            <a:ext cx="2444771" cy="1119332"/>
            <a:chOff x="5978782" y="1207896"/>
            <a:chExt cx="1833578" cy="839499"/>
          </a:xfrm>
        </p:grpSpPr>
        <p:sp>
          <p:nvSpPr>
            <p:cNvPr id="20" name="文本框 19"/>
            <p:cNvSpPr txBox="1"/>
            <p:nvPr/>
          </p:nvSpPr>
          <p:spPr>
            <a:xfrm>
              <a:off x="5978782" y="1207896"/>
              <a:ext cx="1833578" cy="777232"/>
            </a:xfrm>
            <a:prstGeom prst="rect">
              <a:avLst/>
            </a:prstGeom>
            <a:noFill/>
          </p:spPr>
          <p:txBody>
            <a:bodyPr vert="horz" wrap="square" rtlCol="0">
              <a:spAutoFit/>
            </a:bodyPr>
            <a:lstStyle/>
            <a:p>
              <a:r>
                <a:rPr lang="en-US" altLang="zh-CN" sz="1867" b="1" dirty="0">
                  <a:latin typeface="+mn-ea"/>
                  <a:cs typeface="+mn-ea"/>
                </a:rPr>
                <a:t>Part 02</a:t>
              </a:r>
            </a:p>
            <a:p>
              <a:r>
                <a:rPr lang="zh-CN" altLang="en-US" sz="2667" b="1" dirty="0">
                  <a:latin typeface="+mn-ea"/>
                  <a:cs typeface="+mn-ea"/>
                </a:rPr>
                <a:t>研究现状</a:t>
              </a:r>
              <a:endParaRPr lang="en-US" altLang="zh-CN" sz="2667" b="1" dirty="0">
                <a:latin typeface="+mn-ea"/>
                <a:cs typeface="+mn-ea"/>
              </a:endParaRPr>
            </a:p>
            <a:p>
              <a:r>
                <a:rPr lang="en-US" altLang="zh-CN" sz="1600" b="1" dirty="0">
                  <a:latin typeface="+mn-ea"/>
                  <a:cs typeface="+mn-ea"/>
                </a:rPr>
                <a:t>Situation</a:t>
              </a:r>
              <a:endParaRPr lang="zh-CN" altLang="en-US" sz="1600" b="1" dirty="0">
                <a:latin typeface="+mn-ea"/>
                <a:cs typeface="+mn-ea"/>
              </a:endParaRPr>
            </a:p>
          </p:txBody>
        </p:sp>
        <p:cxnSp>
          <p:nvCxnSpPr>
            <p:cNvPr id="29" name="直接连接符 28"/>
            <p:cNvCxnSpPr/>
            <p:nvPr/>
          </p:nvCxnSpPr>
          <p:spPr>
            <a:xfrm>
              <a:off x="5978782" y="2047395"/>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DB023BA8-39CC-4BC9-B3D1-BD5E4687FE23}"/>
              </a:ext>
            </a:extLst>
          </p:cNvPr>
          <p:cNvGrpSpPr/>
          <p:nvPr/>
        </p:nvGrpSpPr>
        <p:grpSpPr>
          <a:xfrm>
            <a:off x="7971709" y="4130208"/>
            <a:ext cx="2444771" cy="1119332"/>
            <a:chOff x="5978782" y="3097656"/>
            <a:chExt cx="1833578" cy="839499"/>
          </a:xfrm>
        </p:grpSpPr>
        <p:sp>
          <p:nvSpPr>
            <p:cNvPr id="23" name="文本框 22"/>
            <p:cNvSpPr txBox="1"/>
            <p:nvPr/>
          </p:nvSpPr>
          <p:spPr>
            <a:xfrm>
              <a:off x="5978782" y="3097656"/>
              <a:ext cx="1833578" cy="777232"/>
            </a:xfrm>
            <a:prstGeom prst="rect">
              <a:avLst/>
            </a:prstGeom>
            <a:noFill/>
          </p:spPr>
          <p:txBody>
            <a:bodyPr vert="horz" wrap="square" rtlCol="0">
              <a:spAutoFit/>
            </a:bodyPr>
            <a:lstStyle/>
            <a:p>
              <a:r>
                <a:rPr lang="en-US" altLang="zh-CN" sz="1867" b="1" dirty="0">
                  <a:latin typeface="+mn-ea"/>
                  <a:cs typeface="+mn-ea"/>
                </a:rPr>
                <a:t>Part 04</a:t>
              </a:r>
            </a:p>
            <a:p>
              <a:r>
                <a:rPr lang="zh-CN" altLang="en-US" sz="2667" b="1" dirty="0">
                  <a:latin typeface="+mn-ea"/>
                  <a:cs typeface="+mn-ea"/>
                </a:rPr>
                <a:t>创新点总结</a:t>
              </a:r>
              <a:endParaRPr lang="en-US" altLang="zh-CN" sz="2667" b="1" dirty="0">
                <a:latin typeface="+mn-ea"/>
                <a:cs typeface="+mn-ea"/>
              </a:endParaRPr>
            </a:p>
            <a:p>
              <a:r>
                <a:rPr lang="en-US" altLang="zh-CN" sz="1600" b="1" dirty="0">
                  <a:latin typeface="+mn-ea"/>
                  <a:cs typeface="+mn-ea"/>
                </a:rPr>
                <a:t>Summary of Innovation</a:t>
              </a:r>
              <a:endParaRPr lang="zh-CN" altLang="en-US" sz="1600" b="1" dirty="0">
                <a:latin typeface="+mn-ea"/>
                <a:cs typeface="+mn-ea"/>
              </a:endParaRPr>
            </a:p>
          </p:txBody>
        </p:sp>
        <p:cxnSp>
          <p:nvCxnSpPr>
            <p:cNvPr id="30" name="直接连接符 29"/>
            <p:cNvCxnSpPr/>
            <p:nvPr/>
          </p:nvCxnSpPr>
          <p:spPr>
            <a:xfrm>
              <a:off x="5978782" y="3937155"/>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763126"/>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EA60D-35F9-C4EA-4421-B2B15A3F48D0}"/>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329F9634-1B46-525C-B9B8-2DBF4492799E}"/>
              </a:ext>
            </a:extLst>
          </p:cNvPr>
          <p:cNvGrpSpPr/>
          <p:nvPr/>
        </p:nvGrpSpPr>
        <p:grpSpPr>
          <a:xfrm>
            <a:off x="-63871" y="0"/>
            <a:ext cx="2688299" cy="816704"/>
            <a:chOff x="-47903" y="0"/>
            <a:chExt cx="2016224" cy="612528"/>
          </a:xfrm>
        </p:grpSpPr>
        <p:grpSp>
          <p:nvGrpSpPr>
            <p:cNvPr id="8" name="组合 7">
              <a:extLst>
                <a:ext uri="{FF2B5EF4-FFF2-40B4-BE49-F238E27FC236}">
                  <a16:creationId xmlns:a16="http://schemas.microsoft.com/office/drawing/2014/main" id="{5782875A-99F5-BC17-BA63-8FBCBD0AA327}"/>
                </a:ext>
              </a:extLst>
            </p:cNvPr>
            <p:cNvGrpSpPr/>
            <p:nvPr/>
          </p:nvGrpSpPr>
          <p:grpSpPr>
            <a:xfrm rot="16200000" flipV="1">
              <a:off x="629840" y="-629840"/>
              <a:ext cx="612528" cy="1872208"/>
              <a:chOff x="604102" y="1347614"/>
              <a:chExt cx="1075775" cy="2149930"/>
            </a:xfrm>
          </p:grpSpPr>
          <p:grpSp>
            <p:nvGrpSpPr>
              <p:cNvPr id="2" name="组合 1">
                <a:extLst>
                  <a:ext uri="{FF2B5EF4-FFF2-40B4-BE49-F238E27FC236}">
                    <a16:creationId xmlns:a16="http://schemas.microsoft.com/office/drawing/2014/main" id="{CEA5A74F-0C30-C7D1-4D07-D6FF151119D5}"/>
                  </a:ext>
                </a:extLst>
              </p:cNvPr>
              <p:cNvGrpSpPr/>
              <p:nvPr/>
            </p:nvGrpSpPr>
            <p:grpSpPr>
              <a:xfrm>
                <a:off x="755576" y="1347614"/>
                <a:ext cx="806989" cy="2149930"/>
                <a:chOff x="1477543" y="637844"/>
                <a:chExt cx="6486890" cy="3157021"/>
              </a:xfrm>
            </p:grpSpPr>
            <p:sp>
              <p:nvSpPr>
                <p:cNvPr id="3" name="矩形 2">
                  <a:extLst>
                    <a:ext uri="{FF2B5EF4-FFF2-40B4-BE49-F238E27FC236}">
                      <a16:creationId xmlns:a16="http://schemas.microsoft.com/office/drawing/2014/main" id="{4DC9066E-BE54-5A5F-4551-A5E9310A47E9}"/>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4" name="矩形 3">
                  <a:extLst>
                    <a:ext uri="{FF2B5EF4-FFF2-40B4-BE49-F238E27FC236}">
                      <a16:creationId xmlns:a16="http://schemas.microsoft.com/office/drawing/2014/main" id="{FAE44A04-18A0-2A99-9D31-D2D51D393604}"/>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5" name="矩形 4">
                  <a:extLst>
                    <a:ext uri="{FF2B5EF4-FFF2-40B4-BE49-F238E27FC236}">
                      <a16:creationId xmlns:a16="http://schemas.microsoft.com/office/drawing/2014/main" id="{69AA7CEB-1E8D-212F-92B5-626BB880B546}"/>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6" name="直接连接符 5">
                <a:extLst>
                  <a:ext uri="{FF2B5EF4-FFF2-40B4-BE49-F238E27FC236}">
                    <a16:creationId xmlns:a16="http://schemas.microsoft.com/office/drawing/2014/main" id="{187E7AE2-5EEE-3370-9681-BB3C342C7808}"/>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7FA405A7-B10F-7A29-58DB-B6D20C0B079A}"/>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C279E195-B20A-443C-682D-67669FD92C67}"/>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选题背景</a:t>
              </a:r>
            </a:p>
          </p:txBody>
        </p:sp>
      </p:grpSp>
      <p:sp>
        <p:nvSpPr>
          <p:cNvPr id="12" name="文本框 11">
            <a:extLst>
              <a:ext uri="{FF2B5EF4-FFF2-40B4-BE49-F238E27FC236}">
                <a16:creationId xmlns:a16="http://schemas.microsoft.com/office/drawing/2014/main" id="{C96BFFF0-6072-E247-87D0-93E0C21AB048}"/>
              </a:ext>
            </a:extLst>
          </p:cNvPr>
          <p:cNvSpPr txBox="1"/>
          <p:nvPr/>
        </p:nvSpPr>
        <p:spPr>
          <a:xfrm>
            <a:off x="527381" y="2019254"/>
            <a:ext cx="10188251" cy="1569660"/>
          </a:xfrm>
          <a:prstGeom prst="rect">
            <a:avLst/>
          </a:prstGeom>
          <a:noFill/>
        </p:spPr>
        <p:txBody>
          <a:bodyPr wrap="square">
            <a:spAutoFit/>
          </a:bodyPr>
          <a:lstStyle/>
          <a:p>
            <a:pPr algn="just"/>
            <a:r>
              <a:rPr lang="zh-CN" altLang="en-US" sz="1600" dirty="0">
                <a:latin typeface="苹方-简" panose="020B0400000000000000" pitchFamily="34" charset="-122"/>
                <a:ea typeface="苹方-简" panose="020B0400000000000000" pitchFamily="34" charset="-122"/>
              </a:rPr>
              <a:t>早期的深度估计主要依赖双目相机、激光雷达或多视角几何方法，这类方式虽然能够提供较为准确的深度信息，但存在设备成本高、体积大、能耗高、场景适用性受限等问题；即便是依赖深度相机的方案，也会受到测距范围有限、光照敏感以及数据噪声的影响。</a:t>
            </a:r>
            <a:endParaRPr lang="en-US" altLang="zh-CN" sz="1600" dirty="0">
              <a:latin typeface="苹方-简" panose="020B0400000000000000" pitchFamily="34" charset="-122"/>
              <a:ea typeface="苹方-简" panose="020B0400000000000000" pitchFamily="34" charset="-122"/>
            </a:endParaRPr>
          </a:p>
          <a:p>
            <a:pPr algn="just"/>
            <a:endParaRPr lang="en-US" altLang="zh-CN" sz="1600" dirty="0">
              <a:latin typeface="苹方-简" panose="020B0400000000000000" pitchFamily="34" charset="-122"/>
              <a:ea typeface="苹方-简" panose="020B0400000000000000" pitchFamily="34" charset="-122"/>
            </a:endParaRPr>
          </a:p>
          <a:p>
            <a:pPr algn="just"/>
            <a:r>
              <a:rPr lang="zh-CN" altLang="en-US" sz="1600" dirty="0">
                <a:latin typeface="苹方-简" panose="020B0400000000000000" pitchFamily="34" charset="-122"/>
                <a:ea typeface="苹方-简" panose="020B0400000000000000" pitchFamily="34" charset="-122"/>
              </a:rPr>
              <a:t>相比之下，单目深度估计只需使用单个摄像头即可实现，由于摄像头廉价、轻量且易于部署，具有广泛的应用前景，同时避免了复杂硬件依赖，成为近年来研究的重点方向。</a:t>
            </a:r>
          </a:p>
        </p:txBody>
      </p:sp>
      <p:pic>
        <p:nvPicPr>
          <p:cNvPr id="14" name="图片 13">
            <a:extLst>
              <a:ext uri="{FF2B5EF4-FFF2-40B4-BE49-F238E27FC236}">
                <a16:creationId xmlns:a16="http://schemas.microsoft.com/office/drawing/2014/main" id="{DFF85C70-1AB2-219E-C570-E460545BCD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4660" y="3813043"/>
            <a:ext cx="2290504" cy="2139331"/>
          </a:xfrm>
          <a:prstGeom prst="rect">
            <a:avLst/>
          </a:prstGeom>
        </p:spPr>
      </p:pic>
      <p:sp>
        <p:nvSpPr>
          <p:cNvPr id="15" name="日期占位符 14">
            <a:extLst>
              <a:ext uri="{FF2B5EF4-FFF2-40B4-BE49-F238E27FC236}">
                <a16:creationId xmlns:a16="http://schemas.microsoft.com/office/drawing/2014/main" id="{8253FD71-54CF-1CE2-5C67-A0CD2B298CC4}"/>
              </a:ext>
            </a:extLst>
          </p:cNvPr>
          <p:cNvSpPr>
            <a:spLocks noGrp="1"/>
          </p:cNvSpPr>
          <p:nvPr>
            <p:ph type="dt" sz="half" idx="10"/>
          </p:nvPr>
        </p:nvSpPr>
        <p:spPr/>
        <p:txBody>
          <a:bodyPr/>
          <a:lstStyle/>
          <a:p>
            <a:fld id="{ACD8026E-2819-4351-AC04-0AFF25C6ACB9}" type="datetime1">
              <a:rPr lang="zh-CN" altLang="en-US" smtClean="0"/>
              <a:t>2025/10/19</a:t>
            </a:fld>
            <a:endParaRPr lang="zh-CN" altLang="en-US"/>
          </a:p>
        </p:txBody>
      </p:sp>
      <p:sp>
        <p:nvSpPr>
          <p:cNvPr id="18" name="灯片编号占位符 17">
            <a:extLst>
              <a:ext uri="{FF2B5EF4-FFF2-40B4-BE49-F238E27FC236}">
                <a16:creationId xmlns:a16="http://schemas.microsoft.com/office/drawing/2014/main" id="{17863DF5-D2E9-AC7B-3BB4-5A295C896348}"/>
              </a:ext>
            </a:extLst>
          </p:cNvPr>
          <p:cNvSpPr>
            <a:spLocks noGrp="1"/>
          </p:cNvSpPr>
          <p:nvPr>
            <p:ph type="sldNum" sz="quarter" idx="12"/>
          </p:nvPr>
        </p:nvSpPr>
        <p:spPr/>
        <p:txBody>
          <a:bodyPr/>
          <a:lstStyle/>
          <a:p>
            <a:fld id="{0C913308-F349-4B6D-A68A-DD1791B4A57B}" type="slidenum">
              <a:rPr lang="zh-CN" altLang="en-US" smtClean="0"/>
              <a:t>2</a:t>
            </a:fld>
            <a:endParaRPr lang="zh-CN" altLang="en-US"/>
          </a:p>
        </p:txBody>
      </p:sp>
      <p:pic>
        <p:nvPicPr>
          <p:cNvPr id="24" name="图片 23">
            <a:extLst>
              <a:ext uri="{FF2B5EF4-FFF2-40B4-BE49-F238E27FC236}">
                <a16:creationId xmlns:a16="http://schemas.microsoft.com/office/drawing/2014/main" id="{42F0DA5E-DDB3-47A8-0292-D34EF27F48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26037" y="3158990"/>
            <a:ext cx="5965964" cy="3356871"/>
          </a:xfrm>
          <a:prstGeom prst="rect">
            <a:avLst/>
          </a:prstGeom>
        </p:spPr>
      </p:pic>
      <p:sp>
        <p:nvSpPr>
          <p:cNvPr id="25" name="文本框 24">
            <a:extLst>
              <a:ext uri="{FF2B5EF4-FFF2-40B4-BE49-F238E27FC236}">
                <a16:creationId xmlns:a16="http://schemas.microsoft.com/office/drawing/2014/main" id="{CB092293-0FC5-EEE1-BB0F-DDE6E74471AB}"/>
              </a:ext>
            </a:extLst>
          </p:cNvPr>
          <p:cNvSpPr txBox="1"/>
          <p:nvPr/>
        </p:nvSpPr>
        <p:spPr>
          <a:xfrm>
            <a:off x="1301980" y="5952372"/>
            <a:ext cx="1632181" cy="379656"/>
          </a:xfrm>
          <a:prstGeom prst="rect">
            <a:avLst/>
          </a:prstGeom>
          <a:noFill/>
        </p:spPr>
        <p:txBody>
          <a:bodyPr wrap="square" rtlCol="0">
            <a:spAutoFit/>
          </a:bodyPr>
          <a:lstStyle/>
          <a:p>
            <a:pPr algn="ctr"/>
            <a:r>
              <a:rPr lang="zh-CN" altLang="en-US" sz="1867" dirty="0">
                <a:latin typeface="苹方-简" panose="020B0400000000000000" pitchFamily="34" charset="-122"/>
                <a:ea typeface="苹方-简" panose="020B0400000000000000" pitchFamily="34" charset="-122"/>
              </a:rPr>
              <a:t>双目相机</a:t>
            </a:r>
          </a:p>
        </p:txBody>
      </p:sp>
      <p:sp>
        <p:nvSpPr>
          <p:cNvPr id="26" name="文本框 25">
            <a:extLst>
              <a:ext uri="{FF2B5EF4-FFF2-40B4-BE49-F238E27FC236}">
                <a16:creationId xmlns:a16="http://schemas.microsoft.com/office/drawing/2014/main" id="{F5D4A1F1-882A-9547-DC70-1B1B683E81CF}"/>
              </a:ext>
            </a:extLst>
          </p:cNvPr>
          <p:cNvSpPr txBox="1"/>
          <p:nvPr/>
        </p:nvSpPr>
        <p:spPr>
          <a:xfrm>
            <a:off x="8217362" y="5952373"/>
            <a:ext cx="1632181" cy="379656"/>
          </a:xfrm>
          <a:prstGeom prst="rect">
            <a:avLst/>
          </a:prstGeom>
          <a:noFill/>
        </p:spPr>
        <p:txBody>
          <a:bodyPr wrap="square" rtlCol="0">
            <a:spAutoFit/>
          </a:bodyPr>
          <a:lstStyle/>
          <a:p>
            <a:pPr algn="ctr"/>
            <a:r>
              <a:rPr lang="en-US" altLang="zh-CN" sz="1867" dirty="0">
                <a:latin typeface="苹方-简" panose="020B0400000000000000" pitchFamily="34" charset="-122"/>
                <a:ea typeface="苹方-简" panose="020B0400000000000000" pitchFamily="34" charset="-122"/>
              </a:rPr>
              <a:t>Kinect</a:t>
            </a:r>
            <a:r>
              <a:rPr lang="zh-CN" altLang="en-US" sz="1867" dirty="0">
                <a:latin typeface="苹方-简" panose="020B0400000000000000" pitchFamily="34" charset="-122"/>
                <a:ea typeface="苹方-简" panose="020B0400000000000000" pitchFamily="34" charset="-122"/>
              </a:rPr>
              <a:t>相机</a:t>
            </a:r>
          </a:p>
        </p:txBody>
      </p:sp>
      <p:sp>
        <p:nvSpPr>
          <p:cNvPr id="27" name="文本框 26">
            <a:extLst>
              <a:ext uri="{FF2B5EF4-FFF2-40B4-BE49-F238E27FC236}">
                <a16:creationId xmlns:a16="http://schemas.microsoft.com/office/drawing/2014/main" id="{9619A22F-3C6C-1B5B-4135-2EB0590E94F5}"/>
              </a:ext>
            </a:extLst>
          </p:cNvPr>
          <p:cNvSpPr txBox="1"/>
          <p:nvPr/>
        </p:nvSpPr>
        <p:spPr>
          <a:xfrm>
            <a:off x="527382" y="1041797"/>
            <a:ext cx="10188252" cy="830997"/>
          </a:xfrm>
          <a:prstGeom prst="rect">
            <a:avLst/>
          </a:prstGeom>
          <a:noFill/>
        </p:spPr>
        <p:txBody>
          <a:bodyPr wrap="square">
            <a:spAutoFit/>
          </a:bodyPr>
          <a:lstStyle/>
          <a:p>
            <a:pPr algn="just"/>
            <a:r>
              <a:rPr lang="zh-CN" altLang="en-US" sz="1600" dirty="0">
                <a:solidFill>
                  <a:srgbClr val="1A1A1A"/>
                </a:solidFill>
                <a:latin typeface="苹方-简" panose="020B0400000000000000" pitchFamily="34" charset="-122"/>
                <a:ea typeface="苹方-简" panose="020B0400000000000000" pitchFamily="34" charset="-122"/>
              </a:rPr>
              <a:t>单目深度估计指的是从单张二维图像中估计出场景的深度信息，因其简便、成本低且易于部署而受到广泛关注。与传统的深度感知技术如激光雷达或立体视觉不同，单目深度估计只需要单张</a:t>
            </a:r>
            <a:r>
              <a:rPr lang="en-US" altLang="zh-CN" sz="1600" dirty="0">
                <a:solidFill>
                  <a:srgbClr val="1A1A1A"/>
                </a:solidFill>
                <a:latin typeface="苹方-简" panose="020B0400000000000000" pitchFamily="34" charset="-122"/>
                <a:ea typeface="苹方-简" panose="020B0400000000000000" pitchFamily="34" charset="-122"/>
              </a:rPr>
              <a:t>RGB</a:t>
            </a:r>
            <a:r>
              <a:rPr lang="zh-CN" altLang="en-US" sz="1600" dirty="0">
                <a:solidFill>
                  <a:srgbClr val="1A1A1A"/>
                </a:solidFill>
                <a:latin typeface="苹方-简" panose="020B0400000000000000" pitchFamily="34" charset="-122"/>
                <a:ea typeface="苹方-简" panose="020B0400000000000000" pitchFamily="34" charset="-122"/>
              </a:rPr>
              <a:t>图像作为输入，使其在包括自动驾驶、虚拟现实和图像合成在内的广泛应用中极具吸引力。</a:t>
            </a:r>
          </a:p>
        </p:txBody>
      </p:sp>
    </p:spTree>
    <p:extLst>
      <p:ext uri="{BB962C8B-B14F-4D97-AF65-F5344CB8AC3E}">
        <p14:creationId xmlns:p14="http://schemas.microsoft.com/office/powerpoint/2010/main" val="1318050995"/>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9F341A6-8A41-E6FD-F8AA-EC4A955178AC}"/>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2E027684-64EA-95F0-4828-00508CE4507E}"/>
              </a:ext>
            </a:extLst>
          </p:cNvPr>
          <p:cNvSpPr>
            <a:spLocks noGrp="1"/>
          </p:cNvSpPr>
          <p:nvPr>
            <p:ph type="sldNum" sz="quarter" idx="12"/>
          </p:nvPr>
        </p:nvSpPr>
        <p:spPr/>
        <p:txBody>
          <a:bodyPr/>
          <a:lstStyle/>
          <a:p>
            <a:fld id="{0C913308-F349-4B6D-A68A-DD1791B4A57B}" type="slidenum">
              <a:rPr lang="zh-CN" altLang="en-US" smtClean="0"/>
              <a:t>3</a:t>
            </a:fld>
            <a:endParaRPr lang="zh-CN" altLang="en-US"/>
          </a:p>
        </p:txBody>
      </p:sp>
      <p:sp>
        <p:nvSpPr>
          <p:cNvPr id="5" name="文本框 4">
            <a:extLst>
              <a:ext uri="{FF2B5EF4-FFF2-40B4-BE49-F238E27FC236}">
                <a16:creationId xmlns:a16="http://schemas.microsoft.com/office/drawing/2014/main" id="{7922AF6D-8E00-6E45-04B0-D512D6084E4B}"/>
              </a:ext>
            </a:extLst>
          </p:cNvPr>
          <p:cNvSpPr txBox="1"/>
          <p:nvPr/>
        </p:nvSpPr>
        <p:spPr>
          <a:xfrm>
            <a:off x="967125" y="1313786"/>
            <a:ext cx="8352928" cy="1733488"/>
          </a:xfrm>
          <a:prstGeom prst="rect">
            <a:avLst/>
          </a:prstGeom>
          <a:noFill/>
        </p:spPr>
        <p:txBody>
          <a:bodyPr wrap="square">
            <a:spAutoFit/>
          </a:bodyPr>
          <a:lstStyle/>
          <a:p>
            <a:pPr algn="just"/>
            <a:r>
              <a:rPr lang="zh-CN" altLang="en-US" sz="2133" dirty="0">
                <a:latin typeface="苹方-简" panose="020B0400000000000000" pitchFamily="34" charset="-122"/>
                <a:ea typeface="苹方-简" panose="020B0400000000000000" pitchFamily="34" charset="-122"/>
              </a:rPr>
              <a:t> 在室外场景下，相对于多种深度估计解决方案，单目深度估计方法仅使用单个摄像头，成本极低，设备普及。在复杂的室外场景中，单目深度估计方法可以灵活选择从单张图片或视频序列中重建深度。因此，单目深度估计是一个直接有效的实施方案，在室外条件中具有广泛的应用场景。</a:t>
            </a:r>
          </a:p>
        </p:txBody>
      </p:sp>
      <p:grpSp>
        <p:nvGrpSpPr>
          <p:cNvPr id="6" name="组合 5">
            <a:extLst>
              <a:ext uri="{FF2B5EF4-FFF2-40B4-BE49-F238E27FC236}">
                <a16:creationId xmlns:a16="http://schemas.microsoft.com/office/drawing/2014/main" id="{6A585D74-1EDD-210A-48CD-0FA7A63471C3}"/>
              </a:ext>
            </a:extLst>
          </p:cNvPr>
          <p:cNvGrpSpPr/>
          <p:nvPr/>
        </p:nvGrpSpPr>
        <p:grpSpPr>
          <a:xfrm>
            <a:off x="-63871" y="0"/>
            <a:ext cx="2688299" cy="816704"/>
            <a:chOff x="-47903" y="0"/>
            <a:chExt cx="2016224" cy="612528"/>
          </a:xfrm>
        </p:grpSpPr>
        <p:grpSp>
          <p:nvGrpSpPr>
            <p:cNvPr id="7" name="组合 6">
              <a:extLst>
                <a:ext uri="{FF2B5EF4-FFF2-40B4-BE49-F238E27FC236}">
                  <a16:creationId xmlns:a16="http://schemas.microsoft.com/office/drawing/2014/main" id="{A5DBD05F-DB1B-C527-DA46-880486AAA5D0}"/>
                </a:ext>
              </a:extLst>
            </p:cNvPr>
            <p:cNvGrpSpPr/>
            <p:nvPr/>
          </p:nvGrpSpPr>
          <p:grpSpPr>
            <a:xfrm rot="16200000" flipV="1">
              <a:off x="629840" y="-629840"/>
              <a:ext cx="612528" cy="1872208"/>
              <a:chOff x="604102" y="1347614"/>
              <a:chExt cx="1075775" cy="2149930"/>
            </a:xfrm>
          </p:grpSpPr>
          <p:grpSp>
            <p:nvGrpSpPr>
              <p:cNvPr id="9" name="组合 8">
                <a:extLst>
                  <a:ext uri="{FF2B5EF4-FFF2-40B4-BE49-F238E27FC236}">
                    <a16:creationId xmlns:a16="http://schemas.microsoft.com/office/drawing/2014/main" id="{0E52B46F-668A-FD79-D160-B59B5B2CE198}"/>
                  </a:ext>
                </a:extLst>
              </p:cNvPr>
              <p:cNvGrpSpPr/>
              <p:nvPr/>
            </p:nvGrpSpPr>
            <p:grpSpPr>
              <a:xfrm>
                <a:off x="755576" y="1347614"/>
                <a:ext cx="806989" cy="2149930"/>
                <a:chOff x="1477543" y="637844"/>
                <a:chExt cx="6486890" cy="3157021"/>
              </a:xfrm>
            </p:grpSpPr>
            <p:sp>
              <p:nvSpPr>
                <p:cNvPr id="12" name="矩形 11">
                  <a:extLst>
                    <a:ext uri="{FF2B5EF4-FFF2-40B4-BE49-F238E27FC236}">
                      <a16:creationId xmlns:a16="http://schemas.microsoft.com/office/drawing/2014/main" id="{79059B28-3B1C-E343-D180-EF0CFEF1A8FA}"/>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3" name="矩形 12">
                  <a:extLst>
                    <a:ext uri="{FF2B5EF4-FFF2-40B4-BE49-F238E27FC236}">
                      <a16:creationId xmlns:a16="http://schemas.microsoft.com/office/drawing/2014/main" id="{BB634501-5080-BE33-7773-F3B570B476D4}"/>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4" name="矩形 13">
                  <a:extLst>
                    <a:ext uri="{FF2B5EF4-FFF2-40B4-BE49-F238E27FC236}">
                      <a16:creationId xmlns:a16="http://schemas.microsoft.com/office/drawing/2014/main" id="{244DE75C-C2CB-E77A-53AE-5146979080D8}"/>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10" name="直接连接符 9">
                <a:extLst>
                  <a:ext uri="{FF2B5EF4-FFF2-40B4-BE49-F238E27FC236}">
                    <a16:creationId xmlns:a16="http://schemas.microsoft.com/office/drawing/2014/main" id="{38F77C74-1159-E9A3-31ED-32ED6F7436A3}"/>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24F4D0E-EC1C-3A36-3FAA-0C3447DAB097}"/>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文本框 7">
              <a:extLst>
                <a:ext uri="{FF2B5EF4-FFF2-40B4-BE49-F238E27FC236}">
                  <a16:creationId xmlns:a16="http://schemas.microsoft.com/office/drawing/2014/main" id="{34E182A0-828B-A416-3791-B9B0EB71AACD}"/>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选题背景</a:t>
              </a:r>
            </a:p>
          </p:txBody>
        </p:sp>
      </p:grpSp>
      <p:pic>
        <p:nvPicPr>
          <p:cNvPr id="15" name="图片 14">
            <a:extLst>
              <a:ext uri="{FF2B5EF4-FFF2-40B4-BE49-F238E27FC236}">
                <a16:creationId xmlns:a16="http://schemas.microsoft.com/office/drawing/2014/main" id="{48C340DD-D5FD-0604-497D-6E4423F20C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40150" y="3078370"/>
            <a:ext cx="4326679" cy="2878817"/>
          </a:xfrm>
          <a:prstGeom prst="rect">
            <a:avLst/>
          </a:prstGeom>
        </p:spPr>
      </p:pic>
      <p:pic>
        <p:nvPicPr>
          <p:cNvPr id="16" name="图片 15">
            <a:extLst>
              <a:ext uri="{FF2B5EF4-FFF2-40B4-BE49-F238E27FC236}">
                <a16:creationId xmlns:a16="http://schemas.microsoft.com/office/drawing/2014/main" id="{7D14A4A8-9BDA-B0B6-DD26-2E634D93C8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169" y="3078371"/>
            <a:ext cx="4326683" cy="2878819"/>
          </a:xfrm>
          <a:prstGeom prst="rect">
            <a:avLst/>
          </a:prstGeom>
        </p:spPr>
      </p:pic>
      <p:sp>
        <p:nvSpPr>
          <p:cNvPr id="17" name="矩形: 圆角 16">
            <a:extLst>
              <a:ext uri="{FF2B5EF4-FFF2-40B4-BE49-F238E27FC236}">
                <a16:creationId xmlns:a16="http://schemas.microsoft.com/office/drawing/2014/main" id="{42C223AC-22C9-3AAC-CFC6-0C41BFEB4597}"/>
              </a:ext>
            </a:extLst>
          </p:cNvPr>
          <p:cNvSpPr/>
          <p:nvPr/>
        </p:nvSpPr>
        <p:spPr>
          <a:xfrm>
            <a:off x="5279910" y="3989719"/>
            <a:ext cx="1632181" cy="1056117"/>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苹方-简" panose="020B0400000000000000" pitchFamily="34" charset="-122"/>
                <a:ea typeface="苹方-简" panose="020B0400000000000000" pitchFamily="34" charset="-122"/>
              </a:rPr>
              <a:t>单目深度估计</a:t>
            </a:r>
          </a:p>
        </p:txBody>
      </p:sp>
      <p:cxnSp>
        <p:nvCxnSpPr>
          <p:cNvPr id="19" name="直接箭头连接符 18">
            <a:extLst>
              <a:ext uri="{FF2B5EF4-FFF2-40B4-BE49-F238E27FC236}">
                <a16:creationId xmlns:a16="http://schemas.microsoft.com/office/drawing/2014/main" id="{55EFD1A8-473F-4BAC-E2DE-B576E8BD2AAE}"/>
              </a:ext>
            </a:extLst>
          </p:cNvPr>
          <p:cNvCxnSpPr>
            <a:stCxn id="16" idx="3"/>
            <a:endCxn id="17" idx="1"/>
          </p:cNvCxnSpPr>
          <p:nvPr/>
        </p:nvCxnSpPr>
        <p:spPr>
          <a:xfrm flipV="1">
            <a:off x="4751853" y="4517777"/>
            <a:ext cx="528057" cy="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直接箭头连接符 21">
            <a:extLst>
              <a:ext uri="{FF2B5EF4-FFF2-40B4-BE49-F238E27FC236}">
                <a16:creationId xmlns:a16="http://schemas.microsoft.com/office/drawing/2014/main" id="{501C53EC-65E7-3FE9-7356-9C39AC13653A}"/>
              </a:ext>
            </a:extLst>
          </p:cNvPr>
          <p:cNvCxnSpPr>
            <a:stCxn id="17" idx="3"/>
            <a:endCxn id="15" idx="1"/>
          </p:cNvCxnSpPr>
          <p:nvPr/>
        </p:nvCxnSpPr>
        <p:spPr>
          <a:xfrm>
            <a:off x="6912091" y="4517778"/>
            <a:ext cx="528059"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58807418"/>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5BDF037-58D0-06D9-3DFD-1B538FED91FE}"/>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05608DF9-CB5A-A8B1-DA42-C69F80B7E09B}"/>
              </a:ext>
            </a:extLst>
          </p:cNvPr>
          <p:cNvSpPr>
            <a:spLocks noGrp="1"/>
          </p:cNvSpPr>
          <p:nvPr>
            <p:ph type="sldNum" sz="quarter" idx="12"/>
          </p:nvPr>
        </p:nvSpPr>
        <p:spPr/>
        <p:txBody>
          <a:bodyPr/>
          <a:lstStyle/>
          <a:p>
            <a:fld id="{0C913308-F349-4B6D-A68A-DD1791B4A57B}" type="slidenum">
              <a:rPr lang="zh-CN" altLang="en-US" smtClean="0"/>
              <a:t>4</a:t>
            </a:fld>
            <a:endParaRPr lang="zh-CN" altLang="en-US"/>
          </a:p>
        </p:txBody>
      </p:sp>
      <p:grpSp>
        <p:nvGrpSpPr>
          <p:cNvPr id="42" name="组合 41">
            <a:extLst>
              <a:ext uri="{FF2B5EF4-FFF2-40B4-BE49-F238E27FC236}">
                <a16:creationId xmlns:a16="http://schemas.microsoft.com/office/drawing/2014/main" id="{F47C689F-C338-DE4B-6A51-45CABDCBF751}"/>
              </a:ext>
            </a:extLst>
          </p:cNvPr>
          <p:cNvGrpSpPr/>
          <p:nvPr/>
        </p:nvGrpSpPr>
        <p:grpSpPr>
          <a:xfrm>
            <a:off x="330591" y="1107290"/>
            <a:ext cx="11429424" cy="2049044"/>
            <a:chOff x="245427" y="1296670"/>
            <a:chExt cx="11794808" cy="2114550"/>
          </a:xfrm>
        </p:grpSpPr>
        <p:cxnSp>
          <p:nvCxnSpPr>
            <p:cNvPr id="43" name="直接箭头连接符 42">
              <a:extLst>
                <a:ext uri="{FF2B5EF4-FFF2-40B4-BE49-F238E27FC236}">
                  <a16:creationId xmlns:a16="http://schemas.microsoft.com/office/drawing/2014/main" id="{29A89021-98AB-D066-55EB-87DE3054FFCB}"/>
                </a:ext>
              </a:extLst>
            </p:cNvPr>
            <p:cNvCxnSpPr>
              <a:cxnSpLocks/>
            </p:cNvCxnSpPr>
            <p:nvPr>
              <p:custDataLst>
                <p:tags r:id="rId1"/>
              </p:custDataLst>
            </p:nvPr>
          </p:nvCxnSpPr>
          <p:spPr>
            <a:xfrm flipV="1">
              <a:off x="559689" y="2030631"/>
              <a:ext cx="615315" cy="3175"/>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4" name="文本">
              <a:extLst>
                <a:ext uri="{FF2B5EF4-FFF2-40B4-BE49-F238E27FC236}">
                  <a16:creationId xmlns:a16="http://schemas.microsoft.com/office/drawing/2014/main" id="{7D4D8384-534B-02C7-ACFA-28B18367C369}"/>
                </a:ext>
              </a:extLst>
            </p:cNvPr>
            <p:cNvSpPr/>
            <p:nvPr>
              <p:custDataLst>
                <p:tags r:id="rId2"/>
              </p:custDataLst>
            </p:nvPr>
          </p:nvSpPr>
          <p:spPr>
            <a:xfrm>
              <a:off x="755015" y="1302385"/>
              <a:ext cx="2214245" cy="262255"/>
            </a:xfrm>
            <a:prstGeom prst="rect">
              <a:avLst/>
            </a:prstGeom>
            <a:noFill/>
          </p:spPr>
          <p:txBody>
            <a:bodyPr wrap="none" lIns="90000" tIns="46800" rIns="90000" bIns="46800" rtlCol="0">
              <a:noAutofit/>
            </a:bodyPr>
            <a:lstStyle/>
            <a:p>
              <a:pPr algn="l"/>
              <a:endPar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椭圆 44">
              <a:extLst>
                <a:ext uri="{FF2B5EF4-FFF2-40B4-BE49-F238E27FC236}">
                  <a16:creationId xmlns:a16="http://schemas.microsoft.com/office/drawing/2014/main" id="{37EB7DDB-4399-590F-12C6-6667493F815D}"/>
                </a:ext>
              </a:extLst>
            </p:cNvPr>
            <p:cNvSpPr/>
            <p:nvPr>
              <p:custDataLst>
                <p:tags r:id="rId3"/>
              </p:custDataLst>
            </p:nvPr>
          </p:nvSpPr>
          <p:spPr>
            <a:xfrm>
              <a:off x="1180465"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46" name="文本框 45">
              <a:extLst>
                <a:ext uri="{FF2B5EF4-FFF2-40B4-BE49-F238E27FC236}">
                  <a16:creationId xmlns:a16="http://schemas.microsoft.com/office/drawing/2014/main" id="{E163A5FA-9AE2-B35E-E4F7-10474FE40487}"/>
                </a:ext>
              </a:extLst>
            </p:cNvPr>
            <p:cNvSpPr txBox="1"/>
            <p:nvPr>
              <p:custDataLst>
                <p:tags r:id="rId4"/>
              </p:custDataLst>
            </p:nvPr>
          </p:nvSpPr>
          <p:spPr>
            <a:xfrm>
              <a:off x="1014729" y="2178364"/>
              <a:ext cx="675640" cy="385445"/>
            </a:xfrm>
            <a:prstGeom prst="rect">
              <a:avLst/>
            </a:prstGeom>
            <a:noFill/>
          </p:spPr>
          <p:txBody>
            <a:bodyPr wrap="none" rtlCol="0">
              <a:noAutofit/>
            </a:bodyPr>
            <a:lstStyle/>
            <a:p>
              <a:r>
                <a:rPr lang="en-US" altLang="zh-CN" sz="1467" b="1" dirty="0">
                  <a:highlight>
                    <a:srgbClr val="87B4DD"/>
                  </a:highlight>
                  <a:latin typeface="Times New Roman" panose="02020603050405020304" pitchFamily="18" charset="0"/>
                  <a:cs typeface="Times New Roman" panose="02020603050405020304" pitchFamily="18" charset="0"/>
                </a:rPr>
                <a:t>2014</a:t>
              </a:r>
            </a:p>
          </p:txBody>
        </p:sp>
        <p:sp>
          <p:nvSpPr>
            <p:cNvPr id="47" name="文本框 46">
              <a:extLst>
                <a:ext uri="{FF2B5EF4-FFF2-40B4-BE49-F238E27FC236}">
                  <a16:creationId xmlns:a16="http://schemas.microsoft.com/office/drawing/2014/main" id="{4AFF0CDB-CBBA-4A04-1702-ED0270D37E68}"/>
                </a:ext>
              </a:extLst>
            </p:cNvPr>
            <p:cNvSpPr txBox="1"/>
            <p:nvPr>
              <p:custDataLst>
                <p:tags r:id="rId5"/>
              </p:custDataLst>
            </p:nvPr>
          </p:nvSpPr>
          <p:spPr>
            <a:xfrm rot="10800000" flipV="1">
              <a:off x="519640" y="2509306"/>
              <a:ext cx="1552363" cy="657225"/>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Depth Map Prediction from a Single Image using a Multi-Scale Deep Network</a:t>
              </a:r>
            </a:p>
          </p:txBody>
        </p:sp>
        <p:cxnSp>
          <p:nvCxnSpPr>
            <p:cNvPr id="48" name="直接箭头连接符 47">
              <a:extLst>
                <a:ext uri="{FF2B5EF4-FFF2-40B4-BE49-F238E27FC236}">
                  <a16:creationId xmlns:a16="http://schemas.microsoft.com/office/drawing/2014/main" id="{85BFEE7C-0483-8442-D538-2E3EFC3A56BA}"/>
                </a:ext>
              </a:extLst>
            </p:cNvPr>
            <p:cNvCxnSpPr>
              <a:cxnSpLocks/>
            </p:cNvCxnSpPr>
            <p:nvPr>
              <p:custDataLst>
                <p:tags r:id="rId6"/>
              </p:custDataLst>
            </p:nvPr>
          </p:nvCxnSpPr>
          <p:spPr>
            <a:xfrm flipV="1">
              <a:off x="1590929" y="2030631"/>
              <a:ext cx="1223010" cy="3175"/>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33E282F3-75E8-E61E-1B5B-DD0F9539EC58}"/>
                </a:ext>
              </a:extLst>
            </p:cNvPr>
            <p:cNvSpPr/>
            <p:nvPr>
              <p:custDataLst>
                <p:tags r:id="rId7"/>
              </p:custDataLst>
            </p:nvPr>
          </p:nvSpPr>
          <p:spPr>
            <a:xfrm>
              <a:off x="2813050"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50" name="文本">
              <a:extLst>
                <a:ext uri="{FF2B5EF4-FFF2-40B4-BE49-F238E27FC236}">
                  <a16:creationId xmlns:a16="http://schemas.microsoft.com/office/drawing/2014/main" id="{37988345-CA8D-923C-C751-E6DB70ECBD6F}"/>
                </a:ext>
              </a:extLst>
            </p:cNvPr>
            <p:cNvSpPr/>
            <p:nvPr>
              <p:custDataLst>
                <p:tags r:id="rId8"/>
              </p:custDataLst>
            </p:nvPr>
          </p:nvSpPr>
          <p:spPr>
            <a:xfrm>
              <a:off x="1883093" y="1513205"/>
              <a:ext cx="2214244" cy="262255"/>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左右视差一致性损失</a:t>
              </a:r>
            </a:p>
          </p:txBody>
        </p:sp>
        <p:sp>
          <p:nvSpPr>
            <p:cNvPr id="51" name="文本框 50">
              <a:extLst>
                <a:ext uri="{FF2B5EF4-FFF2-40B4-BE49-F238E27FC236}">
                  <a16:creationId xmlns:a16="http://schemas.microsoft.com/office/drawing/2014/main" id="{72DB4DE9-3D13-E1C1-3BAF-6C5C31D4C4AD}"/>
                </a:ext>
              </a:extLst>
            </p:cNvPr>
            <p:cNvSpPr txBox="1"/>
            <p:nvPr>
              <p:custDataLst>
                <p:tags r:id="rId9"/>
              </p:custDataLst>
            </p:nvPr>
          </p:nvSpPr>
          <p:spPr>
            <a:xfrm>
              <a:off x="2663189" y="2217420"/>
              <a:ext cx="675640" cy="385445"/>
            </a:xfrm>
            <a:prstGeom prst="rect">
              <a:avLst/>
            </a:prstGeom>
            <a:noFill/>
          </p:spPr>
          <p:txBody>
            <a:bodyPr wrap="none" rtlCol="0">
              <a:noAutofit/>
            </a:bodyPr>
            <a:lstStyle/>
            <a:p>
              <a:r>
                <a:rPr lang="en-US" altLang="zh-CN" sz="1467" b="1" dirty="0">
                  <a:highlight>
                    <a:srgbClr val="87B4DD"/>
                  </a:highlight>
                  <a:latin typeface="Times New Roman" panose="02020603050405020304" pitchFamily="18" charset="0"/>
                  <a:cs typeface="Times New Roman" panose="02020603050405020304" pitchFamily="18" charset="0"/>
                </a:rPr>
                <a:t>2017</a:t>
              </a:r>
            </a:p>
          </p:txBody>
        </p:sp>
        <p:sp>
          <p:nvSpPr>
            <p:cNvPr id="52" name="文本框 51">
              <a:extLst>
                <a:ext uri="{FF2B5EF4-FFF2-40B4-BE49-F238E27FC236}">
                  <a16:creationId xmlns:a16="http://schemas.microsoft.com/office/drawing/2014/main" id="{AC8335E5-3884-FCFB-BD9E-3FBD2E01526D}"/>
                </a:ext>
              </a:extLst>
            </p:cNvPr>
            <p:cNvSpPr txBox="1"/>
            <p:nvPr>
              <p:custDataLst>
                <p:tags r:id="rId10"/>
              </p:custDataLst>
            </p:nvPr>
          </p:nvSpPr>
          <p:spPr>
            <a:xfrm rot="10800000" flipV="1">
              <a:off x="2147139" y="2525175"/>
              <a:ext cx="1601895" cy="81533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Unsupervised Monocular Depth Estimation with Left-Right Consistency</a:t>
              </a:r>
            </a:p>
          </p:txBody>
        </p:sp>
        <p:cxnSp>
          <p:nvCxnSpPr>
            <p:cNvPr id="53" name="直接箭头连接符 52">
              <a:extLst>
                <a:ext uri="{FF2B5EF4-FFF2-40B4-BE49-F238E27FC236}">
                  <a16:creationId xmlns:a16="http://schemas.microsoft.com/office/drawing/2014/main" id="{6CE94213-124B-1E4B-45E8-352886C24675}"/>
                </a:ext>
              </a:extLst>
            </p:cNvPr>
            <p:cNvCxnSpPr>
              <a:cxnSpLocks/>
            </p:cNvCxnSpPr>
            <p:nvPr>
              <p:custDataLst>
                <p:tags r:id="rId11"/>
              </p:custDataLst>
            </p:nvPr>
          </p:nvCxnSpPr>
          <p:spPr>
            <a:xfrm>
              <a:off x="3193034" y="2024281"/>
              <a:ext cx="1426210" cy="15875"/>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4DE16748-0829-F49A-BCA6-701898463C7C}"/>
                </a:ext>
              </a:extLst>
            </p:cNvPr>
            <p:cNvSpPr/>
            <p:nvPr>
              <p:custDataLst>
                <p:tags r:id="rId12"/>
              </p:custDataLst>
            </p:nvPr>
          </p:nvSpPr>
          <p:spPr>
            <a:xfrm>
              <a:off x="4618990"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55" name="文本">
              <a:extLst>
                <a:ext uri="{FF2B5EF4-FFF2-40B4-BE49-F238E27FC236}">
                  <a16:creationId xmlns:a16="http://schemas.microsoft.com/office/drawing/2014/main" id="{3AC7DC21-6AA8-90F2-06FD-606DCD3614FF}"/>
                </a:ext>
              </a:extLst>
            </p:cNvPr>
            <p:cNvSpPr/>
            <p:nvPr>
              <p:custDataLst>
                <p:tags r:id="rId13"/>
              </p:custDataLst>
            </p:nvPr>
          </p:nvSpPr>
          <p:spPr>
            <a:xfrm>
              <a:off x="3689032" y="1513205"/>
              <a:ext cx="2214244" cy="262255"/>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相机位姿估计模块</a:t>
              </a:r>
            </a:p>
          </p:txBody>
        </p:sp>
        <p:sp>
          <p:nvSpPr>
            <p:cNvPr id="56" name="文本框 55">
              <a:extLst>
                <a:ext uri="{FF2B5EF4-FFF2-40B4-BE49-F238E27FC236}">
                  <a16:creationId xmlns:a16="http://schemas.microsoft.com/office/drawing/2014/main" id="{B0314CEA-1311-CEBA-4C9C-C0A01FD0A52F}"/>
                </a:ext>
              </a:extLst>
            </p:cNvPr>
            <p:cNvSpPr txBox="1"/>
            <p:nvPr>
              <p:custDataLst>
                <p:tags r:id="rId14"/>
              </p:custDataLst>
            </p:nvPr>
          </p:nvSpPr>
          <p:spPr>
            <a:xfrm>
              <a:off x="4445635" y="2225040"/>
              <a:ext cx="675640" cy="377825"/>
            </a:xfrm>
            <a:prstGeom prst="rect">
              <a:avLst/>
            </a:prstGeom>
            <a:noFill/>
          </p:spPr>
          <p:txBody>
            <a:bodyPr wrap="none" rtlCol="0">
              <a:noAutofit/>
            </a:bodyPr>
            <a:lstStyle/>
            <a:p>
              <a:r>
                <a:rPr lang="en-US" altLang="zh-CN" sz="1467" b="1" dirty="0">
                  <a:highlight>
                    <a:srgbClr val="87B4DD"/>
                  </a:highlight>
                  <a:latin typeface="Times New Roman" panose="02020603050405020304" pitchFamily="18" charset="0"/>
                  <a:cs typeface="Times New Roman" panose="02020603050405020304" pitchFamily="18" charset="0"/>
                </a:rPr>
                <a:t>2019</a:t>
              </a:r>
            </a:p>
          </p:txBody>
        </p:sp>
        <p:sp>
          <p:nvSpPr>
            <p:cNvPr id="57" name="文本框 56">
              <a:extLst>
                <a:ext uri="{FF2B5EF4-FFF2-40B4-BE49-F238E27FC236}">
                  <a16:creationId xmlns:a16="http://schemas.microsoft.com/office/drawing/2014/main" id="{C9E4D40A-FEE5-0BE1-40E3-48D0E187E9B2}"/>
                </a:ext>
              </a:extLst>
            </p:cNvPr>
            <p:cNvSpPr txBox="1"/>
            <p:nvPr>
              <p:custDataLst>
                <p:tags r:id="rId15"/>
              </p:custDataLst>
            </p:nvPr>
          </p:nvSpPr>
          <p:spPr>
            <a:xfrm rot="10800000" flipV="1">
              <a:off x="3736552" y="2569745"/>
              <a:ext cx="2035165" cy="81025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Digging Into Self-Supervised Monocular Depth Estimation</a:t>
              </a:r>
            </a:p>
          </p:txBody>
        </p:sp>
        <p:sp>
          <p:nvSpPr>
            <p:cNvPr id="58" name="文本">
              <a:extLst>
                <a:ext uri="{FF2B5EF4-FFF2-40B4-BE49-F238E27FC236}">
                  <a16:creationId xmlns:a16="http://schemas.microsoft.com/office/drawing/2014/main" id="{A74B296B-1EB9-9A89-07D5-78FCE07CDA9D}"/>
                </a:ext>
              </a:extLst>
            </p:cNvPr>
            <p:cNvSpPr/>
            <p:nvPr>
              <p:custDataLst>
                <p:tags r:id="rId16"/>
              </p:custDataLst>
            </p:nvPr>
          </p:nvSpPr>
          <p:spPr>
            <a:xfrm>
              <a:off x="5448191" y="1497330"/>
              <a:ext cx="2214244" cy="262255"/>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Vision Transformer </a:t>
              </a:r>
            </a:p>
          </p:txBody>
        </p:sp>
        <p:cxnSp>
          <p:nvCxnSpPr>
            <p:cNvPr id="59" name="直接箭头连接符 58">
              <a:extLst>
                <a:ext uri="{FF2B5EF4-FFF2-40B4-BE49-F238E27FC236}">
                  <a16:creationId xmlns:a16="http://schemas.microsoft.com/office/drawing/2014/main" id="{17EF5EC0-54AE-586E-D188-B3561B9494C8}"/>
                </a:ext>
              </a:extLst>
            </p:cNvPr>
            <p:cNvCxnSpPr>
              <a:cxnSpLocks/>
              <a:endCxn id="60" idx="2"/>
            </p:cNvCxnSpPr>
            <p:nvPr>
              <p:custDataLst>
                <p:tags r:id="rId17"/>
              </p:custDataLst>
            </p:nvPr>
          </p:nvCxnSpPr>
          <p:spPr>
            <a:xfrm>
              <a:off x="4973574" y="2038886"/>
              <a:ext cx="1384935" cy="6350"/>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C852E848-568F-37A4-5C8C-1103818FF85D}"/>
                </a:ext>
              </a:extLst>
            </p:cNvPr>
            <p:cNvSpPr/>
            <p:nvPr>
              <p:custDataLst>
                <p:tags r:id="rId18"/>
              </p:custDataLst>
            </p:nvPr>
          </p:nvSpPr>
          <p:spPr>
            <a:xfrm>
              <a:off x="6358255" y="1872615"/>
              <a:ext cx="354330" cy="34480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61" name="文本框 60">
              <a:extLst>
                <a:ext uri="{FF2B5EF4-FFF2-40B4-BE49-F238E27FC236}">
                  <a16:creationId xmlns:a16="http://schemas.microsoft.com/office/drawing/2014/main" id="{37F468C8-9D33-9AC6-634F-30E3EC97219B}"/>
                </a:ext>
              </a:extLst>
            </p:cNvPr>
            <p:cNvSpPr txBox="1"/>
            <p:nvPr>
              <p:custDataLst>
                <p:tags r:id="rId19"/>
              </p:custDataLst>
            </p:nvPr>
          </p:nvSpPr>
          <p:spPr>
            <a:xfrm rot="10800000" flipV="1">
              <a:off x="5632712" y="2563810"/>
              <a:ext cx="1845201" cy="63118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Vision Transformers for Dense Prediction</a:t>
              </a:r>
            </a:p>
          </p:txBody>
        </p:sp>
        <p:sp>
          <p:nvSpPr>
            <p:cNvPr id="62" name="文本框 61">
              <a:extLst>
                <a:ext uri="{FF2B5EF4-FFF2-40B4-BE49-F238E27FC236}">
                  <a16:creationId xmlns:a16="http://schemas.microsoft.com/office/drawing/2014/main" id="{F3706AAC-11B6-ADFE-A7DA-0AA2E504F472}"/>
                </a:ext>
              </a:extLst>
            </p:cNvPr>
            <p:cNvSpPr txBox="1"/>
            <p:nvPr>
              <p:custDataLst>
                <p:tags r:id="rId20"/>
              </p:custDataLst>
            </p:nvPr>
          </p:nvSpPr>
          <p:spPr>
            <a:xfrm>
              <a:off x="6228080" y="2178364"/>
              <a:ext cx="675640" cy="385445"/>
            </a:xfrm>
            <a:prstGeom prst="rect">
              <a:avLst/>
            </a:prstGeom>
            <a:noFill/>
          </p:spPr>
          <p:txBody>
            <a:bodyPr wrap="none" rtlCol="0">
              <a:noAutofit/>
            </a:bodyPr>
            <a:lstStyle/>
            <a:p>
              <a:r>
                <a:rPr lang="en-US" altLang="zh-CN" sz="1467" b="1" dirty="0">
                  <a:highlight>
                    <a:srgbClr val="87B4DD"/>
                  </a:highlight>
                  <a:latin typeface="Times New Roman" panose="02020603050405020304" pitchFamily="18" charset="0"/>
                  <a:cs typeface="Times New Roman" panose="02020603050405020304" pitchFamily="18" charset="0"/>
                </a:rPr>
                <a:t>2022</a:t>
              </a:r>
            </a:p>
          </p:txBody>
        </p:sp>
        <p:cxnSp>
          <p:nvCxnSpPr>
            <p:cNvPr id="63" name="直接箭头连接符 62">
              <a:extLst>
                <a:ext uri="{FF2B5EF4-FFF2-40B4-BE49-F238E27FC236}">
                  <a16:creationId xmlns:a16="http://schemas.microsoft.com/office/drawing/2014/main" id="{ACEE7E66-BDA2-0F1C-642A-93C829F1D4DE}"/>
                </a:ext>
              </a:extLst>
            </p:cNvPr>
            <p:cNvCxnSpPr>
              <a:stCxn id="60" idx="6"/>
              <a:endCxn id="64" idx="2"/>
            </p:cNvCxnSpPr>
            <p:nvPr>
              <p:custDataLst>
                <p:tags r:id="rId21"/>
              </p:custDataLst>
            </p:nvPr>
          </p:nvCxnSpPr>
          <p:spPr>
            <a:xfrm>
              <a:off x="6712839" y="2045236"/>
              <a:ext cx="1739265" cy="0"/>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4" name="椭圆 63">
              <a:extLst>
                <a:ext uri="{FF2B5EF4-FFF2-40B4-BE49-F238E27FC236}">
                  <a16:creationId xmlns:a16="http://schemas.microsoft.com/office/drawing/2014/main" id="{CDEF12B5-05C7-9AA2-A89F-AB83BD2AB8E2}"/>
                </a:ext>
              </a:extLst>
            </p:cNvPr>
            <p:cNvSpPr/>
            <p:nvPr>
              <p:custDataLst>
                <p:tags r:id="rId22"/>
              </p:custDataLst>
            </p:nvPr>
          </p:nvSpPr>
          <p:spPr>
            <a:xfrm>
              <a:off x="8451850" y="1872615"/>
              <a:ext cx="354330" cy="34480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65" name="文本框 64">
              <a:extLst>
                <a:ext uri="{FF2B5EF4-FFF2-40B4-BE49-F238E27FC236}">
                  <a16:creationId xmlns:a16="http://schemas.microsoft.com/office/drawing/2014/main" id="{1DA519DA-1603-4C5D-E6AB-C36A5F1B836F}"/>
                </a:ext>
              </a:extLst>
            </p:cNvPr>
            <p:cNvSpPr txBox="1"/>
            <p:nvPr>
              <p:custDataLst>
                <p:tags r:id="rId23"/>
              </p:custDataLst>
            </p:nvPr>
          </p:nvSpPr>
          <p:spPr>
            <a:xfrm>
              <a:off x="8282304" y="2177094"/>
              <a:ext cx="675640" cy="385445"/>
            </a:xfrm>
            <a:prstGeom prst="rect">
              <a:avLst/>
            </a:prstGeom>
            <a:noFill/>
          </p:spPr>
          <p:txBody>
            <a:bodyPr wrap="none" rtlCol="0">
              <a:noAutofit/>
            </a:bodyPr>
            <a:lstStyle/>
            <a:p>
              <a:r>
                <a:rPr lang="en-US" altLang="zh-CN" sz="1467" b="1" dirty="0">
                  <a:highlight>
                    <a:srgbClr val="87B4DD"/>
                  </a:highlight>
                  <a:latin typeface="Times New Roman" panose="02020603050405020304" pitchFamily="18" charset="0"/>
                  <a:cs typeface="Times New Roman" panose="02020603050405020304" pitchFamily="18" charset="0"/>
                </a:rPr>
                <a:t>2023</a:t>
              </a:r>
            </a:p>
          </p:txBody>
        </p:sp>
        <p:sp>
          <p:nvSpPr>
            <p:cNvPr id="66" name="文本框 65">
              <a:extLst>
                <a:ext uri="{FF2B5EF4-FFF2-40B4-BE49-F238E27FC236}">
                  <a16:creationId xmlns:a16="http://schemas.microsoft.com/office/drawing/2014/main" id="{2641E468-966B-6441-3EDF-B891E50C666B}"/>
                </a:ext>
              </a:extLst>
            </p:cNvPr>
            <p:cNvSpPr txBox="1"/>
            <p:nvPr>
              <p:custDataLst>
                <p:tags r:id="rId24"/>
              </p:custDataLst>
            </p:nvPr>
          </p:nvSpPr>
          <p:spPr>
            <a:xfrm rot="10800000" flipV="1">
              <a:off x="7233012" y="2511593"/>
              <a:ext cx="2535927" cy="705486"/>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Global-Local Path Networks for Monocular Depth Estimation</a:t>
              </a:r>
            </a:p>
            <a:p>
              <a:pPr algn="ctr"/>
              <a:r>
                <a:rPr lang="en-US" altLang="zh-CN" sz="1067" b="1" dirty="0">
                  <a:latin typeface="Times New Roman" panose="02020603050405020304" pitchFamily="18" charset="0"/>
                  <a:cs typeface="Times New Roman" panose="02020603050405020304" pitchFamily="18" charset="0"/>
                </a:rPr>
                <a:t>with Vertical </a:t>
              </a:r>
              <a:r>
                <a:rPr lang="en-US" altLang="zh-CN" sz="1067" b="1" dirty="0" err="1">
                  <a:latin typeface="Times New Roman" panose="02020603050405020304" pitchFamily="18" charset="0"/>
                  <a:cs typeface="Times New Roman" panose="02020603050405020304" pitchFamily="18" charset="0"/>
                </a:rPr>
                <a:t>CutDepth</a:t>
              </a:r>
              <a:endParaRPr lang="en-US" altLang="zh-CN" sz="1067" b="1" dirty="0">
                <a:latin typeface="Times New Roman" panose="02020603050405020304" pitchFamily="18" charset="0"/>
                <a:cs typeface="Times New Roman" panose="02020603050405020304" pitchFamily="18" charset="0"/>
              </a:endParaRPr>
            </a:p>
          </p:txBody>
        </p:sp>
        <p:sp>
          <p:nvSpPr>
            <p:cNvPr id="67" name="文本">
              <a:extLst>
                <a:ext uri="{FF2B5EF4-FFF2-40B4-BE49-F238E27FC236}">
                  <a16:creationId xmlns:a16="http://schemas.microsoft.com/office/drawing/2014/main" id="{2DBA4EEC-16D5-C7F2-4C10-64D117468185}"/>
                </a:ext>
              </a:extLst>
            </p:cNvPr>
            <p:cNvSpPr/>
            <p:nvPr>
              <p:custDataLst>
                <p:tags r:id="rId25"/>
              </p:custDataLst>
            </p:nvPr>
          </p:nvSpPr>
          <p:spPr>
            <a:xfrm>
              <a:off x="7513002" y="1496694"/>
              <a:ext cx="2214244" cy="262255"/>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特征融合模块</a:t>
              </a:r>
            </a:p>
          </p:txBody>
        </p:sp>
        <p:sp>
          <p:nvSpPr>
            <p:cNvPr id="68" name="椭圆 67">
              <a:extLst>
                <a:ext uri="{FF2B5EF4-FFF2-40B4-BE49-F238E27FC236}">
                  <a16:creationId xmlns:a16="http://schemas.microsoft.com/office/drawing/2014/main" id="{27FF7358-45F0-7368-BBF1-ACB1A233A95D}"/>
                </a:ext>
              </a:extLst>
            </p:cNvPr>
            <p:cNvSpPr/>
            <p:nvPr>
              <p:custDataLst>
                <p:tags r:id="rId26"/>
              </p:custDataLst>
            </p:nvPr>
          </p:nvSpPr>
          <p:spPr>
            <a:xfrm>
              <a:off x="10291445" y="1872615"/>
              <a:ext cx="354330" cy="34480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cxnSp>
          <p:nvCxnSpPr>
            <p:cNvPr id="69" name="直接箭头连接符 68">
              <a:extLst>
                <a:ext uri="{FF2B5EF4-FFF2-40B4-BE49-F238E27FC236}">
                  <a16:creationId xmlns:a16="http://schemas.microsoft.com/office/drawing/2014/main" id="{E40CE218-B2FE-0442-293B-2F49B61591CC}"/>
                </a:ext>
              </a:extLst>
            </p:cNvPr>
            <p:cNvCxnSpPr>
              <a:endCxn id="68" idx="2"/>
            </p:cNvCxnSpPr>
            <p:nvPr>
              <p:custDataLst>
                <p:tags r:id="rId27"/>
              </p:custDataLst>
            </p:nvPr>
          </p:nvCxnSpPr>
          <p:spPr>
            <a:xfrm>
              <a:off x="8806434" y="2038886"/>
              <a:ext cx="1485265" cy="6350"/>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EF084E44-4AA6-28CC-F2EA-60FBF64355DD}"/>
                </a:ext>
              </a:extLst>
            </p:cNvPr>
            <p:cNvSpPr txBox="1"/>
            <p:nvPr>
              <p:custDataLst>
                <p:tags r:id="rId28"/>
              </p:custDataLst>
            </p:nvPr>
          </p:nvSpPr>
          <p:spPr>
            <a:xfrm>
              <a:off x="10140315" y="2185349"/>
              <a:ext cx="675640" cy="385445"/>
            </a:xfrm>
            <a:prstGeom prst="rect">
              <a:avLst/>
            </a:prstGeom>
            <a:noFill/>
          </p:spPr>
          <p:txBody>
            <a:bodyPr wrap="none" rtlCol="0">
              <a:noAutofit/>
            </a:bodyPr>
            <a:lstStyle/>
            <a:p>
              <a:r>
                <a:rPr lang="en-US" altLang="zh-CN" sz="1467" b="1" dirty="0">
                  <a:highlight>
                    <a:srgbClr val="87B4DD"/>
                  </a:highlight>
                  <a:latin typeface="Times New Roman" panose="02020603050405020304" pitchFamily="18" charset="0"/>
                  <a:cs typeface="Times New Roman" panose="02020603050405020304" pitchFamily="18" charset="0"/>
                </a:rPr>
                <a:t>2024</a:t>
              </a:r>
            </a:p>
          </p:txBody>
        </p:sp>
        <p:sp>
          <p:nvSpPr>
            <p:cNvPr id="71" name="文本框 70">
              <a:extLst>
                <a:ext uri="{FF2B5EF4-FFF2-40B4-BE49-F238E27FC236}">
                  <a16:creationId xmlns:a16="http://schemas.microsoft.com/office/drawing/2014/main" id="{1EA8F4F0-08AC-31F8-0682-E933A646769F}"/>
                </a:ext>
              </a:extLst>
            </p:cNvPr>
            <p:cNvSpPr txBox="1"/>
            <p:nvPr>
              <p:custDataLst>
                <p:tags r:id="rId29"/>
              </p:custDataLst>
            </p:nvPr>
          </p:nvSpPr>
          <p:spPr>
            <a:xfrm rot="10800000" flipV="1">
              <a:off x="9397802" y="2539099"/>
              <a:ext cx="2239280" cy="63880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Repurposing Diffusion-Based Image Generators for Monocular Depth Estimation</a:t>
              </a:r>
            </a:p>
          </p:txBody>
        </p:sp>
        <p:sp>
          <p:nvSpPr>
            <p:cNvPr id="72" name="圆角矩形 40">
              <a:extLst>
                <a:ext uri="{FF2B5EF4-FFF2-40B4-BE49-F238E27FC236}">
                  <a16:creationId xmlns:a16="http://schemas.microsoft.com/office/drawing/2014/main" id="{D58E3B08-2574-AC4B-BB8D-4D864C333742}"/>
                </a:ext>
              </a:extLst>
            </p:cNvPr>
            <p:cNvSpPr/>
            <p:nvPr>
              <p:custDataLst>
                <p:tags r:id="rId30"/>
              </p:custDataLst>
            </p:nvPr>
          </p:nvSpPr>
          <p:spPr>
            <a:xfrm>
              <a:off x="254635" y="1296670"/>
              <a:ext cx="11785600" cy="2114550"/>
            </a:xfrm>
            <a:prstGeom prst="roundRect">
              <a:avLst>
                <a:gd name="adj" fmla="val 5616"/>
              </a:avLst>
            </a:prstGeom>
            <a:noFill/>
            <a:ln w="381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dirty="0"/>
            </a:p>
          </p:txBody>
        </p:sp>
        <p:sp>
          <p:nvSpPr>
            <p:cNvPr id="73" name="文本">
              <a:extLst>
                <a:ext uri="{FF2B5EF4-FFF2-40B4-BE49-F238E27FC236}">
                  <a16:creationId xmlns:a16="http://schemas.microsoft.com/office/drawing/2014/main" id="{99816EA9-F456-147C-8059-E999C8D678C9}"/>
                </a:ext>
              </a:extLst>
            </p:cNvPr>
            <p:cNvSpPr/>
            <p:nvPr>
              <p:custDataLst>
                <p:tags r:id="rId31"/>
              </p:custDataLst>
            </p:nvPr>
          </p:nvSpPr>
          <p:spPr>
            <a:xfrm>
              <a:off x="245427" y="1532432"/>
              <a:ext cx="2214244" cy="262255"/>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多尺度网络</a:t>
              </a:r>
            </a:p>
          </p:txBody>
        </p:sp>
        <p:sp>
          <p:nvSpPr>
            <p:cNvPr id="74" name="文本">
              <a:extLst>
                <a:ext uri="{FF2B5EF4-FFF2-40B4-BE49-F238E27FC236}">
                  <a16:creationId xmlns:a16="http://schemas.microsoft.com/office/drawing/2014/main" id="{F3AFA40C-F1A1-8E05-686C-E922A02D7BF7}"/>
                </a:ext>
              </a:extLst>
            </p:cNvPr>
            <p:cNvSpPr/>
            <p:nvPr>
              <p:custDataLst>
                <p:tags r:id="rId32"/>
              </p:custDataLst>
            </p:nvPr>
          </p:nvSpPr>
          <p:spPr>
            <a:xfrm>
              <a:off x="9361486" y="1496694"/>
              <a:ext cx="2214244" cy="262255"/>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扩散模型</a:t>
              </a:r>
            </a:p>
          </p:txBody>
        </p:sp>
      </p:grpSp>
      <p:grpSp>
        <p:nvGrpSpPr>
          <p:cNvPr id="75" name="组合 74">
            <a:extLst>
              <a:ext uri="{FF2B5EF4-FFF2-40B4-BE49-F238E27FC236}">
                <a16:creationId xmlns:a16="http://schemas.microsoft.com/office/drawing/2014/main" id="{B46BC174-C6D4-5490-2205-BC1958629C0E}"/>
              </a:ext>
            </a:extLst>
          </p:cNvPr>
          <p:cNvGrpSpPr/>
          <p:nvPr/>
        </p:nvGrpSpPr>
        <p:grpSpPr>
          <a:xfrm>
            <a:off x="-63871" y="0"/>
            <a:ext cx="2688299" cy="816704"/>
            <a:chOff x="-47903" y="0"/>
            <a:chExt cx="2016224" cy="612528"/>
          </a:xfrm>
        </p:grpSpPr>
        <p:grpSp>
          <p:nvGrpSpPr>
            <p:cNvPr id="76" name="组合 75">
              <a:extLst>
                <a:ext uri="{FF2B5EF4-FFF2-40B4-BE49-F238E27FC236}">
                  <a16:creationId xmlns:a16="http://schemas.microsoft.com/office/drawing/2014/main" id="{A5353020-7142-6A29-C627-7A35BE121BA4}"/>
                </a:ext>
              </a:extLst>
            </p:cNvPr>
            <p:cNvGrpSpPr/>
            <p:nvPr/>
          </p:nvGrpSpPr>
          <p:grpSpPr>
            <a:xfrm rot="16200000" flipV="1">
              <a:off x="629840" y="-629840"/>
              <a:ext cx="612528" cy="1872208"/>
              <a:chOff x="604102" y="1347614"/>
              <a:chExt cx="1075775" cy="2149930"/>
            </a:xfrm>
          </p:grpSpPr>
          <p:grpSp>
            <p:nvGrpSpPr>
              <p:cNvPr id="78" name="组合 77">
                <a:extLst>
                  <a:ext uri="{FF2B5EF4-FFF2-40B4-BE49-F238E27FC236}">
                    <a16:creationId xmlns:a16="http://schemas.microsoft.com/office/drawing/2014/main" id="{3511FE77-A8D3-176E-9640-7C292A3586CC}"/>
                  </a:ext>
                </a:extLst>
              </p:cNvPr>
              <p:cNvGrpSpPr/>
              <p:nvPr/>
            </p:nvGrpSpPr>
            <p:grpSpPr>
              <a:xfrm>
                <a:off x="755576" y="1347614"/>
                <a:ext cx="806989" cy="2149930"/>
                <a:chOff x="1477543" y="637844"/>
                <a:chExt cx="6486890" cy="3157021"/>
              </a:xfrm>
            </p:grpSpPr>
            <p:sp>
              <p:nvSpPr>
                <p:cNvPr id="81" name="矩形 80">
                  <a:extLst>
                    <a:ext uri="{FF2B5EF4-FFF2-40B4-BE49-F238E27FC236}">
                      <a16:creationId xmlns:a16="http://schemas.microsoft.com/office/drawing/2014/main" id="{42677C2B-FAB6-E589-ABC5-FC49000C4B92}"/>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82" name="矩形 81">
                  <a:extLst>
                    <a:ext uri="{FF2B5EF4-FFF2-40B4-BE49-F238E27FC236}">
                      <a16:creationId xmlns:a16="http://schemas.microsoft.com/office/drawing/2014/main" id="{EC63EAB9-A5B9-76C6-B6BD-B773E9DE37AD}"/>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83" name="矩形 82">
                  <a:extLst>
                    <a:ext uri="{FF2B5EF4-FFF2-40B4-BE49-F238E27FC236}">
                      <a16:creationId xmlns:a16="http://schemas.microsoft.com/office/drawing/2014/main" id="{9218F3BC-F5C6-C2D5-6173-57631FADA57E}"/>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79" name="直接连接符 78">
                <a:extLst>
                  <a:ext uri="{FF2B5EF4-FFF2-40B4-BE49-F238E27FC236}">
                    <a16:creationId xmlns:a16="http://schemas.microsoft.com/office/drawing/2014/main" id="{9A1E1507-AEF9-903F-5DEF-6F67A2A17429}"/>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67A2F058-06B3-6BEC-B5AD-D9B4EB8CF1CA}"/>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7" name="文本框 76">
              <a:extLst>
                <a:ext uri="{FF2B5EF4-FFF2-40B4-BE49-F238E27FC236}">
                  <a16:creationId xmlns:a16="http://schemas.microsoft.com/office/drawing/2014/main" id="{619675A4-CAFF-E515-2203-12886F8B7602}"/>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研究现状</a:t>
              </a:r>
            </a:p>
          </p:txBody>
        </p:sp>
      </p:grpSp>
      <p:sp>
        <p:nvSpPr>
          <p:cNvPr id="88" name="文本框 87">
            <a:extLst>
              <a:ext uri="{FF2B5EF4-FFF2-40B4-BE49-F238E27FC236}">
                <a16:creationId xmlns:a16="http://schemas.microsoft.com/office/drawing/2014/main" id="{83A725D5-8083-F5B3-C0CB-7406A269DD4D}"/>
              </a:ext>
            </a:extLst>
          </p:cNvPr>
          <p:cNvSpPr txBox="1"/>
          <p:nvPr/>
        </p:nvSpPr>
        <p:spPr>
          <a:xfrm>
            <a:off x="8748441" y="132993"/>
            <a:ext cx="2995729" cy="954107"/>
          </a:xfrm>
          <a:prstGeom prst="rect">
            <a:avLst/>
          </a:prstGeom>
          <a:noFill/>
        </p:spPr>
        <p:txBody>
          <a:bodyPr wrap="square" rtlCol="0">
            <a:spAutoFit/>
          </a:bodyPr>
          <a:lstStyle/>
          <a:p>
            <a:pPr algn="just"/>
            <a:r>
              <a:rPr lang="zh-CN" altLang="en-US" sz="1400" dirty="0">
                <a:latin typeface="苹方-简" panose="020B0400000000000000" pitchFamily="34" charset="-122"/>
                <a:ea typeface="苹方-简" panose="020B0400000000000000" pitchFamily="34" charset="-122"/>
              </a:rPr>
              <a:t>当下的趋势就是利用扩散模型从大量数据中学习到的知识先验来进行其它视觉任务，例如深度估计，表面法向量估计</a:t>
            </a:r>
          </a:p>
        </p:txBody>
      </p:sp>
      <p:pic>
        <p:nvPicPr>
          <p:cNvPr id="89" name="图片 88">
            <a:extLst>
              <a:ext uri="{FF2B5EF4-FFF2-40B4-BE49-F238E27FC236}">
                <a16:creationId xmlns:a16="http://schemas.microsoft.com/office/drawing/2014/main" id="{71BF7A76-A23D-D62F-3B3A-A9E592F4A0EB}"/>
              </a:ext>
            </a:extLst>
          </p:cNvPr>
          <p:cNvPicPr>
            <a:picLocks noChangeAspect="1"/>
          </p:cNvPicPr>
          <p:nvPr/>
        </p:nvPicPr>
        <p:blipFill>
          <a:blip r:embed="rId34"/>
          <a:stretch>
            <a:fillRect/>
          </a:stretch>
        </p:blipFill>
        <p:spPr>
          <a:xfrm>
            <a:off x="143339" y="3247529"/>
            <a:ext cx="6528725" cy="3154932"/>
          </a:xfrm>
          <a:prstGeom prst="rect">
            <a:avLst/>
          </a:prstGeom>
        </p:spPr>
      </p:pic>
      <p:sp>
        <p:nvSpPr>
          <p:cNvPr id="90" name="流程图: 过程 89">
            <a:extLst>
              <a:ext uri="{FF2B5EF4-FFF2-40B4-BE49-F238E27FC236}">
                <a16:creationId xmlns:a16="http://schemas.microsoft.com/office/drawing/2014/main" id="{855559F1-C7E0-C042-62EF-DF9BAF610FF5}"/>
              </a:ext>
            </a:extLst>
          </p:cNvPr>
          <p:cNvSpPr/>
          <p:nvPr/>
        </p:nvSpPr>
        <p:spPr>
          <a:xfrm>
            <a:off x="7768096" y="4161559"/>
            <a:ext cx="2792307" cy="1671320"/>
          </a:xfrm>
          <a:prstGeom prst="flowChartProcess">
            <a:avLst/>
          </a:prstGeom>
          <a:solidFill>
            <a:srgbClr val="87B4DD"/>
          </a:solidFill>
          <a:ln>
            <a:solidFill>
              <a:srgbClr val="87B4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133" dirty="0">
                <a:solidFill>
                  <a:schemeClr val="tx1"/>
                </a:solidFill>
                <a:latin typeface="苹方-简" panose="020B0400000000000000" pitchFamily="34" charset="-122"/>
                <a:ea typeface="苹方-简" panose="020B0400000000000000" pitchFamily="34" charset="-122"/>
              </a:rPr>
              <a:t>Stable Diffusion 2:</a:t>
            </a:r>
            <a:r>
              <a:rPr lang="zh-CN" altLang="en-US" sz="2133" dirty="0">
                <a:solidFill>
                  <a:schemeClr val="tx1"/>
                </a:solidFill>
                <a:latin typeface="苹方-简" panose="020B0400000000000000" pitchFamily="34" charset="-122"/>
                <a:ea typeface="苹方-简" panose="020B0400000000000000" pitchFamily="34" charset="-122"/>
              </a:rPr>
              <a:t>在</a:t>
            </a:r>
            <a:r>
              <a:rPr lang="en-US" altLang="zh-CN" sz="2133" dirty="0">
                <a:solidFill>
                  <a:schemeClr val="tx1"/>
                </a:solidFill>
                <a:latin typeface="苹方-简" panose="020B0400000000000000" pitchFamily="34" charset="-122"/>
                <a:ea typeface="苹方-简" panose="020B0400000000000000" pitchFamily="34" charset="-122"/>
              </a:rPr>
              <a:t>LAION-5B(</a:t>
            </a:r>
            <a:r>
              <a:rPr lang="zh-CN" altLang="en-US" sz="2133" dirty="0">
                <a:solidFill>
                  <a:schemeClr val="tx1"/>
                </a:solidFill>
                <a:latin typeface="苹方-简" panose="020B0400000000000000" pitchFamily="34" charset="-122"/>
                <a:ea typeface="苹方-简" panose="020B0400000000000000" pitchFamily="34" charset="-122"/>
              </a:rPr>
              <a:t>约</a:t>
            </a:r>
            <a:r>
              <a:rPr lang="en-US" altLang="zh-CN" sz="2133" dirty="0">
                <a:solidFill>
                  <a:schemeClr val="tx1"/>
                </a:solidFill>
                <a:latin typeface="苹方-简" panose="020B0400000000000000" pitchFamily="34" charset="-122"/>
                <a:ea typeface="苹方-简" panose="020B0400000000000000" pitchFamily="34" charset="-122"/>
              </a:rPr>
              <a:t>58</a:t>
            </a:r>
            <a:r>
              <a:rPr lang="zh-CN" altLang="en-US" sz="2133" dirty="0">
                <a:solidFill>
                  <a:schemeClr val="tx1"/>
                </a:solidFill>
                <a:latin typeface="苹方-简" panose="020B0400000000000000" pitchFamily="34" charset="-122"/>
                <a:ea typeface="苹方-简" panose="020B0400000000000000" pitchFamily="34" charset="-122"/>
              </a:rPr>
              <a:t>亿个图文对</a:t>
            </a:r>
            <a:r>
              <a:rPr lang="en-US" altLang="zh-CN" sz="2133" dirty="0">
                <a:solidFill>
                  <a:schemeClr val="tx1"/>
                </a:solidFill>
                <a:latin typeface="苹方-简" panose="020B0400000000000000" pitchFamily="34" charset="-122"/>
                <a:ea typeface="苹方-简" panose="020B0400000000000000" pitchFamily="34" charset="-122"/>
              </a:rPr>
              <a:t>)</a:t>
            </a:r>
            <a:r>
              <a:rPr lang="zh-CN" altLang="en-US" sz="2133" dirty="0">
                <a:solidFill>
                  <a:schemeClr val="tx1"/>
                </a:solidFill>
                <a:latin typeface="苹方-简" panose="020B0400000000000000" pitchFamily="34" charset="-122"/>
                <a:ea typeface="苹方-简" panose="020B0400000000000000" pitchFamily="34" charset="-122"/>
              </a:rPr>
              <a:t>数据集上进行训练，拥有者强大的知识先验</a:t>
            </a:r>
          </a:p>
        </p:txBody>
      </p:sp>
    </p:spTree>
    <p:extLst>
      <p:ext uri="{BB962C8B-B14F-4D97-AF65-F5344CB8AC3E}">
        <p14:creationId xmlns:p14="http://schemas.microsoft.com/office/powerpoint/2010/main" val="1686801278"/>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B46DBC-8264-2435-040D-683148941D61}"/>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DCFD1DC6-F03F-A270-8F4A-B2BDA30CD46D}"/>
              </a:ext>
            </a:extLst>
          </p:cNvPr>
          <p:cNvSpPr>
            <a:spLocks noGrp="1"/>
          </p:cNvSpPr>
          <p:nvPr>
            <p:ph type="sldNum" sz="quarter" idx="12"/>
          </p:nvPr>
        </p:nvSpPr>
        <p:spPr/>
        <p:txBody>
          <a:bodyPr/>
          <a:lstStyle/>
          <a:p>
            <a:fld id="{0C913308-F349-4B6D-A68A-DD1791B4A57B}" type="slidenum">
              <a:rPr lang="zh-CN" altLang="en-US" smtClean="0"/>
              <a:t>5</a:t>
            </a:fld>
            <a:endParaRPr lang="zh-CN" altLang="en-US"/>
          </a:p>
        </p:txBody>
      </p:sp>
      <p:sp>
        <p:nvSpPr>
          <p:cNvPr id="4" name="矩形 3">
            <a:extLst>
              <a:ext uri="{FF2B5EF4-FFF2-40B4-BE49-F238E27FC236}">
                <a16:creationId xmlns:a16="http://schemas.microsoft.com/office/drawing/2014/main" id="{0A5ADA52-6B48-898E-0BDA-B9429B1CD463}"/>
              </a:ext>
            </a:extLst>
          </p:cNvPr>
          <p:cNvSpPr/>
          <p:nvPr/>
        </p:nvSpPr>
        <p:spPr>
          <a:xfrm>
            <a:off x="196049" y="3748885"/>
            <a:ext cx="575025" cy="1440224"/>
          </a:xfrm>
          <a:prstGeom prst="rect">
            <a:avLst/>
          </a:prstGeom>
          <a:solidFill>
            <a:schemeClr val="bg1"/>
          </a:solidFill>
          <a:ln w="76200">
            <a:solidFill>
              <a:srgbClr val="E6E9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dirty="0">
              <a:solidFill>
                <a:schemeClr val="accent1">
                  <a:lumMod val="75000"/>
                </a:schemeClr>
              </a:solidFill>
              <a:latin typeface="黑体" panose="02010609060101010101" pitchFamily="49" charset="-122"/>
              <a:ea typeface="黑体" panose="02010609060101010101" pitchFamily="49" charset="-122"/>
            </a:endParaRPr>
          </a:p>
          <a:p>
            <a:pPr algn="ctr"/>
            <a:r>
              <a:rPr lang="zh-CN" altLang="en-US" sz="1867" b="1" dirty="0">
                <a:solidFill>
                  <a:schemeClr val="accent1">
                    <a:lumMod val="75000"/>
                  </a:schemeClr>
                </a:solidFill>
                <a:latin typeface="黑体" panose="02010609060101010101" pitchFamily="49" charset="-122"/>
                <a:ea typeface="黑体" panose="02010609060101010101" pitchFamily="49" charset="-122"/>
              </a:rPr>
              <a:t>现有</a:t>
            </a:r>
            <a:endParaRPr lang="en-US" altLang="zh-CN" sz="1867" b="1" dirty="0">
              <a:solidFill>
                <a:schemeClr val="accent1">
                  <a:lumMod val="75000"/>
                </a:schemeClr>
              </a:solidFill>
              <a:latin typeface="黑体" panose="02010609060101010101" pitchFamily="49" charset="-122"/>
              <a:ea typeface="黑体" panose="02010609060101010101" pitchFamily="49" charset="-122"/>
            </a:endParaRPr>
          </a:p>
          <a:p>
            <a:pPr algn="ctr"/>
            <a:r>
              <a:rPr lang="zh-CN" altLang="en-US" sz="1867" b="1" dirty="0">
                <a:solidFill>
                  <a:schemeClr val="accent1">
                    <a:lumMod val="75000"/>
                  </a:schemeClr>
                </a:solidFill>
                <a:latin typeface="黑体" panose="02010609060101010101" pitchFamily="49" charset="-122"/>
                <a:ea typeface="黑体" panose="02010609060101010101" pitchFamily="49" charset="-122"/>
              </a:rPr>
              <a:t>问</a:t>
            </a:r>
            <a:endParaRPr lang="en-US" altLang="zh-CN" sz="1867" b="1" dirty="0">
              <a:solidFill>
                <a:schemeClr val="accent1">
                  <a:lumMod val="75000"/>
                </a:schemeClr>
              </a:solidFill>
              <a:latin typeface="黑体" panose="02010609060101010101" pitchFamily="49" charset="-122"/>
              <a:ea typeface="黑体" panose="02010609060101010101" pitchFamily="49" charset="-122"/>
            </a:endParaRPr>
          </a:p>
          <a:p>
            <a:pPr algn="ctr"/>
            <a:r>
              <a:rPr lang="zh-CN" altLang="en-US" sz="1867" b="1" dirty="0">
                <a:solidFill>
                  <a:schemeClr val="accent1">
                    <a:lumMod val="75000"/>
                  </a:schemeClr>
                </a:solidFill>
                <a:latin typeface="黑体" panose="02010609060101010101" pitchFamily="49" charset="-122"/>
                <a:ea typeface="黑体" panose="02010609060101010101" pitchFamily="49" charset="-122"/>
              </a:rPr>
              <a:t>题</a:t>
            </a:r>
            <a:endParaRPr lang="en-US" altLang="zh-CN" sz="1867" b="1" dirty="0">
              <a:solidFill>
                <a:schemeClr val="accent1">
                  <a:lumMod val="75000"/>
                </a:schemeClr>
              </a:solidFill>
              <a:latin typeface="黑体" panose="02010609060101010101" pitchFamily="49" charset="-122"/>
              <a:ea typeface="黑体" panose="02010609060101010101" pitchFamily="49" charset="-122"/>
            </a:endParaRPr>
          </a:p>
          <a:p>
            <a:pPr algn="ctr"/>
            <a:endParaRPr lang="en-US" altLang="zh-CN" sz="3200" b="1" dirty="0">
              <a:solidFill>
                <a:schemeClr val="accent1">
                  <a:lumMod val="75000"/>
                </a:schemeClr>
              </a:solidFill>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2E6D4484-D922-D9EE-A48C-9675523F5C5E}"/>
              </a:ext>
            </a:extLst>
          </p:cNvPr>
          <p:cNvSpPr txBox="1"/>
          <p:nvPr/>
        </p:nvSpPr>
        <p:spPr>
          <a:xfrm>
            <a:off x="1007436" y="3867994"/>
            <a:ext cx="9971193" cy="976207"/>
          </a:xfrm>
          <a:prstGeom prst="rect">
            <a:avLst/>
          </a:prstGeom>
          <a:noFill/>
        </p:spPr>
        <p:txBody>
          <a:bodyPr wrap="square" rtlCol="0" anchor="t">
            <a:noAutofit/>
          </a:bodyPr>
          <a:lstStyle/>
          <a:p>
            <a:pPr marL="304792" indent="-304792">
              <a:buAutoNum type="arabicPeriod"/>
            </a:pPr>
            <a:r>
              <a:rPr lang="zh-CN" altLang="en-US" sz="1467" b="1" dirty="0">
                <a:sym typeface="+mn-ea"/>
              </a:rPr>
              <a:t>由于扩散模型的本质是通过逐步的去噪，来实现深度图的生成。但多步推理过程带来的就是推理时长的过大</a:t>
            </a:r>
            <a:endParaRPr lang="en-US" altLang="zh-CN" sz="1467" b="1" dirty="0">
              <a:sym typeface="+mn-ea"/>
            </a:endParaRPr>
          </a:p>
          <a:p>
            <a:pPr marL="304792" indent="-304792">
              <a:buAutoNum type="arabicPeriod"/>
            </a:pPr>
            <a:endParaRPr lang="en-US" altLang="zh-CN" sz="1467" b="1" dirty="0">
              <a:sym typeface="+mn-ea"/>
            </a:endParaRPr>
          </a:p>
          <a:p>
            <a:pPr marL="304792" indent="-304792">
              <a:buAutoNum type="arabicPeriod"/>
            </a:pPr>
            <a:r>
              <a:rPr lang="zh-CN" altLang="en-US" sz="1467" b="1" dirty="0">
                <a:sym typeface="+mn-ea"/>
              </a:rPr>
              <a:t>现有的单步推理方法虽然使得推理速度加快了</a:t>
            </a:r>
            <a:r>
              <a:rPr lang="en-US" altLang="zh-CN" sz="1467" b="1" dirty="0">
                <a:sym typeface="+mn-ea"/>
              </a:rPr>
              <a:t>200</a:t>
            </a:r>
            <a:r>
              <a:rPr lang="zh-CN" altLang="en-US" sz="1467" b="1" dirty="0">
                <a:sym typeface="+mn-ea"/>
              </a:rPr>
              <a:t>倍</a:t>
            </a:r>
            <a:r>
              <a:rPr lang="en-US" altLang="zh-CN" sz="1467" b="1" dirty="0">
                <a:sym typeface="+mn-ea"/>
              </a:rPr>
              <a:t>(24s--&gt;120ms)</a:t>
            </a:r>
            <a:r>
              <a:rPr lang="zh-CN" altLang="en-US" sz="1467" b="1" dirty="0">
                <a:sym typeface="+mn-ea"/>
              </a:rPr>
              <a:t>，但由于缺少逐步细化的过程，使得推理结果在细节边缘细节方面比较模糊，如下图</a:t>
            </a:r>
            <a:r>
              <a:rPr lang="en-US" altLang="zh-CN" sz="1467" b="1" dirty="0">
                <a:sym typeface="+mn-ea"/>
              </a:rPr>
              <a:t>.</a:t>
            </a:r>
            <a:endParaRPr lang="zh-CN" altLang="en-US" sz="1467" b="1" dirty="0">
              <a:sym typeface="+mn-ea"/>
            </a:endParaRPr>
          </a:p>
        </p:txBody>
      </p:sp>
      <p:grpSp>
        <p:nvGrpSpPr>
          <p:cNvPr id="6" name="组合 5">
            <a:extLst>
              <a:ext uri="{FF2B5EF4-FFF2-40B4-BE49-F238E27FC236}">
                <a16:creationId xmlns:a16="http://schemas.microsoft.com/office/drawing/2014/main" id="{75C0F6F0-017A-10ED-5358-788833292ADC}"/>
              </a:ext>
            </a:extLst>
          </p:cNvPr>
          <p:cNvGrpSpPr/>
          <p:nvPr/>
        </p:nvGrpSpPr>
        <p:grpSpPr>
          <a:xfrm>
            <a:off x="-63871" y="0"/>
            <a:ext cx="2688299" cy="816704"/>
            <a:chOff x="-47903" y="0"/>
            <a:chExt cx="2016224" cy="612528"/>
          </a:xfrm>
        </p:grpSpPr>
        <p:grpSp>
          <p:nvGrpSpPr>
            <p:cNvPr id="7" name="组合 6">
              <a:extLst>
                <a:ext uri="{FF2B5EF4-FFF2-40B4-BE49-F238E27FC236}">
                  <a16:creationId xmlns:a16="http://schemas.microsoft.com/office/drawing/2014/main" id="{449217B2-2174-E834-DAD3-93C28F09326D}"/>
                </a:ext>
              </a:extLst>
            </p:cNvPr>
            <p:cNvGrpSpPr/>
            <p:nvPr/>
          </p:nvGrpSpPr>
          <p:grpSpPr>
            <a:xfrm rot="16200000" flipV="1">
              <a:off x="629840" y="-629840"/>
              <a:ext cx="612528" cy="1872208"/>
              <a:chOff x="604102" y="1347614"/>
              <a:chExt cx="1075775" cy="2149930"/>
            </a:xfrm>
          </p:grpSpPr>
          <p:grpSp>
            <p:nvGrpSpPr>
              <p:cNvPr id="9" name="组合 8">
                <a:extLst>
                  <a:ext uri="{FF2B5EF4-FFF2-40B4-BE49-F238E27FC236}">
                    <a16:creationId xmlns:a16="http://schemas.microsoft.com/office/drawing/2014/main" id="{0A43FBDB-EFC4-3FB4-8CBB-118A224587D7}"/>
                  </a:ext>
                </a:extLst>
              </p:cNvPr>
              <p:cNvGrpSpPr/>
              <p:nvPr/>
            </p:nvGrpSpPr>
            <p:grpSpPr>
              <a:xfrm>
                <a:off x="755576" y="1347614"/>
                <a:ext cx="806989" cy="2149930"/>
                <a:chOff x="1477543" y="637844"/>
                <a:chExt cx="6486890" cy="3157021"/>
              </a:xfrm>
            </p:grpSpPr>
            <p:sp>
              <p:nvSpPr>
                <p:cNvPr id="12" name="矩形 11">
                  <a:extLst>
                    <a:ext uri="{FF2B5EF4-FFF2-40B4-BE49-F238E27FC236}">
                      <a16:creationId xmlns:a16="http://schemas.microsoft.com/office/drawing/2014/main" id="{A09AE235-6836-B854-16C8-AA90B4279F00}"/>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3" name="矩形 12">
                  <a:extLst>
                    <a:ext uri="{FF2B5EF4-FFF2-40B4-BE49-F238E27FC236}">
                      <a16:creationId xmlns:a16="http://schemas.microsoft.com/office/drawing/2014/main" id="{A0FFF9A4-BD95-8913-15E1-59F3C821EA1B}"/>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4" name="矩形 13">
                  <a:extLst>
                    <a:ext uri="{FF2B5EF4-FFF2-40B4-BE49-F238E27FC236}">
                      <a16:creationId xmlns:a16="http://schemas.microsoft.com/office/drawing/2014/main" id="{C4F859B7-2638-1A8D-CE11-4D24CF615B43}"/>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10" name="直接连接符 9">
                <a:extLst>
                  <a:ext uri="{FF2B5EF4-FFF2-40B4-BE49-F238E27FC236}">
                    <a16:creationId xmlns:a16="http://schemas.microsoft.com/office/drawing/2014/main" id="{1F12B2BD-D97A-E208-EFC3-213D9B98E530}"/>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A51F1B0A-9B9A-7A38-4F59-EDC9217BD0E6}"/>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文本框 7">
              <a:extLst>
                <a:ext uri="{FF2B5EF4-FFF2-40B4-BE49-F238E27FC236}">
                  <a16:creationId xmlns:a16="http://schemas.microsoft.com/office/drawing/2014/main" id="{AAB771EC-92A8-483A-8C06-4FFCE0CA9B85}"/>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研究现状</a:t>
              </a:r>
            </a:p>
          </p:txBody>
        </p:sp>
      </p:grpSp>
      <p:grpSp>
        <p:nvGrpSpPr>
          <p:cNvPr id="15" name="组合 14">
            <a:extLst>
              <a:ext uri="{FF2B5EF4-FFF2-40B4-BE49-F238E27FC236}">
                <a16:creationId xmlns:a16="http://schemas.microsoft.com/office/drawing/2014/main" id="{BB61334E-680B-0156-A2B9-33330B30C398}"/>
              </a:ext>
            </a:extLst>
          </p:cNvPr>
          <p:cNvGrpSpPr/>
          <p:nvPr/>
        </p:nvGrpSpPr>
        <p:grpSpPr>
          <a:xfrm>
            <a:off x="330591" y="1066905"/>
            <a:ext cx="11429424" cy="2202465"/>
            <a:chOff x="245427" y="1296669"/>
            <a:chExt cx="11794808" cy="2094442"/>
          </a:xfrm>
        </p:grpSpPr>
        <p:cxnSp>
          <p:nvCxnSpPr>
            <p:cNvPr id="16" name="直接箭头连接符 15">
              <a:extLst>
                <a:ext uri="{FF2B5EF4-FFF2-40B4-BE49-F238E27FC236}">
                  <a16:creationId xmlns:a16="http://schemas.microsoft.com/office/drawing/2014/main" id="{4DA5B929-82D2-A780-6940-3A0BB9A9540A}"/>
                </a:ext>
              </a:extLst>
            </p:cNvPr>
            <p:cNvCxnSpPr>
              <a:cxnSpLocks/>
            </p:cNvCxnSpPr>
            <p:nvPr>
              <p:custDataLst>
                <p:tags r:id="rId1"/>
              </p:custDataLst>
            </p:nvPr>
          </p:nvCxnSpPr>
          <p:spPr>
            <a:xfrm flipV="1">
              <a:off x="559689" y="2030631"/>
              <a:ext cx="615315" cy="3175"/>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 name="文本">
              <a:extLst>
                <a:ext uri="{FF2B5EF4-FFF2-40B4-BE49-F238E27FC236}">
                  <a16:creationId xmlns:a16="http://schemas.microsoft.com/office/drawing/2014/main" id="{0D00977C-7757-7CA3-790B-1C45DBCA64DF}"/>
                </a:ext>
              </a:extLst>
            </p:cNvPr>
            <p:cNvSpPr/>
            <p:nvPr>
              <p:custDataLst>
                <p:tags r:id="rId2"/>
              </p:custDataLst>
            </p:nvPr>
          </p:nvSpPr>
          <p:spPr>
            <a:xfrm>
              <a:off x="755015" y="1302385"/>
              <a:ext cx="2214245" cy="262255"/>
            </a:xfrm>
            <a:prstGeom prst="rect">
              <a:avLst/>
            </a:prstGeom>
            <a:noFill/>
          </p:spPr>
          <p:txBody>
            <a:bodyPr wrap="none" lIns="90000" tIns="46800" rIns="90000" bIns="46800" rtlCol="0">
              <a:noAutofit/>
            </a:bodyPr>
            <a:lstStyle/>
            <a:p>
              <a:pPr algn="l"/>
              <a:endPar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椭圆 17">
              <a:extLst>
                <a:ext uri="{FF2B5EF4-FFF2-40B4-BE49-F238E27FC236}">
                  <a16:creationId xmlns:a16="http://schemas.microsoft.com/office/drawing/2014/main" id="{67E7C26E-B522-FD97-782E-9B07833808B9}"/>
                </a:ext>
              </a:extLst>
            </p:cNvPr>
            <p:cNvSpPr/>
            <p:nvPr>
              <p:custDataLst>
                <p:tags r:id="rId3"/>
              </p:custDataLst>
            </p:nvPr>
          </p:nvSpPr>
          <p:spPr>
            <a:xfrm>
              <a:off x="1180465"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19" name="文本框 18">
              <a:extLst>
                <a:ext uri="{FF2B5EF4-FFF2-40B4-BE49-F238E27FC236}">
                  <a16:creationId xmlns:a16="http://schemas.microsoft.com/office/drawing/2014/main" id="{7EDD5598-B0AD-9915-3A80-28C494D05D5F}"/>
                </a:ext>
              </a:extLst>
            </p:cNvPr>
            <p:cNvSpPr txBox="1"/>
            <p:nvPr>
              <p:custDataLst>
                <p:tags r:id="rId4"/>
              </p:custDataLst>
            </p:nvPr>
          </p:nvSpPr>
          <p:spPr>
            <a:xfrm>
              <a:off x="1014729" y="2178364"/>
              <a:ext cx="675640" cy="385445"/>
            </a:xfrm>
            <a:prstGeom prst="rect">
              <a:avLst/>
            </a:prstGeom>
            <a:noFill/>
          </p:spPr>
          <p:txBody>
            <a:bodyPr wrap="none" rtlCol="0">
              <a:noAutofit/>
            </a:bodyPr>
            <a:lstStyle/>
            <a:p>
              <a:pPr algn="ctr"/>
              <a:r>
                <a:rPr lang="en-US" altLang="zh-CN" sz="1467" b="1" dirty="0">
                  <a:highlight>
                    <a:srgbClr val="87B4DD"/>
                  </a:highlight>
                  <a:latin typeface="Times New Roman" panose="02020603050405020304" pitchFamily="18" charset="0"/>
                  <a:cs typeface="Times New Roman" panose="02020603050405020304" pitchFamily="18" charset="0"/>
                </a:rPr>
                <a:t>2023.03</a:t>
              </a:r>
            </a:p>
          </p:txBody>
        </p:sp>
        <p:sp>
          <p:nvSpPr>
            <p:cNvPr id="20" name="文本框 19">
              <a:extLst>
                <a:ext uri="{FF2B5EF4-FFF2-40B4-BE49-F238E27FC236}">
                  <a16:creationId xmlns:a16="http://schemas.microsoft.com/office/drawing/2014/main" id="{4005573B-39AD-6291-129B-DB26EF8FC548}"/>
                </a:ext>
              </a:extLst>
            </p:cNvPr>
            <p:cNvSpPr txBox="1"/>
            <p:nvPr>
              <p:custDataLst>
                <p:tags r:id="rId5"/>
              </p:custDataLst>
            </p:nvPr>
          </p:nvSpPr>
          <p:spPr>
            <a:xfrm rot="10800000" flipV="1">
              <a:off x="519640" y="2509306"/>
              <a:ext cx="1552363" cy="657225"/>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DDP: Diffusion model for dense visual prediction</a:t>
              </a:r>
            </a:p>
          </p:txBody>
        </p:sp>
        <p:cxnSp>
          <p:nvCxnSpPr>
            <p:cNvPr id="21" name="直接箭头连接符 20">
              <a:extLst>
                <a:ext uri="{FF2B5EF4-FFF2-40B4-BE49-F238E27FC236}">
                  <a16:creationId xmlns:a16="http://schemas.microsoft.com/office/drawing/2014/main" id="{CCC66464-BB47-6795-8DDB-5F0811F550D7}"/>
                </a:ext>
              </a:extLst>
            </p:cNvPr>
            <p:cNvCxnSpPr>
              <a:cxnSpLocks/>
            </p:cNvCxnSpPr>
            <p:nvPr>
              <p:custDataLst>
                <p:tags r:id="rId6"/>
              </p:custDataLst>
            </p:nvPr>
          </p:nvCxnSpPr>
          <p:spPr>
            <a:xfrm flipV="1">
              <a:off x="1590929" y="2030631"/>
              <a:ext cx="1223010" cy="3175"/>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椭圆 21">
              <a:extLst>
                <a:ext uri="{FF2B5EF4-FFF2-40B4-BE49-F238E27FC236}">
                  <a16:creationId xmlns:a16="http://schemas.microsoft.com/office/drawing/2014/main" id="{19F969A4-A852-2699-22AB-35165B0788CC}"/>
                </a:ext>
              </a:extLst>
            </p:cNvPr>
            <p:cNvSpPr/>
            <p:nvPr>
              <p:custDataLst>
                <p:tags r:id="rId7"/>
              </p:custDataLst>
            </p:nvPr>
          </p:nvSpPr>
          <p:spPr>
            <a:xfrm>
              <a:off x="2813050"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23" name="文本">
              <a:extLst>
                <a:ext uri="{FF2B5EF4-FFF2-40B4-BE49-F238E27FC236}">
                  <a16:creationId xmlns:a16="http://schemas.microsoft.com/office/drawing/2014/main" id="{74ABAA87-C1AB-5C49-D7E9-5BB60DA55676}"/>
                </a:ext>
              </a:extLst>
            </p:cNvPr>
            <p:cNvSpPr/>
            <p:nvPr>
              <p:custDataLst>
                <p:tags r:id="rId8"/>
              </p:custDataLst>
            </p:nvPr>
          </p:nvSpPr>
          <p:spPr>
            <a:xfrm>
              <a:off x="1883093" y="1375758"/>
              <a:ext cx="2214244" cy="455419"/>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将潜空间内扩散的概念</a:t>
              </a:r>
              <a:endParaRPr lang="en-US" altLang="zh-CN" sz="1333"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引入潜空间</a:t>
              </a:r>
            </a:p>
          </p:txBody>
        </p:sp>
        <p:sp>
          <p:nvSpPr>
            <p:cNvPr id="24" name="文本框 23">
              <a:extLst>
                <a:ext uri="{FF2B5EF4-FFF2-40B4-BE49-F238E27FC236}">
                  <a16:creationId xmlns:a16="http://schemas.microsoft.com/office/drawing/2014/main" id="{4CAFEB0B-84E5-A105-5283-35F84E953AB4}"/>
                </a:ext>
              </a:extLst>
            </p:cNvPr>
            <p:cNvSpPr txBox="1"/>
            <p:nvPr>
              <p:custDataLst>
                <p:tags r:id="rId9"/>
              </p:custDataLst>
            </p:nvPr>
          </p:nvSpPr>
          <p:spPr>
            <a:xfrm>
              <a:off x="2663189" y="2217420"/>
              <a:ext cx="675640" cy="385445"/>
            </a:xfrm>
            <a:prstGeom prst="rect">
              <a:avLst/>
            </a:prstGeom>
            <a:noFill/>
          </p:spPr>
          <p:txBody>
            <a:bodyPr wrap="none" rtlCol="0">
              <a:noAutofit/>
            </a:bodyPr>
            <a:lstStyle/>
            <a:p>
              <a:pPr algn="ctr"/>
              <a:r>
                <a:rPr lang="en-US" altLang="zh-CN" sz="1467" b="1" dirty="0">
                  <a:highlight>
                    <a:srgbClr val="87B4DD"/>
                  </a:highlight>
                  <a:latin typeface="Times New Roman" panose="02020603050405020304" pitchFamily="18" charset="0"/>
                  <a:cs typeface="Times New Roman" panose="02020603050405020304" pitchFamily="18" charset="0"/>
                </a:rPr>
                <a:t>2023.10</a:t>
              </a:r>
            </a:p>
          </p:txBody>
        </p:sp>
        <p:sp>
          <p:nvSpPr>
            <p:cNvPr id="25" name="文本框 24">
              <a:extLst>
                <a:ext uri="{FF2B5EF4-FFF2-40B4-BE49-F238E27FC236}">
                  <a16:creationId xmlns:a16="http://schemas.microsoft.com/office/drawing/2014/main" id="{CB73F20A-F085-A7AC-21A6-294FF22CD356}"/>
                </a:ext>
              </a:extLst>
            </p:cNvPr>
            <p:cNvSpPr txBox="1"/>
            <p:nvPr>
              <p:custDataLst>
                <p:tags r:id="rId10"/>
              </p:custDataLst>
            </p:nvPr>
          </p:nvSpPr>
          <p:spPr>
            <a:xfrm rot="10800000" flipV="1">
              <a:off x="2041014" y="2525175"/>
              <a:ext cx="1814143" cy="81533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DiffusionDepth: Diffusion denoising approach for monocular depth estimation.</a:t>
              </a:r>
            </a:p>
          </p:txBody>
        </p:sp>
        <p:cxnSp>
          <p:nvCxnSpPr>
            <p:cNvPr id="26" name="直接箭头连接符 25">
              <a:extLst>
                <a:ext uri="{FF2B5EF4-FFF2-40B4-BE49-F238E27FC236}">
                  <a16:creationId xmlns:a16="http://schemas.microsoft.com/office/drawing/2014/main" id="{8A85780F-A460-F087-A040-1B859B5BFAC4}"/>
                </a:ext>
              </a:extLst>
            </p:cNvPr>
            <p:cNvCxnSpPr>
              <a:cxnSpLocks/>
            </p:cNvCxnSpPr>
            <p:nvPr>
              <p:custDataLst>
                <p:tags r:id="rId11"/>
              </p:custDataLst>
            </p:nvPr>
          </p:nvCxnSpPr>
          <p:spPr>
            <a:xfrm>
              <a:off x="3193034" y="2024281"/>
              <a:ext cx="1426210" cy="15875"/>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2235F5EE-0B9D-6F74-160D-0349729C027D}"/>
                </a:ext>
              </a:extLst>
            </p:cNvPr>
            <p:cNvSpPr/>
            <p:nvPr>
              <p:custDataLst>
                <p:tags r:id="rId12"/>
              </p:custDataLst>
            </p:nvPr>
          </p:nvSpPr>
          <p:spPr>
            <a:xfrm>
              <a:off x="4618990"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28" name="文本">
              <a:extLst>
                <a:ext uri="{FF2B5EF4-FFF2-40B4-BE49-F238E27FC236}">
                  <a16:creationId xmlns:a16="http://schemas.microsoft.com/office/drawing/2014/main" id="{E13A340D-040D-CD92-360C-A31B56D9B4F1}"/>
                </a:ext>
              </a:extLst>
            </p:cNvPr>
            <p:cNvSpPr/>
            <p:nvPr>
              <p:custDataLst>
                <p:tags r:id="rId13"/>
              </p:custDataLst>
            </p:nvPr>
          </p:nvSpPr>
          <p:spPr>
            <a:xfrm>
              <a:off x="3689032" y="1393003"/>
              <a:ext cx="2214244" cy="392864"/>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微调</a:t>
              </a:r>
              <a:r>
                <a:rPr lang="en-US" altLang="zh-CN" sz="1333" b="1" dirty="0">
                  <a:latin typeface="Times New Roman" panose="02020603050405020304" pitchFamily="18" charset="0"/>
                  <a:ea typeface="微软雅黑" panose="020B0503020204020204" pitchFamily="34" charset="-122"/>
                  <a:cs typeface="Times New Roman" panose="02020603050405020304" pitchFamily="18" charset="0"/>
                </a:rPr>
                <a:t>Stable Diffusion</a:t>
              </a:r>
            </a:p>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利用其强大的知识先验</a:t>
              </a:r>
              <a:endParaRPr lang="en-US" altLang="zh-CN" sz="1333"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文本框 28">
              <a:extLst>
                <a:ext uri="{FF2B5EF4-FFF2-40B4-BE49-F238E27FC236}">
                  <a16:creationId xmlns:a16="http://schemas.microsoft.com/office/drawing/2014/main" id="{DB784DF6-0848-A9B7-7499-6EA1943FF992}"/>
                </a:ext>
              </a:extLst>
            </p:cNvPr>
            <p:cNvSpPr txBox="1"/>
            <p:nvPr>
              <p:custDataLst>
                <p:tags r:id="rId14"/>
              </p:custDataLst>
            </p:nvPr>
          </p:nvSpPr>
          <p:spPr>
            <a:xfrm>
              <a:off x="4445635" y="2225040"/>
              <a:ext cx="675640" cy="377825"/>
            </a:xfrm>
            <a:prstGeom prst="rect">
              <a:avLst/>
            </a:prstGeom>
            <a:noFill/>
          </p:spPr>
          <p:txBody>
            <a:bodyPr wrap="none" rtlCol="0">
              <a:noAutofit/>
            </a:bodyPr>
            <a:lstStyle/>
            <a:p>
              <a:pPr algn="ctr"/>
              <a:r>
                <a:rPr lang="en-US" altLang="zh-CN" sz="1467" b="1" dirty="0">
                  <a:highlight>
                    <a:srgbClr val="87B4DD"/>
                  </a:highlight>
                  <a:latin typeface="Times New Roman" panose="02020603050405020304" pitchFamily="18" charset="0"/>
                  <a:cs typeface="Times New Roman" panose="02020603050405020304" pitchFamily="18" charset="0"/>
                </a:rPr>
                <a:t>2024.04</a:t>
              </a:r>
            </a:p>
          </p:txBody>
        </p:sp>
        <p:sp>
          <p:nvSpPr>
            <p:cNvPr id="30" name="文本框 29">
              <a:extLst>
                <a:ext uri="{FF2B5EF4-FFF2-40B4-BE49-F238E27FC236}">
                  <a16:creationId xmlns:a16="http://schemas.microsoft.com/office/drawing/2014/main" id="{778DE5DC-69AC-0195-A411-3434C776ED46}"/>
                </a:ext>
              </a:extLst>
            </p:cNvPr>
            <p:cNvSpPr txBox="1"/>
            <p:nvPr>
              <p:custDataLst>
                <p:tags r:id="rId15"/>
              </p:custDataLst>
            </p:nvPr>
          </p:nvSpPr>
          <p:spPr>
            <a:xfrm rot="10800000" flipV="1">
              <a:off x="3736552" y="2569745"/>
              <a:ext cx="2035165" cy="81025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Repurposing Diffusion-Based Image Generators for Monocular Depth Estimation</a:t>
              </a:r>
            </a:p>
          </p:txBody>
        </p:sp>
        <p:sp>
          <p:nvSpPr>
            <p:cNvPr id="31" name="文本">
              <a:extLst>
                <a:ext uri="{FF2B5EF4-FFF2-40B4-BE49-F238E27FC236}">
                  <a16:creationId xmlns:a16="http://schemas.microsoft.com/office/drawing/2014/main" id="{85BC43B2-2EB7-0A8A-0893-8BFB07889BAB}"/>
                </a:ext>
              </a:extLst>
            </p:cNvPr>
            <p:cNvSpPr/>
            <p:nvPr>
              <p:custDataLst>
                <p:tags r:id="rId16"/>
              </p:custDataLst>
            </p:nvPr>
          </p:nvSpPr>
          <p:spPr>
            <a:xfrm>
              <a:off x="5569094" y="1382598"/>
              <a:ext cx="2214244" cy="381924"/>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将多步推理过程改为单步</a:t>
              </a:r>
              <a:endParaRPr lang="en-US" altLang="zh-CN" sz="1333"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使得推理速度大大减少</a:t>
              </a:r>
            </a:p>
          </p:txBody>
        </p:sp>
        <p:cxnSp>
          <p:nvCxnSpPr>
            <p:cNvPr id="32" name="直接箭头连接符 31">
              <a:extLst>
                <a:ext uri="{FF2B5EF4-FFF2-40B4-BE49-F238E27FC236}">
                  <a16:creationId xmlns:a16="http://schemas.microsoft.com/office/drawing/2014/main" id="{76F28C46-D340-64AD-9D20-182DCE1436B0}"/>
                </a:ext>
              </a:extLst>
            </p:cNvPr>
            <p:cNvCxnSpPr>
              <a:cxnSpLocks/>
              <a:stCxn id="27" idx="6"/>
              <a:endCxn id="33" idx="2"/>
            </p:cNvCxnSpPr>
            <p:nvPr>
              <p:custDataLst>
                <p:tags r:id="rId17"/>
              </p:custDataLst>
            </p:nvPr>
          </p:nvCxnSpPr>
          <p:spPr>
            <a:xfrm>
              <a:off x="4973320" y="2045018"/>
              <a:ext cx="1505838" cy="0"/>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E99472C0-8E92-2674-E4A5-32A050ACF24E}"/>
                </a:ext>
              </a:extLst>
            </p:cNvPr>
            <p:cNvSpPr/>
            <p:nvPr>
              <p:custDataLst>
                <p:tags r:id="rId18"/>
              </p:custDataLst>
            </p:nvPr>
          </p:nvSpPr>
          <p:spPr>
            <a:xfrm>
              <a:off x="6479158"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34" name="文本框 33">
              <a:extLst>
                <a:ext uri="{FF2B5EF4-FFF2-40B4-BE49-F238E27FC236}">
                  <a16:creationId xmlns:a16="http://schemas.microsoft.com/office/drawing/2014/main" id="{AB80FFAE-B7ED-09A9-7017-0DCBF6C14B78}"/>
                </a:ext>
              </a:extLst>
            </p:cNvPr>
            <p:cNvSpPr txBox="1"/>
            <p:nvPr>
              <p:custDataLst>
                <p:tags r:id="rId19"/>
              </p:custDataLst>
            </p:nvPr>
          </p:nvSpPr>
          <p:spPr>
            <a:xfrm rot="10800000" flipV="1">
              <a:off x="5753615" y="2563810"/>
              <a:ext cx="1845201" cy="63118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Fine-tuning image-conditional diffusion models is easier than you think</a:t>
              </a:r>
            </a:p>
          </p:txBody>
        </p:sp>
        <p:sp>
          <p:nvSpPr>
            <p:cNvPr id="35" name="文本框 34">
              <a:extLst>
                <a:ext uri="{FF2B5EF4-FFF2-40B4-BE49-F238E27FC236}">
                  <a16:creationId xmlns:a16="http://schemas.microsoft.com/office/drawing/2014/main" id="{37F162A6-C5CC-18BB-E855-D2C54DCB11BE}"/>
                </a:ext>
              </a:extLst>
            </p:cNvPr>
            <p:cNvSpPr txBox="1"/>
            <p:nvPr>
              <p:custDataLst>
                <p:tags r:id="rId20"/>
              </p:custDataLst>
            </p:nvPr>
          </p:nvSpPr>
          <p:spPr>
            <a:xfrm>
              <a:off x="6348983" y="2178364"/>
              <a:ext cx="675640" cy="385445"/>
            </a:xfrm>
            <a:prstGeom prst="rect">
              <a:avLst/>
            </a:prstGeom>
            <a:noFill/>
          </p:spPr>
          <p:txBody>
            <a:bodyPr wrap="none" rtlCol="0">
              <a:noAutofit/>
            </a:bodyPr>
            <a:lstStyle/>
            <a:p>
              <a:pPr algn="ctr"/>
              <a:r>
                <a:rPr lang="en-US" altLang="zh-CN" sz="1467" b="1" dirty="0">
                  <a:highlight>
                    <a:srgbClr val="87B4DD"/>
                  </a:highlight>
                  <a:latin typeface="Times New Roman" panose="02020603050405020304" pitchFamily="18" charset="0"/>
                  <a:cs typeface="Times New Roman" panose="02020603050405020304" pitchFamily="18" charset="0"/>
                </a:rPr>
                <a:t>2024.07</a:t>
              </a:r>
            </a:p>
          </p:txBody>
        </p:sp>
        <p:cxnSp>
          <p:nvCxnSpPr>
            <p:cNvPr id="36" name="直接箭头连接符 35">
              <a:extLst>
                <a:ext uri="{FF2B5EF4-FFF2-40B4-BE49-F238E27FC236}">
                  <a16:creationId xmlns:a16="http://schemas.microsoft.com/office/drawing/2014/main" id="{FBC98B38-CDA1-1742-03A2-4228FD66A931}"/>
                </a:ext>
              </a:extLst>
            </p:cNvPr>
            <p:cNvCxnSpPr>
              <a:cxnSpLocks/>
              <a:stCxn id="33" idx="6"/>
              <a:endCxn id="37" idx="2"/>
            </p:cNvCxnSpPr>
            <p:nvPr>
              <p:custDataLst>
                <p:tags r:id="rId21"/>
              </p:custDataLst>
            </p:nvPr>
          </p:nvCxnSpPr>
          <p:spPr>
            <a:xfrm>
              <a:off x="6833488" y="2045018"/>
              <a:ext cx="1618362" cy="0"/>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8A2C5C54-8E6E-5F2E-4B38-7C0CA3B97B8B}"/>
                </a:ext>
              </a:extLst>
            </p:cNvPr>
            <p:cNvSpPr/>
            <p:nvPr>
              <p:custDataLst>
                <p:tags r:id="rId22"/>
              </p:custDataLst>
            </p:nvPr>
          </p:nvSpPr>
          <p:spPr>
            <a:xfrm>
              <a:off x="8451850" y="1872615"/>
              <a:ext cx="354330" cy="34480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sp>
          <p:nvSpPr>
            <p:cNvPr id="38" name="文本框 37">
              <a:extLst>
                <a:ext uri="{FF2B5EF4-FFF2-40B4-BE49-F238E27FC236}">
                  <a16:creationId xmlns:a16="http://schemas.microsoft.com/office/drawing/2014/main" id="{45A32B8D-82FB-30D2-9724-5CD27670557D}"/>
                </a:ext>
              </a:extLst>
            </p:cNvPr>
            <p:cNvSpPr txBox="1"/>
            <p:nvPr>
              <p:custDataLst>
                <p:tags r:id="rId23"/>
              </p:custDataLst>
            </p:nvPr>
          </p:nvSpPr>
          <p:spPr>
            <a:xfrm>
              <a:off x="8282304" y="2177094"/>
              <a:ext cx="675640" cy="385445"/>
            </a:xfrm>
            <a:prstGeom prst="rect">
              <a:avLst/>
            </a:prstGeom>
            <a:noFill/>
          </p:spPr>
          <p:txBody>
            <a:bodyPr wrap="none" rtlCol="0">
              <a:noAutofit/>
            </a:bodyPr>
            <a:lstStyle/>
            <a:p>
              <a:pPr algn="ctr"/>
              <a:r>
                <a:rPr lang="en-US" altLang="zh-CN" sz="1467" b="1" dirty="0">
                  <a:highlight>
                    <a:srgbClr val="87B4DD"/>
                  </a:highlight>
                  <a:latin typeface="Times New Roman" panose="02020603050405020304" pitchFamily="18" charset="0"/>
                  <a:cs typeface="Times New Roman" panose="02020603050405020304" pitchFamily="18" charset="0"/>
                </a:rPr>
                <a:t>2024.10</a:t>
              </a:r>
            </a:p>
          </p:txBody>
        </p:sp>
        <p:sp>
          <p:nvSpPr>
            <p:cNvPr id="39" name="文本框 38">
              <a:extLst>
                <a:ext uri="{FF2B5EF4-FFF2-40B4-BE49-F238E27FC236}">
                  <a16:creationId xmlns:a16="http://schemas.microsoft.com/office/drawing/2014/main" id="{06B09DBF-8575-24BD-23C0-2257105AFDBF}"/>
                </a:ext>
              </a:extLst>
            </p:cNvPr>
            <p:cNvSpPr txBox="1"/>
            <p:nvPr>
              <p:custDataLst>
                <p:tags r:id="rId24"/>
              </p:custDataLst>
            </p:nvPr>
          </p:nvSpPr>
          <p:spPr>
            <a:xfrm rot="10800000" flipV="1">
              <a:off x="7233012" y="2511593"/>
              <a:ext cx="2535927" cy="705486"/>
            </a:xfrm>
            <a:prstGeom prst="rect">
              <a:avLst/>
            </a:prstGeom>
            <a:noFill/>
          </p:spPr>
          <p:txBody>
            <a:bodyPr wrap="square">
              <a:noAutofit/>
            </a:bodyPr>
            <a:lstStyle/>
            <a:p>
              <a:pPr algn="ctr"/>
              <a:r>
                <a:rPr lang="en-US" altLang="zh-CN" sz="1067" b="1" dirty="0" err="1">
                  <a:latin typeface="Times New Roman" panose="02020603050405020304" pitchFamily="18" charset="0"/>
                  <a:cs typeface="Times New Roman" panose="02020603050405020304" pitchFamily="18" charset="0"/>
                </a:rPr>
                <a:t>Geowizard</a:t>
              </a:r>
              <a:r>
                <a:rPr lang="en-US" altLang="zh-CN" sz="1067" b="1" dirty="0">
                  <a:latin typeface="Times New Roman" panose="02020603050405020304" pitchFamily="18" charset="0"/>
                  <a:cs typeface="Times New Roman" panose="02020603050405020304" pitchFamily="18" charset="0"/>
                </a:rPr>
                <a:t>: Unleashing the diffusion priors for 3d geometry estimation from a single image</a:t>
              </a:r>
            </a:p>
          </p:txBody>
        </p:sp>
        <p:sp>
          <p:nvSpPr>
            <p:cNvPr id="40" name="文本">
              <a:extLst>
                <a:ext uri="{FF2B5EF4-FFF2-40B4-BE49-F238E27FC236}">
                  <a16:creationId xmlns:a16="http://schemas.microsoft.com/office/drawing/2014/main" id="{FC2E6AF0-DCB1-46C9-AE2A-6DBDD3684CE9}"/>
                </a:ext>
              </a:extLst>
            </p:cNvPr>
            <p:cNvSpPr/>
            <p:nvPr>
              <p:custDataLst>
                <p:tags r:id="rId25"/>
              </p:custDataLst>
            </p:nvPr>
          </p:nvSpPr>
          <p:spPr>
            <a:xfrm>
              <a:off x="7513002" y="1370923"/>
              <a:ext cx="2214244" cy="404006"/>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提出了深度</a:t>
              </a:r>
              <a:r>
                <a:rPr lang="en-US" altLang="zh-CN" sz="1333"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法向量的</a:t>
              </a:r>
              <a:endParaRPr lang="en-US" altLang="zh-CN" sz="1333"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联合训练方式</a:t>
              </a:r>
            </a:p>
          </p:txBody>
        </p:sp>
        <p:sp>
          <p:nvSpPr>
            <p:cNvPr id="41" name="椭圆 40">
              <a:extLst>
                <a:ext uri="{FF2B5EF4-FFF2-40B4-BE49-F238E27FC236}">
                  <a16:creationId xmlns:a16="http://schemas.microsoft.com/office/drawing/2014/main" id="{6C145317-112C-8398-FD4D-BDBED007F707}"/>
                </a:ext>
              </a:extLst>
            </p:cNvPr>
            <p:cNvSpPr/>
            <p:nvPr>
              <p:custDataLst>
                <p:tags r:id="rId26"/>
              </p:custDataLst>
            </p:nvPr>
          </p:nvSpPr>
          <p:spPr>
            <a:xfrm>
              <a:off x="10470187" y="1872615"/>
              <a:ext cx="354330" cy="34480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33"/>
            </a:p>
          </p:txBody>
        </p:sp>
        <p:cxnSp>
          <p:nvCxnSpPr>
            <p:cNvPr id="42" name="直接箭头连接符 41">
              <a:extLst>
                <a:ext uri="{FF2B5EF4-FFF2-40B4-BE49-F238E27FC236}">
                  <a16:creationId xmlns:a16="http://schemas.microsoft.com/office/drawing/2014/main" id="{2E4FB1B7-3AC5-346E-D014-8B6061CDD309}"/>
                </a:ext>
              </a:extLst>
            </p:cNvPr>
            <p:cNvCxnSpPr>
              <a:cxnSpLocks/>
              <a:stCxn id="37" idx="6"/>
              <a:endCxn id="41" idx="2"/>
            </p:cNvCxnSpPr>
            <p:nvPr>
              <p:custDataLst>
                <p:tags r:id="rId27"/>
              </p:custDataLst>
            </p:nvPr>
          </p:nvCxnSpPr>
          <p:spPr>
            <a:xfrm>
              <a:off x="8806180" y="2045018"/>
              <a:ext cx="1664007" cy="0"/>
            </a:xfrm>
            <a:prstGeom prst="straightConnector1">
              <a:avLst/>
            </a:prstGeom>
            <a:ln w="38100">
              <a:solidFill>
                <a:schemeClr val="tx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0B9B0F39-F417-9D36-D7D8-D2CBC8773B8E}"/>
                </a:ext>
              </a:extLst>
            </p:cNvPr>
            <p:cNvSpPr txBox="1"/>
            <p:nvPr>
              <p:custDataLst>
                <p:tags r:id="rId28"/>
              </p:custDataLst>
            </p:nvPr>
          </p:nvSpPr>
          <p:spPr>
            <a:xfrm>
              <a:off x="10319056" y="2185349"/>
              <a:ext cx="675640" cy="385445"/>
            </a:xfrm>
            <a:prstGeom prst="rect">
              <a:avLst/>
            </a:prstGeom>
            <a:noFill/>
          </p:spPr>
          <p:txBody>
            <a:bodyPr wrap="none" rtlCol="0">
              <a:noAutofit/>
            </a:bodyPr>
            <a:lstStyle/>
            <a:p>
              <a:pPr algn="ctr"/>
              <a:r>
                <a:rPr lang="en-US" altLang="zh-CN" sz="1467" b="1" dirty="0">
                  <a:highlight>
                    <a:srgbClr val="87B4DD"/>
                  </a:highlight>
                  <a:latin typeface="Times New Roman" panose="02020603050405020304" pitchFamily="18" charset="0"/>
                  <a:cs typeface="Times New Roman" panose="02020603050405020304" pitchFamily="18" charset="0"/>
                </a:rPr>
                <a:t>2025.01</a:t>
              </a:r>
            </a:p>
          </p:txBody>
        </p:sp>
        <p:sp>
          <p:nvSpPr>
            <p:cNvPr id="44" name="文本框 43">
              <a:extLst>
                <a:ext uri="{FF2B5EF4-FFF2-40B4-BE49-F238E27FC236}">
                  <a16:creationId xmlns:a16="http://schemas.microsoft.com/office/drawing/2014/main" id="{C68C058F-B262-5CA4-050B-E0AE9632919A}"/>
                </a:ext>
              </a:extLst>
            </p:cNvPr>
            <p:cNvSpPr txBox="1"/>
            <p:nvPr>
              <p:custDataLst>
                <p:tags r:id="rId29"/>
              </p:custDataLst>
            </p:nvPr>
          </p:nvSpPr>
          <p:spPr>
            <a:xfrm rot="10800000" flipV="1">
              <a:off x="9576543" y="2539099"/>
              <a:ext cx="2239280" cy="638809"/>
            </a:xfrm>
            <a:prstGeom prst="rect">
              <a:avLst/>
            </a:prstGeom>
            <a:noFill/>
          </p:spPr>
          <p:txBody>
            <a:bodyPr wrap="square">
              <a:noAutofit/>
            </a:bodyPr>
            <a:lstStyle/>
            <a:p>
              <a:pPr algn="ctr"/>
              <a:r>
                <a:rPr lang="en-US" altLang="zh-CN" sz="1067" b="1" dirty="0">
                  <a:latin typeface="Times New Roman" panose="02020603050405020304" pitchFamily="18" charset="0"/>
                  <a:cs typeface="Times New Roman" panose="02020603050405020304" pitchFamily="18" charset="0"/>
                </a:rPr>
                <a:t>Repurposing Diffusion-Based Image Generators for Monocular Depth Estimation</a:t>
              </a:r>
            </a:p>
          </p:txBody>
        </p:sp>
        <p:sp>
          <p:nvSpPr>
            <p:cNvPr id="45" name="圆角矩形 40">
              <a:extLst>
                <a:ext uri="{FF2B5EF4-FFF2-40B4-BE49-F238E27FC236}">
                  <a16:creationId xmlns:a16="http://schemas.microsoft.com/office/drawing/2014/main" id="{4679353F-4EF4-2FDE-8857-41BCA38B59D4}"/>
                </a:ext>
              </a:extLst>
            </p:cNvPr>
            <p:cNvSpPr/>
            <p:nvPr>
              <p:custDataLst>
                <p:tags r:id="rId30"/>
              </p:custDataLst>
            </p:nvPr>
          </p:nvSpPr>
          <p:spPr>
            <a:xfrm>
              <a:off x="254635" y="1296669"/>
              <a:ext cx="11785600" cy="2094442"/>
            </a:xfrm>
            <a:prstGeom prst="roundRect">
              <a:avLst>
                <a:gd name="adj" fmla="val 5616"/>
              </a:avLst>
            </a:prstGeom>
            <a:noFill/>
            <a:ln w="381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dirty="0"/>
            </a:p>
          </p:txBody>
        </p:sp>
        <p:sp>
          <p:nvSpPr>
            <p:cNvPr id="46" name="文本">
              <a:extLst>
                <a:ext uri="{FF2B5EF4-FFF2-40B4-BE49-F238E27FC236}">
                  <a16:creationId xmlns:a16="http://schemas.microsoft.com/office/drawing/2014/main" id="{16517B57-4E65-88DA-0AC8-D1A494E3C7D3}"/>
                </a:ext>
              </a:extLst>
            </p:cNvPr>
            <p:cNvSpPr/>
            <p:nvPr>
              <p:custDataLst>
                <p:tags r:id="rId31"/>
              </p:custDataLst>
            </p:nvPr>
          </p:nvSpPr>
          <p:spPr>
            <a:xfrm>
              <a:off x="245427" y="1370461"/>
              <a:ext cx="2214244" cy="441062"/>
            </a:xfrm>
            <a:prstGeom prst="rect">
              <a:avLst/>
            </a:prstGeom>
            <a:noFill/>
          </p:spPr>
          <p:txBody>
            <a:bodyPr wrap="none" lIns="90000" tIns="46800" rIns="90000" bIns="46800" rtlCol="0">
              <a:noAutofit/>
            </a:bodyPr>
            <a:lstStyle/>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首次将扩散模型</a:t>
              </a:r>
              <a:endParaRPr lang="en-US" altLang="zh-CN" sz="1333"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333" b="1" dirty="0">
                  <a:latin typeface="Times New Roman" panose="02020603050405020304" pitchFamily="18" charset="0"/>
                  <a:ea typeface="微软雅黑" panose="020B0503020204020204" pitchFamily="34" charset="-122"/>
                  <a:cs typeface="Times New Roman" panose="02020603050405020304" pitchFamily="18" charset="0"/>
                </a:rPr>
                <a:t>引入深度估计</a:t>
              </a:r>
            </a:p>
          </p:txBody>
        </p:sp>
        <p:sp>
          <p:nvSpPr>
            <p:cNvPr id="47" name="文本">
              <a:extLst>
                <a:ext uri="{FF2B5EF4-FFF2-40B4-BE49-F238E27FC236}">
                  <a16:creationId xmlns:a16="http://schemas.microsoft.com/office/drawing/2014/main" id="{F8EAE7D3-6074-DD80-55C7-944E8E1DF276}"/>
                </a:ext>
              </a:extLst>
            </p:cNvPr>
            <p:cNvSpPr/>
            <p:nvPr>
              <p:custDataLst>
                <p:tags r:id="rId32"/>
              </p:custDataLst>
            </p:nvPr>
          </p:nvSpPr>
          <p:spPr>
            <a:xfrm>
              <a:off x="9540227" y="1367402"/>
              <a:ext cx="2214244" cy="411046"/>
            </a:xfrm>
            <a:prstGeom prst="rect">
              <a:avLst/>
            </a:prstGeom>
            <a:noFill/>
          </p:spPr>
          <p:txBody>
            <a:bodyPr wrap="none" lIns="90000" tIns="46800" rIns="90000" bIns="46800" rtlCol="0">
              <a:noAutofit/>
            </a:bodyPr>
            <a:lstStyle/>
            <a:p>
              <a:pPr algn="ctr"/>
              <a:r>
                <a:rPr lang="zh-CN" altLang="en-US" sz="1133" b="1" dirty="0">
                  <a:latin typeface="Times New Roman" panose="02020603050405020304" pitchFamily="18" charset="0"/>
                  <a:ea typeface="微软雅黑" panose="020B0503020204020204" pitchFamily="34" charset="-122"/>
                  <a:cs typeface="Times New Roman" panose="02020603050405020304" pitchFamily="18" charset="0"/>
                </a:rPr>
                <a:t>提出一种两阶段的训练方式</a:t>
              </a:r>
              <a:endParaRPr lang="en-US" altLang="zh-CN" sz="1133"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133" b="1" dirty="0">
                  <a:latin typeface="Times New Roman" panose="02020603050405020304" pitchFamily="18" charset="0"/>
                  <a:ea typeface="微软雅黑" panose="020B0503020204020204" pitchFamily="34" charset="-122"/>
                  <a:cs typeface="Times New Roman" panose="02020603050405020304" pitchFamily="18" charset="0"/>
                </a:rPr>
                <a:t>旨在消除由于单步推理带来的</a:t>
              </a:r>
              <a:endParaRPr lang="en-US" altLang="zh-CN" sz="1133"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133" b="1" dirty="0">
                  <a:latin typeface="Times New Roman" panose="02020603050405020304" pitchFamily="18" charset="0"/>
                  <a:ea typeface="微软雅黑" panose="020B0503020204020204" pitchFamily="34" charset="-122"/>
                  <a:cs typeface="Times New Roman" panose="02020603050405020304" pitchFamily="18" charset="0"/>
                </a:rPr>
                <a:t>细节消失问题</a:t>
              </a:r>
            </a:p>
          </p:txBody>
        </p:sp>
      </p:grpSp>
    </p:spTree>
    <p:extLst>
      <p:ext uri="{BB962C8B-B14F-4D97-AF65-F5344CB8AC3E}">
        <p14:creationId xmlns:p14="http://schemas.microsoft.com/office/powerpoint/2010/main" val="418079153"/>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1CE61-9070-79D5-8CA9-B596EED1A901}"/>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892909C7-76A2-3E5C-287A-7BD1B140B7C5}"/>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742E73D1-D606-9CDB-CD45-D29832FDBC45}"/>
              </a:ext>
            </a:extLst>
          </p:cNvPr>
          <p:cNvSpPr>
            <a:spLocks noGrp="1"/>
          </p:cNvSpPr>
          <p:nvPr>
            <p:ph type="sldNum" sz="quarter" idx="12"/>
          </p:nvPr>
        </p:nvSpPr>
        <p:spPr/>
        <p:txBody>
          <a:bodyPr/>
          <a:lstStyle/>
          <a:p>
            <a:fld id="{0C913308-F349-4B6D-A68A-DD1791B4A57B}" type="slidenum">
              <a:rPr lang="zh-CN" altLang="en-US" smtClean="0"/>
              <a:t>6</a:t>
            </a:fld>
            <a:endParaRPr lang="zh-CN" altLang="en-US"/>
          </a:p>
        </p:txBody>
      </p:sp>
      <p:sp>
        <p:nvSpPr>
          <p:cNvPr id="4" name="矩形 3">
            <a:extLst>
              <a:ext uri="{FF2B5EF4-FFF2-40B4-BE49-F238E27FC236}">
                <a16:creationId xmlns:a16="http://schemas.microsoft.com/office/drawing/2014/main" id="{6A70F073-4A61-268C-0CCA-A4C8E747E9C6}"/>
              </a:ext>
            </a:extLst>
          </p:cNvPr>
          <p:cNvSpPr/>
          <p:nvPr/>
        </p:nvSpPr>
        <p:spPr>
          <a:xfrm>
            <a:off x="196049" y="988181"/>
            <a:ext cx="575025" cy="1440224"/>
          </a:xfrm>
          <a:prstGeom prst="rect">
            <a:avLst/>
          </a:prstGeom>
          <a:solidFill>
            <a:schemeClr val="bg1"/>
          </a:solidFill>
          <a:ln w="76200">
            <a:solidFill>
              <a:srgbClr val="E6E9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dirty="0">
              <a:solidFill>
                <a:schemeClr val="accent1">
                  <a:lumMod val="75000"/>
                </a:schemeClr>
              </a:solidFill>
              <a:latin typeface="黑体" panose="02010609060101010101" pitchFamily="49" charset="-122"/>
              <a:ea typeface="黑体" panose="02010609060101010101" pitchFamily="49" charset="-122"/>
            </a:endParaRPr>
          </a:p>
          <a:p>
            <a:pPr algn="ctr"/>
            <a:r>
              <a:rPr lang="zh-CN" altLang="en-US" sz="1867" b="1" dirty="0">
                <a:solidFill>
                  <a:schemeClr val="accent1">
                    <a:lumMod val="75000"/>
                  </a:schemeClr>
                </a:solidFill>
                <a:latin typeface="黑体" panose="02010609060101010101" pitchFamily="49" charset="-122"/>
                <a:ea typeface="黑体" panose="02010609060101010101" pitchFamily="49" charset="-122"/>
              </a:rPr>
              <a:t>现有</a:t>
            </a:r>
            <a:endParaRPr lang="en-US" altLang="zh-CN" sz="1867" b="1" dirty="0">
              <a:solidFill>
                <a:schemeClr val="accent1">
                  <a:lumMod val="75000"/>
                </a:schemeClr>
              </a:solidFill>
              <a:latin typeface="黑体" panose="02010609060101010101" pitchFamily="49" charset="-122"/>
              <a:ea typeface="黑体" panose="02010609060101010101" pitchFamily="49" charset="-122"/>
            </a:endParaRPr>
          </a:p>
          <a:p>
            <a:pPr algn="ctr"/>
            <a:r>
              <a:rPr lang="zh-CN" altLang="en-US" sz="1867" b="1" dirty="0">
                <a:solidFill>
                  <a:schemeClr val="accent1">
                    <a:lumMod val="75000"/>
                  </a:schemeClr>
                </a:solidFill>
                <a:latin typeface="黑体" panose="02010609060101010101" pitchFamily="49" charset="-122"/>
                <a:ea typeface="黑体" panose="02010609060101010101" pitchFamily="49" charset="-122"/>
              </a:rPr>
              <a:t>问</a:t>
            </a:r>
            <a:endParaRPr lang="en-US" altLang="zh-CN" sz="1867" b="1" dirty="0">
              <a:solidFill>
                <a:schemeClr val="accent1">
                  <a:lumMod val="75000"/>
                </a:schemeClr>
              </a:solidFill>
              <a:latin typeface="黑体" panose="02010609060101010101" pitchFamily="49" charset="-122"/>
              <a:ea typeface="黑体" panose="02010609060101010101" pitchFamily="49" charset="-122"/>
            </a:endParaRPr>
          </a:p>
          <a:p>
            <a:pPr algn="ctr"/>
            <a:r>
              <a:rPr lang="zh-CN" altLang="en-US" sz="1867" b="1" dirty="0">
                <a:solidFill>
                  <a:schemeClr val="accent1">
                    <a:lumMod val="75000"/>
                  </a:schemeClr>
                </a:solidFill>
                <a:latin typeface="黑体" panose="02010609060101010101" pitchFamily="49" charset="-122"/>
                <a:ea typeface="黑体" panose="02010609060101010101" pitchFamily="49" charset="-122"/>
              </a:rPr>
              <a:t>题</a:t>
            </a:r>
            <a:endParaRPr lang="en-US" altLang="zh-CN" sz="1867" b="1" dirty="0">
              <a:solidFill>
                <a:schemeClr val="accent1">
                  <a:lumMod val="75000"/>
                </a:schemeClr>
              </a:solidFill>
              <a:latin typeface="黑体" panose="02010609060101010101" pitchFamily="49" charset="-122"/>
              <a:ea typeface="黑体" panose="02010609060101010101" pitchFamily="49" charset="-122"/>
            </a:endParaRPr>
          </a:p>
          <a:p>
            <a:pPr algn="ctr"/>
            <a:endParaRPr lang="en-US" altLang="zh-CN" sz="3200" b="1" dirty="0">
              <a:solidFill>
                <a:schemeClr val="accent1">
                  <a:lumMod val="75000"/>
                </a:schemeClr>
              </a:solidFill>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AD168F2-C450-65B0-291F-7EA402E47DCC}"/>
              </a:ext>
            </a:extLst>
          </p:cNvPr>
          <p:cNvSpPr txBox="1"/>
          <p:nvPr/>
        </p:nvSpPr>
        <p:spPr>
          <a:xfrm>
            <a:off x="1007436" y="1107290"/>
            <a:ext cx="9971193" cy="976207"/>
          </a:xfrm>
          <a:prstGeom prst="rect">
            <a:avLst/>
          </a:prstGeom>
          <a:noFill/>
        </p:spPr>
        <p:txBody>
          <a:bodyPr wrap="square" rtlCol="0" anchor="t">
            <a:noAutofit/>
          </a:bodyPr>
          <a:lstStyle/>
          <a:p>
            <a:pPr marL="304792" indent="-304792">
              <a:buAutoNum type="arabicPeriod"/>
            </a:pPr>
            <a:r>
              <a:rPr lang="zh-CN" altLang="en-US" sz="1467" b="1" dirty="0">
                <a:sym typeface="+mn-ea"/>
              </a:rPr>
              <a:t>由于扩散模型的本质是通过逐步的去噪，来实现深度图的生成。但多步推理过程带来的就是推理时长的过大</a:t>
            </a:r>
            <a:endParaRPr lang="en-US" altLang="zh-CN" sz="1467" b="1" dirty="0">
              <a:sym typeface="+mn-ea"/>
            </a:endParaRPr>
          </a:p>
          <a:p>
            <a:pPr marL="304792" indent="-304792">
              <a:buAutoNum type="arabicPeriod"/>
            </a:pPr>
            <a:endParaRPr lang="en-US" altLang="zh-CN" sz="1467" b="1" dirty="0">
              <a:sym typeface="+mn-ea"/>
            </a:endParaRPr>
          </a:p>
          <a:p>
            <a:pPr marL="304792" indent="-304792">
              <a:buAutoNum type="arabicPeriod"/>
            </a:pPr>
            <a:r>
              <a:rPr lang="zh-CN" altLang="en-US" sz="1467" b="1" dirty="0">
                <a:sym typeface="+mn-ea"/>
              </a:rPr>
              <a:t>现有的单步推理方法虽然使得推理速度加快了</a:t>
            </a:r>
            <a:r>
              <a:rPr lang="en-US" altLang="zh-CN" sz="1467" b="1" dirty="0">
                <a:sym typeface="+mn-ea"/>
              </a:rPr>
              <a:t>200</a:t>
            </a:r>
            <a:r>
              <a:rPr lang="zh-CN" altLang="en-US" sz="1467" b="1" dirty="0">
                <a:sym typeface="+mn-ea"/>
              </a:rPr>
              <a:t>倍</a:t>
            </a:r>
            <a:r>
              <a:rPr lang="en-US" altLang="zh-CN" sz="1467" b="1" dirty="0">
                <a:sym typeface="+mn-ea"/>
              </a:rPr>
              <a:t>(24s--&gt;120ms)</a:t>
            </a:r>
            <a:r>
              <a:rPr lang="zh-CN" altLang="en-US" sz="1467" b="1" dirty="0">
                <a:sym typeface="+mn-ea"/>
              </a:rPr>
              <a:t>，但由于缺少逐步细化的过程，使得推理结果在细节边缘细节方面比较模糊，如下图</a:t>
            </a:r>
            <a:r>
              <a:rPr lang="en-US" altLang="zh-CN" sz="1467" b="1" dirty="0">
                <a:sym typeface="+mn-ea"/>
              </a:rPr>
              <a:t>.</a:t>
            </a:r>
            <a:endParaRPr lang="zh-CN" altLang="en-US" sz="1467" b="1" dirty="0">
              <a:sym typeface="+mn-ea"/>
            </a:endParaRPr>
          </a:p>
        </p:txBody>
      </p:sp>
      <p:grpSp>
        <p:nvGrpSpPr>
          <p:cNvPr id="6" name="组合 5">
            <a:extLst>
              <a:ext uri="{FF2B5EF4-FFF2-40B4-BE49-F238E27FC236}">
                <a16:creationId xmlns:a16="http://schemas.microsoft.com/office/drawing/2014/main" id="{D33E88F8-D280-474A-9182-3FAEEE72B0A8}"/>
              </a:ext>
            </a:extLst>
          </p:cNvPr>
          <p:cNvGrpSpPr/>
          <p:nvPr/>
        </p:nvGrpSpPr>
        <p:grpSpPr>
          <a:xfrm>
            <a:off x="-63871" y="0"/>
            <a:ext cx="2688299" cy="816704"/>
            <a:chOff x="-47903" y="0"/>
            <a:chExt cx="2016224" cy="612528"/>
          </a:xfrm>
        </p:grpSpPr>
        <p:grpSp>
          <p:nvGrpSpPr>
            <p:cNvPr id="7" name="组合 6">
              <a:extLst>
                <a:ext uri="{FF2B5EF4-FFF2-40B4-BE49-F238E27FC236}">
                  <a16:creationId xmlns:a16="http://schemas.microsoft.com/office/drawing/2014/main" id="{F248E31C-B962-E783-A444-F793DDCEC396}"/>
                </a:ext>
              </a:extLst>
            </p:cNvPr>
            <p:cNvGrpSpPr/>
            <p:nvPr/>
          </p:nvGrpSpPr>
          <p:grpSpPr>
            <a:xfrm rot="16200000" flipV="1">
              <a:off x="629840" y="-629840"/>
              <a:ext cx="612528" cy="1872208"/>
              <a:chOff x="604102" y="1347614"/>
              <a:chExt cx="1075775" cy="2149930"/>
            </a:xfrm>
          </p:grpSpPr>
          <p:grpSp>
            <p:nvGrpSpPr>
              <p:cNvPr id="9" name="组合 8">
                <a:extLst>
                  <a:ext uri="{FF2B5EF4-FFF2-40B4-BE49-F238E27FC236}">
                    <a16:creationId xmlns:a16="http://schemas.microsoft.com/office/drawing/2014/main" id="{8DDD4481-D9B1-5F5B-71B0-E49195A5542F}"/>
                  </a:ext>
                </a:extLst>
              </p:cNvPr>
              <p:cNvGrpSpPr/>
              <p:nvPr/>
            </p:nvGrpSpPr>
            <p:grpSpPr>
              <a:xfrm>
                <a:off x="755576" y="1347614"/>
                <a:ext cx="806989" cy="2149930"/>
                <a:chOff x="1477543" y="637844"/>
                <a:chExt cx="6486890" cy="3157021"/>
              </a:xfrm>
            </p:grpSpPr>
            <p:sp>
              <p:nvSpPr>
                <p:cNvPr id="12" name="矩形 11">
                  <a:extLst>
                    <a:ext uri="{FF2B5EF4-FFF2-40B4-BE49-F238E27FC236}">
                      <a16:creationId xmlns:a16="http://schemas.microsoft.com/office/drawing/2014/main" id="{3276F832-E9D8-5E0C-2223-1A8176A8AE70}"/>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3" name="矩形 12">
                  <a:extLst>
                    <a:ext uri="{FF2B5EF4-FFF2-40B4-BE49-F238E27FC236}">
                      <a16:creationId xmlns:a16="http://schemas.microsoft.com/office/drawing/2014/main" id="{017607C1-E4FD-A55A-F657-27EE7FBE40A9}"/>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4" name="矩形 13">
                  <a:extLst>
                    <a:ext uri="{FF2B5EF4-FFF2-40B4-BE49-F238E27FC236}">
                      <a16:creationId xmlns:a16="http://schemas.microsoft.com/office/drawing/2014/main" id="{F0E25E51-6C5F-69F8-1B62-91F4404A7691}"/>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10" name="直接连接符 9">
                <a:extLst>
                  <a:ext uri="{FF2B5EF4-FFF2-40B4-BE49-F238E27FC236}">
                    <a16:creationId xmlns:a16="http://schemas.microsoft.com/office/drawing/2014/main" id="{D05C5F84-A2AC-A4EA-6761-6C0F029C52A9}"/>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D31D3CF-9BBE-072B-9965-30CB16E275BE}"/>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文本框 7">
              <a:extLst>
                <a:ext uri="{FF2B5EF4-FFF2-40B4-BE49-F238E27FC236}">
                  <a16:creationId xmlns:a16="http://schemas.microsoft.com/office/drawing/2014/main" id="{E2F7E5ED-B897-031E-791F-145AC8E75272}"/>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研究现状</a:t>
              </a:r>
            </a:p>
          </p:txBody>
        </p:sp>
      </p:grpSp>
      <p:pic>
        <p:nvPicPr>
          <p:cNvPr id="49" name="图片 48">
            <a:extLst>
              <a:ext uri="{FF2B5EF4-FFF2-40B4-BE49-F238E27FC236}">
                <a16:creationId xmlns:a16="http://schemas.microsoft.com/office/drawing/2014/main" id="{44E04EE4-51FC-1DC9-35F3-DD25E2B6535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276684" y="1316765"/>
            <a:ext cx="7638633" cy="5726955"/>
          </a:xfrm>
          <a:prstGeom prst="rect">
            <a:avLst/>
          </a:prstGeom>
        </p:spPr>
      </p:pic>
    </p:spTree>
    <p:extLst>
      <p:ext uri="{BB962C8B-B14F-4D97-AF65-F5344CB8AC3E}">
        <p14:creationId xmlns:p14="http://schemas.microsoft.com/office/powerpoint/2010/main" val="280744839"/>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89847-1EC5-8A97-B629-B5AC0E9668F5}"/>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3BB6492B-19EE-57E8-39CA-362014696203}"/>
              </a:ext>
            </a:extLst>
          </p:cNvPr>
          <p:cNvSpPr>
            <a:spLocks noGrp="1"/>
          </p:cNvSpPr>
          <p:nvPr>
            <p:ph type="dt" sz="half" idx="10"/>
          </p:nvPr>
        </p:nvSpPr>
        <p:spPr/>
        <p:txBody>
          <a:bodyPr/>
          <a:lstStyle/>
          <a:p>
            <a:fld id="{0129A223-CDA2-4ADD-A070-BBC60E5C9F09}" type="datetime1">
              <a:rPr lang="zh-CN" altLang="en-US" smtClean="0"/>
              <a:t>2025/10/19</a:t>
            </a:fld>
            <a:endParaRPr lang="zh-CN" altLang="en-US" dirty="0"/>
          </a:p>
        </p:txBody>
      </p:sp>
      <p:sp>
        <p:nvSpPr>
          <p:cNvPr id="3" name="灯片编号占位符 2">
            <a:extLst>
              <a:ext uri="{FF2B5EF4-FFF2-40B4-BE49-F238E27FC236}">
                <a16:creationId xmlns:a16="http://schemas.microsoft.com/office/drawing/2014/main" id="{EE3744BC-D42A-79C6-7F15-E3769650DEFA}"/>
              </a:ext>
            </a:extLst>
          </p:cNvPr>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4" name="标题 1">
            <a:extLst>
              <a:ext uri="{FF2B5EF4-FFF2-40B4-BE49-F238E27FC236}">
                <a16:creationId xmlns:a16="http://schemas.microsoft.com/office/drawing/2014/main" id="{1FED74D5-A1BF-76BD-648F-8C7CBD79C9B3}"/>
              </a:ext>
            </a:extLst>
          </p:cNvPr>
          <p:cNvSpPr txBox="1">
            <a:spLocks/>
          </p:cNvSpPr>
          <p:nvPr/>
        </p:nvSpPr>
        <p:spPr>
          <a:xfrm>
            <a:off x="-299806" y="319791"/>
            <a:ext cx="6042362" cy="728030"/>
          </a:xfrm>
          <a:prstGeom prst="rect">
            <a:avLst/>
          </a:prstGeom>
        </p:spPr>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r>
              <a:rPr lang="en-US" altLang="zh-CN" sz="4400" b="1" dirty="0">
                <a:solidFill>
                  <a:srgbClr val="000000"/>
                </a:solidFill>
                <a:ea typeface="+mn-ea"/>
                <a:cs typeface="+mn-cs"/>
              </a:rPr>
              <a:t>Diffusion</a:t>
            </a:r>
            <a:r>
              <a:rPr lang="en-US" altLang="zh-CN" sz="4400" b="1" spc="-60" dirty="0">
                <a:solidFill>
                  <a:srgbClr val="000000"/>
                </a:solidFill>
                <a:ea typeface="+mn-ea"/>
                <a:cs typeface="+mn-cs"/>
              </a:rPr>
              <a:t> </a:t>
            </a:r>
            <a:r>
              <a:rPr lang="en-US" altLang="zh-CN" sz="4400" b="1" dirty="0">
                <a:solidFill>
                  <a:srgbClr val="000000"/>
                </a:solidFill>
                <a:ea typeface="+mn-ea"/>
                <a:cs typeface="+mn-cs"/>
              </a:rPr>
              <a:t>Model</a:t>
            </a:r>
            <a:endParaRPr lang="zh-CN" altLang="en-US" sz="4400" dirty="0"/>
          </a:p>
        </p:txBody>
      </p:sp>
      <p:grpSp>
        <p:nvGrpSpPr>
          <p:cNvPr id="5" name="组合 4">
            <a:extLst>
              <a:ext uri="{FF2B5EF4-FFF2-40B4-BE49-F238E27FC236}">
                <a16:creationId xmlns:a16="http://schemas.microsoft.com/office/drawing/2014/main" id="{AF21CBD3-020A-5063-11D5-9AE0EAE931A4}"/>
              </a:ext>
            </a:extLst>
          </p:cNvPr>
          <p:cNvGrpSpPr/>
          <p:nvPr/>
        </p:nvGrpSpPr>
        <p:grpSpPr>
          <a:xfrm>
            <a:off x="1648205" y="3964685"/>
            <a:ext cx="10195560" cy="1657604"/>
            <a:chOff x="1648205" y="3964685"/>
            <a:chExt cx="10195560" cy="1657604"/>
          </a:xfrm>
        </p:grpSpPr>
        <p:sp>
          <p:nvSpPr>
            <p:cNvPr id="15" name="object 37">
              <a:extLst>
                <a:ext uri="{FF2B5EF4-FFF2-40B4-BE49-F238E27FC236}">
                  <a16:creationId xmlns:a16="http://schemas.microsoft.com/office/drawing/2014/main" id="{F7B28F3C-5CE1-3DF3-377C-3AB07BF6BA19}"/>
                </a:ext>
              </a:extLst>
            </p:cNvPr>
            <p:cNvSpPr/>
            <p:nvPr/>
          </p:nvSpPr>
          <p:spPr>
            <a:xfrm>
              <a:off x="1648205" y="3964685"/>
              <a:ext cx="10195560" cy="1635760"/>
            </a:xfrm>
            <a:custGeom>
              <a:avLst/>
              <a:gdLst/>
              <a:ahLst/>
              <a:cxnLst/>
              <a:rect l="l" t="t" r="r" b="b"/>
              <a:pathLst>
                <a:path w="10195560" h="1635760">
                  <a:moveTo>
                    <a:pt x="0" y="272541"/>
                  </a:moveTo>
                  <a:lnTo>
                    <a:pt x="4391" y="223559"/>
                  </a:lnTo>
                  <a:lnTo>
                    <a:pt x="17053" y="177453"/>
                  </a:lnTo>
                  <a:lnTo>
                    <a:pt x="37215" y="134996"/>
                  </a:lnTo>
                  <a:lnTo>
                    <a:pt x="64106" y="96957"/>
                  </a:lnTo>
                  <a:lnTo>
                    <a:pt x="96957" y="64106"/>
                  </a:lnTo>
                  <a:lnTo>
                    <a:pt x="134996" y="37215"/>
                  </a:lnTo>
                  <a:lnTo>
                    <a:pt x="177453" y="17053"/>
                  </a:lnTo>
                  <a:lnTo>
                    <a:pt x="223559" y="4391"/>
                  </a:lnTo>
                  <a:lnTo>
                    <a:pt x="272542" y="0"/>
                  </a:lnTo>
                  <a:lnTo>
                    <a:pt x="9923018" y="0"/>
                  </a:lnTo>
                  <a:lnTo>
                    <a:pt x="9972000" y="4391"/>
                  </a:lnTo>
                  <a:lnTo>
                    <a:pt x="10018106" y="17053"/>
                  </a:lnTo>
                  <a:lnTo>
                    <a:pt x="10060563" y="37215"/>
                  </a:lnTo>
                  <a:lnTo>
                    <a:pt x="10098602" y="64106"/>
                  </a:lnTo>
                  <a:lnTo>
                    <a:pt x="10131453" y="96957"/>
                  </a:lnTo>
                  <a:lnTo>
                    <a:pt x="10158344" y="134996"/>
                  </a:lnTo>
                  <a:lnTo>
                    <a:pt x="10178506" y="177453"/>
                  </a:lnTo>
                  <a:lnTo>
                    <a:pt x="10191168" y="223559"/>
                  </a:lnTo>
                  <a:lnTo>
                    <a:pt x="10195560" y="272541"/>
                  </a:lnTo>
                  <a:lnTo>
                    <a:pt x="10195560" y="1362710"/>
                  </a:lnTo>
                  <a:lnTo>
                    <a:pt x="10191168" y="1411692"/>
                  </a:lnTo>
                  <a:lnTo>
                    <a:pt x="10178506" y="1457798"/>
                  </a:lnTo>
                  <a:lnTo>
                    <a:pt x="10158344" y="1500255"/>
                  </a:lnTo>
                  <a:lnTo>
                    <a:pt x="10131453" y="1538294"/>
                  </a:lnTo>
                  <a:lnTo>
                    <a:pt x="10098602" y="1571145"/>
                  </a:lnTo>
                  <a:lnTo>
                    <a:pt x="10060563" y="1598036"/>
                  </a:lnTo>
                  <a:lnTo>
                    <a:pt x="10018106" y="1618198"/>
                  </a:lnTo>
                  <a:lnTo>
                    <a:pt x="9972000" y="1630860"/>
                  </a:lnTo>
                  <a:lnTo>
                    <a:pt x="9923018" y="1635252"/>
                  </a:lnTo>
                  <a:lnTo>
                    <a:pt x="272542" y="1635252"/>
                  </a:lnTo>
                  <a:lnTo>
                    <a:pt x="223559" y="1630860"/>
                  </a:lnTo>
                  <a:lnTo>
                    <a:pt x="177453" y="1618198"/>
                  </a:lnTo>
                  <a:lnTo>
                    <a:pt x="134996" y="1598036"/>
                  </a:lnTo>
                  <a:lnTo>
                    <a:pt x="96957" y="1571145"/>
                  </a:lnTo>
                  <a:lnTo>
                    <a:pt x="64106" y="1538294"/>
                  </a:lnTo>
                  <a:lnTo>
                    <a:pt x="37215" y="1500255"/>
                  </a:lnTo>
                  <a:lnTo>
                    <a:pt x="17053" y="1457798"/>
                  </a:lnTo>
                  <a:lnTo>
                    <a:pt x="4391" y="1411692"/>
                  </a:lnTo>
                  <a:lnTo>
                    <a:pt x="0" y="1362710"/>
                  </a:lnTo>
                  <a:lnTo>
                    <a:pt x="0" y="272541"/>
                  </a:lnTo>
                  <a:close/>
                </a:path>
              </a:pathLst>
            </a:custGeom>
            <a:ln w="19050">
              <a:solidFill>
                <a:srgbClr val="538235"/>
              </a:solidFill>
            </a:ln>
          </p:spPr>
          <p:txBody>
            <a:bodyPr wrap="square" lIns="0" tIns="0" rIns="0" bIns="0" rtlCol="0"/>
            <a:lstStyle/>
            <a:p>
              <a:endParaRPr/>
            </a:p>
          </p:txBody>
        </p:sp>
        <p:sp>
          <p:nvSpPr>
            <p:cNvPr id="16" name="object 38">
              <a:extLst>
                <a:ext uri="{FF2B5EF4-FFF2-40B4-BE49-F238E27FC236}">
                  <a16:creationId xmlns:a16="http://schemas.microsoft.com/office/drawing/2014/main" id="{12EC32BC-CD21-F54A-F4EE-7AC4AF6498D5}"/>
                </a:ext>
              </a:extLst>
            </p:cNvPr>
            <p:cNvSpPr/>
            <p:nvPr/>
          </p:nvSpPr>
          <p:spPr>
            <a:xfrm>
              <a:off x="10482072" y="3985259"/>
              <a:ext cx="1358265" cy="1637030"/>
            </a:xfrm>
            <a:custGeom>
              <a:avLst/>
              <a:gdLst/>
              <a:ahLst/>
              <a:cxnLst/>
              <a:rect l="l" t="t" r="r" b="b"/>
              <a:pathLst>
                <a:path w="1358265" h="1637029">
                  <a:moveTo>
                    <a:pt x="1131570" y="0"/>
                  </a:moveTo>
                  <a:lnTo>
                    <a:pt x="226313" y="0"/>
                  </a:lnTo>
                  <a:lnTo>
                    <a:pt x="180710" y="4598"/>
                  </a:lnTo>
                  <a:lnTo>
                    <a:pt x="138231" y="17787"/>
                  </a:lnTo>
                  <a:lnTo>
                    <a:pt x="99789" y="38656"/>
                  </a:lnTo>
                  <a:lnTo>
                    <a:pt x="66294" y="66293"/>
                  </a:lnTo>
                  <a:lnTo>
                    <a:pt x="38656" y="99789"/>
                  </a:lnTo>
                  <a:lnTo>
                    <a:pt x="17787" y="138231"/>
                  </a:lnTo>
                  <a:lnTo>
                    <a:pt x="4598" y="180710"/>
                  </a:lnTo>
                  <a:lnTo>
                    <a:pt x="0" y="226313"/>
                  </a:lnTo>
                  <a:lnTo>
                    <a:pt x="0" y="1410461"/>
                  </a:lnTo>
                  <a:lnTo>
                    <a:pt x="4598" y="1456065"/>
                  </a:lnTo>
                  <a:lnTo>
                    <a:pt x="17787" y="1498544"/>
                  </a:lnTo>
                  <a:lnTo>
                    <a:pt x="38656" y="1536986"/>
                  </a:lnTo>
                  <a:lnTo>
                    <a:pt x="66294" y="1570482"/>
                  </a:lnTo>
                  <a:lnTo>
                    <a:pt x="99789" y="1598119"/>
                  </a:lnTo>
                  <a:lnTo>
                    <a:pt x="138231" y="1618988"/>
                  </a:lnTo>
                  <a:lnTo>
                    <a:pt x="180710" y="1632177"/>
                  </a:lnTo>
                  <a:lnTo>
                    <a:pt x="226313" y="1636776"/>
                  </a:lnTo>
                  <a:lnTo>
                    <a:pt x="1131570" y="1636776"/>
                  </a:lnTo>
                  <a:lnTo>
                    <a:pt x="1177173" y="1632177"/>
                  </a:lnTo>
                  <a:lnTo>
                    <a:pt x="1219652" y="1618988"/>
                  </a:lnTo>
                  <a:lnTo>
                    <a:pt x="1258094" y="1598119"/>
                  </a:lnTo>
                  <a:lnTo>
                    <a:pt x="1291589" y="1570482"/>
                  </a:lnTo>
                  <a:lnTo>
                    <a:pt x="1319227" y="1536986"/>
                  </a:lnTo>
                  <a:lnTo>
                    <a:pt x="1340096" y="1498544"/>
                  </a:lnTo>
                  <a:lnTo>
                    <a:pt x="1353285" y="1456065"/>
                  </a:lnTo>
                  <a:lnTo>
                    <a:pt x="1357883" y="1410461"/>
                  </a:lnTo>
                  <a:lnTo>
                    <a:pt x="1357883" y="226313"/>
                  </a:lnTo>
                  <a:lnTo>
                    <a:pt x="1353285" y="180710"/>
                  </a:lnTo>
                  <a:lnTo>
                    <a:pt x="1340096" y="138231"/>
                  </a:lnTo>
                  <a:lnTo>
                    <a:pt x="1319227" y="99789"/>
                  </a:lnTo>
                  <a:lnTo>
                    <a:pt x="1291589" y="66293"/>
                  </a:lnTo>
                  <a:lnTo>
                    <a:pt x="1258094" y="38656"/>
                  </a:lnTo>
                  <a:lnTo>
                    <a:pt x="1219652" y="17787"/>
                  </a:lnTo>
                  <a:lnTo>
                    <a:pt x="1177173" y="4598"/>
                  </a:lnTo>
                  <a:lnTo>
                    <a:pt x="1131570" y="0"/>
                  </a:lnTo>
                  <a:close/>
                </a:path>
              </a:pathLst>
            </a:custGeom>
            <a:solidFill>
              <a:srgbClr val="538235">
                <a:alpha val="10195"/>
              </a:srgbClr>
            </a:solidFill>
          </p:spPr>
          <p:txBody>
            <a:bodyPr wrap="square" lIns="0" tIns="0" rIns="0" bIns="0" rtlCol="0"/>
            <a:lstStyle/>
            <a:p>
              <a:endParaRPr dirty="0"/>
            </a:p>
          </p:txBody>
        </p:sp>
      </p:grpSp>
      <p:sp>
        <p:nvSpPr>
          <p:cNvPr id="17" name="object 33">
            <a:extLst>
              <a:ext uri="{FF2B5EF4-FFF2-40B4-BE49-F238E27FC236}">
                <a16:creationId xmlns:a16="http://schemas.microsoft.com/office/drawing/2014/main" id="{E110FD1D-7D84-4B57-8CD6-8810E9A1A1BE}"/>
              </a:ext>
            </a:extLst>
          </p:cNvPr>
          <p:cNvSpPr txBox="1"/>
          <p:nvPr/>
        </p:nvSpPr>
        <p:spPr>
          <a:xfrm>
            <a:off x="9734804" y="4480636"/>
            <a:ext cx="609600" cy="331470"/>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libri"/>
                <a:cs typeface="Calibri"/>
              </a:rPr>
              <a:t>Noise</a:t>
            </a:r>
            <a:endParaRPr sz="2000" dirty="0">
              <a:latin typeface="Calibri"/>
              <a:cs typeface="Calibri"/>
            </a:endParaRPr>
          </a:p>
        </p:txBody>
      </p:sp>
      <p:sp>
        <p:nvSpPr>
          <p:cNvPr id="18" name="object 32">
            <a:extLst>
              <a:ext uri="{FF2B5EF4-FFF2-40B4-BE49-F238E27FC236}">
                <a16:creationId xmlns:a16="http://schemas.microsoft.com/office/drawing/2014/main" id="{1F4462B9-CA10-EEF0-E98B-FE0B297CF21E}"/>
              </a:ext>
            </a:extLst>
          </p:cNvPr>
          <p:cNvSpPr txBox="1"/>
          <p:nvPr/>
        </p:nvSpPr>
        <p:spPr>
          <a:xfrm>
            <a:off x="1956054" y="4480636"/>
            <a:ext cx="506095" cy="331470"/>
          </a:xfrm>
          <a:prstGeom prst="rect">
            <a:avLst/>
          </a:prstGeom>
        </p:spPr>
        <p:txBody>
          <a:bodyPr vert="horz" wrap="square" lIns="0" tIns="13335" rIns="0" bIns="0" rtlCol="0">
            <a:spAutoFit/>
          </a:bodyPr>
          <a:lstStyle/>
          <a:p>
            <a:pPr marL="12700">
              <a:lnSpc>
                <a:spcPct val="100000"/>
              </a:lnSpc>
              <a:spcBef>
                <a:spcPts val="105"/>
              </a:spcBef>
            </a:pPr>
            <a:r>
              <a:rPr sz="2000" spc="-20" dirty="0">
                <a:latin typeface="Calibri"/>
                <a:cs typeface="Calibri"/>
              </a:rPr>
              <a:t>Data</a:t>
            </a:r>
            <a:endParaRPr sz="2000" dirty="0">
              <a:latin typeface="Calibri"/>
              <a:cs typeface="Calibri"/>
            </a:endParaRPr>
          </a:p>
        </p:txBody>
      </p:sp>
      <p:sp>
        <p:nvSpPr>
          <p:cNvPr id="19" name="箭头: 右 18">
            <a:extLst>
              <a:ext uri="{FF2B5EF4-FFF2-40B4-BE49-F238E27FC236}">
                <a16:creationId xmlns:a16="http://schemas.microsoft.com/office/drawing/2014/main" id="{C8C32AD2-DBC8-1360-8D48-BB52B3F790BB}"/>
              </a:ext>
            </a:extLst>
          </p:cNvPr>
          <p:cNvSpPr/>
          <p:nvPr/>
        </p:nvSpPr>
        <p:spPr>
          <a:xfrm rot="10800000">
            <a:off x="7590281" y="4647266"/>
            <a:ext cx="207010" cy="91950"/>
          </a:xfrm>
          <a:prstGeom prst="rightArrow">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4614417B-0116-E8C3-1C19-6272B595DF38}"/>
              </a:ext>
            </a:extLst>
          </p:cNvPr>
          <p:cNvSpPr/>
          <p:nvPr/>
        </p:nvSpPr>
        <p:spPr>
          <a:xfrm rot="10800000">
            <a:off x="8197091" y="4670540"/>
            <a:ext cx="201867" cy="45719"/>
          </a:xfrm>
          <a:prstGeom prst="rect">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8EB95D8F-A172-959E-FEE1-B7C8195C87AB}"/>
              </a:ext>
            </a:extLst>
          </p:cNvPr>
          <p:cNvSpPr/>
          <p:nvPr/>
        </p:nvSpPr>
        <p:spPr>
          <a:xfrm rot="10800000">
            <a:off x="7858124" y="4670540"/>
            <a:ext cx="45719" cy="45719"/>
          </a:xfrm>
          <a:prstGeom prst="ellipse">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CDD7A427-84AF-978B-EB66-17AB858B4477}"/>
              </a:ext>
            </a:extLst>
          </p:cNvPr>
          <p:cNvSpPr/>
          <p:nvPr/>
        </p:nvSpPr>
        <p:spPr>
          <a:xfrm rot="10800000">
            <a:off x="7960992" y="4670540"/>
            <a:ext cx="45719" cy="45719"/>
          </a:xfrm>
          <a:prstGeom prst="ellipse">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F3CD1290-7D97-8B35-2BFA-E8DD8CFE2D8E}"/>
              </a:ext>
            </a:extLst>
          </p:cNvPr>
          <p:cNvSpPr/>
          <p:nvPr/>
        </p:nvSpPr>
        <p:spPr>
          <a:xfrm rot="10800000">
            <a:off x="8067544" y="4670540"/>
            <a:ext cx="45719" cy="45719"/>
          </a:xfrm>
          <a:prstGeom prst="ellipse">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04D21854-FE57-B60E-1F07-A4BBA7869416}"/>
              </a:ext>
            </a:extLst>
          </p:cNvPr>
          <p:cNvSpPr/>
          <p:nvPr/>
        </p:nvSpPr>
        <p:spPr>
          <a:xfrm rot="10800000">
            <a:off x="3775075" y="4647266"/>
            <a:ext cx="693040" cy="91950"/>
          </a:xfrm>
          <a:prstGeom prst="rightArrow">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D3410310-D9E9-12F0-0725-712D75275C81}"/>
              </a:ext>
            </a:extLst>
          </p:cNvPr>
          <p:cNvSpPr/>
          <p:nvPr/>
        </p:nvSpPr>
        <p:spPr>
          <a:xfrm rot="10800000">
            <a:off x="5742557" y="4647266"/>
            <a:ext cx="693040" cy="91950"/>
          </a:xfrm>
          <a:prstGeom prst="rightArrow">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object 14">
            <a:extLst>
              <a:ext uri="{FF2B5EF4-FFF2-40B4-BE49-F238E27FC236}">
                <a16:creationId xmlns:a16="http://schemas.microsoft.com/office/drawing/2014/main" id="{A9A6E14D-AD12-41A3-C397-24EAAFCEC2C7}"/>
              </a:ext>
            </a:extLst>
          </p:cNvPr>
          <p:cNvSpPr txBox="1"/>
          <p:nvPr/>
        </p:nvSpPr>
        <p:spPr>
          <a:xfrm>
            <a:off x="639978" y="1215930"/>
            <a:ext cx="6140450" cy="452120"/>
          </a:xfrm>
          <a:prstGeom prst="rect">
            <a:avLst/>
          </a:prstGeom>
        </p:spPr>
        <p:txBody>
          <a:bodyPr vert="horz" wrap="square" lIns="0" tIns="12065" rIns="0" bIns="0" rtlCol="0">
            <a:spAutoFit/>
          </a:bodyPr>
          <a:lstStyle/>
          <a:p>
            <a:pPr marL="25400">
              <a:lnSpc>
                <a:spcPct val="100000"/>
              </a:lnSpc>
              <a:spcBef>
                <a:spcPts val="95"/>
              </a:spcBef>
            </a:pPr>
            <a:r>
              <a:rPr sz="2800" b="1" dirty="0">
                <a:latin typeface="Calibri"/>
                <a:cs typeface="Calibri"/>
              </a:rPr>
              <a:t>D</a:t>
            </a:r>
            <a:r>
              <a:rPr sz="2800" dirty="0">
                <a:latin typeface="Calibri"/>
                <a:cs typeface="Calibri"/>
              </a:rPr>
              <a:t>enoising</a:t>
            </a:r>
            <a:r>
              <a:rPr sz="2800" spc="-85" dirty="0">
                <a:latin typeface="Calibri"/>
                <a:cs typeface="Calibri"/>
              </a:rPr>
              <a:t> </a:t>
            </a:r>
            <a:r>
              <a:rPr sz="2800" b="1" dirty="0">
                <a:latin typeface="Calibri"/>
                <a:cs typeface="Calibri"/>
              </a:rPr>
              <a:t>D</a:t>
            </a:r>
            <a:r>
              <a:rPr sz="2800" dirty="0">
                <a:latin typeface="Calibri"/>
                <a:cs typeface="Calibri"/>
              </a:rPr>
              <a:t>iffusion</a:t>
            </a:r>
            <a:r>
              <a:rPr sz="2800" spc="-75" dirty="0">
                <a:latin typeface="Calibri"/>
                <a:cs typeface="Calibri"/>
              </a:rPr>
              <a:t> </a:t>
            </a:r>
            <a:r>
              <a:rPr sz="2800" b="1" spc="-10" dirty="0">
                <a:latin typeface="Calibri"/>
                <a:cs typeface="Calibri"/>
              </a:rPr>
              <a:t>P</a:t>
            </a:r>
            <a:r>
              <a:rPr sz="2800" spc="-10" dirty="0">
                <a:latin typeface="Calibri"/>
                <a:cs typeface="Calibri"/>
              </a:rPr>
              <a:t>robabilistic</a:t>
            </a:r>
            <a:r>
              <a:rPr sz="2800" spc="-55" dirty="0">
                <a:latin typeface="Calibri"/>
                <a:cs typeface="Calibri"/>
              </a:rPr>
              <a:t> </a:t>
            </a:r>
            <a:r>
              <a:rPr sz="2800" b="1" spc="-10" dirty="0">
                <a:latin typeface="Calibri"/>
                <a:cs typeface="Calibri"/>
              </a:rPr>
              <a:t>M</a:t>
            </a:r>
            <a:r>
              <a:rPr sz="2800" spc="-10" dirty="0">
                <a:latin typeface="Calibri"/>
                <a:cs typeface="Calibri"/>
              </a:rPr>
              <a:t>odels</a:t>
            </a:r>
            <a:endParaRPr sz="2775" baseline="25525" dirty="0">
              <a:latin typeface="Calibri"/>
              <a:cs typeface="Calibri"/>
            </a:endParaRPr>
          </a:p>
        </p:txBody>
      </p:sp>
      <p:pic>
        <p:nvPicPr>
          <p:cNvPr id="27" name="图片 26">
            <a:extLst>
              <a:ext uri="{FF2B5EF4-FFF2-40B4-BE49-F238E27FC236}">
                <a16:creationId xmlns:a16="http://schemas.microsoft.com/office/drawing/2014/main" id="{C75584F0-C2B0-D99B-06CC-A80CF16272F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8567396" y="4235660"/>
            <a:ext cx="961200" cy="961200"/>
          </a:xfrm>
          <a:prstGeom prst="rect">
            <a:avLst/>
          </a:prstGeom>
        </p:spPr>
      </p:pic>
      <p:pic>
        <p:nvPicPr>
          <p:cNvPr id="28" name="图片 27">
            <a:extLst>
              <a:ext uri="{FF2B5EF4-FFF2-40B4-BE49-F238E27FC236}">
                <a16:creationId xmlns:a16="http://schemas.microsoft.com/office/drawing/2014/main" id="{228B0792-5798-E98C-A1DF-1FC599DF10C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523053" y="4235660"/>
            <a:ext cx="961200" cy="961200"/>
          </a:xfrm>
          <a:prstGeom prst="rect">
            <a:avLst/>
          </a:prstGeom>
        </p:spPr>
      </p:pic>
      <p:pic>
        <p:nvPicPr>
          <p:cNvPr id="29" name="图片 28">
            <a:extLst>
              <a:ext uri="{FF2B5EF4-FFF2-40B4-BE49-F238E27FC236}">
                <a16:creationId xmlns:a16="http://schemas.microsoft.com/office/drawing/2014/main" id="{4A9166E0-3C03-9332-864A-99D7FA0762B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595969" y="4235660"/>
            <a:ext cx="961200" cy="961200"/>
          </a:xfrm>
          <a:prstGeom prst="rect">
            <a:avLst/>
          </a:prstGeom>
        </p:spPr>
      </p:pic>
      <p:pic>
        <p:nvPicPr>
          <p:cNvPr id="30" name="图片 29">
            <a:extLst>
              <a:ext uri="{FF2B5EF4-FFF2-40B4-BE49-F238E27FC236}">
                <a16:creationId xmlns:a16="http://schemas.microsoft.com/office/drawing/2014/main" id="{16C7839A-ECAD-3B1A-AB6C-E206C1B257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55192" y="4235660"/>
            <a:ext cx="961200" cy="961200"/>
          </a:xfrm>
          <a:prstGeom prst="rect">
            <a:avLst/>
          </a:prstGeom>
        </p:spPr>
      </p:pic>
      <p:grpSp>
        <p:nvGrpSpPr>
          <p:cNvPr id="31" name="组合 30">
            <a:extLst>
              <a:ext uri="{FF2B5EF4-FFF2-40B4-BE49-F238E27FC236}">
                <a16:creationId xmlns:a16="http://schemas.microsoft.com/office/drawing/2014/main" id="{4C5D3C13-551C-04CF-91AE-D78D7E964AD6}"/>
              </a:ext>
            </a:extLst>
          </p:cNvPr>
          <p:cNvGrpSpPr/>
          <p:nvPr/>
        </p:nvGrpSpPr>
        <p:grpSpPr>
          <a:xfrm>
            <a:off x="336041" y="2154173"/>
            <a:ext cx="10147300" cy="1637030"/>
            <a:chOff x="336041" y="2154173"/>
            <a:chExt cx="10147300" cy="1637030"/>
          </a:xfrm>
        </p:grpSpPr>
        <p:sp>
          <p:nvSpPr>
            <p:cNvPr id="32" name="object 21">
              <a:extLst>
                <a:ext uri="{FF2B5EF4-FFF2-40B4-BE49-F238E27FC236}">
                  <a16:creationId xmlns:a16="http://schemas.microsoft.com/office/drawing/2014/main" id="{1A8850DC-B2C7-642D-D3DB-6236F4E461F1}"/>
                </a:ext>
              </a:extLst>
            </p:cNvPr>
            <p:cNvSpPr/>
            <p:nvPr/>
          </p:nvSpPr>
          <p:spPr>
            <a:xfrm>
              <a:off x="336041" y="2154173"/>
              <a:ext cx="10147300" cy="1637030"/>
            </a:xfrm>
            <a:custGeom>
              <a:avLst/>
              <a:gdLst/>
              <a:ahLst/>
              <a:cxnLst/>
              <a:rect l="l" t="t" r="r" b="b"/>
              <a:pathLst>
                <a:path w="10147300" h="1637029">
                  <a:moveTo>
                    <a:pt x="0" y="272796"/>
                  </a:moveTo>
                  <a:lnTo>
                    <a:pt x="4395" y="223770"/>
                  </a:lnTo>
                  <a:lnTo>
                    <a:pt x="17066" y="177624"/>
                  </a:lnTo>
                  <a:lnTo>
                    <a:pt x="37244" y="135128"/>
                  </a:lnTo>
                  <a:lnTo>
                    <a:pt x="64158" y="97053"/>
                  </a:lnTo>
                  <a:lnTo>
                    <a:pt x="97037" y="64171"/>
                  </a:lnTo>
                  <a:lnTo>
                    <a:pt x="135111" y="37253"/>
                  </a:lnTo>
                  <a:lnTo>
                    <a:pt x="177609" y="17071"/>
                  </a:lnTo>
                  <a:lnTo>
                    <a:pt x="223760" y="4396"/>
                  </a:lnTo>
                  <a:lnTo>
                    <a:pt x="272795" y="0"/>
                  </a:lnTo>
                  <a:lnTo>
                    <a:pt x="9873996" y="0"/>
                  </a:lnTo>
                  <a:lnTo>
                    <a:pt x="9923021" y="4396"/>
                  </a:lnTo>
                  <a:lnTo>
                    <a:pt x="9969167" y="17071"/>
                  </a:lnTo>
                  <a:lnTo>
                    <a:pt x="10011664" y="37253"/>
                  </a:lnTo>
                  <a:lnTo>
                    <a:pt x="10049738" y="64171"/>
                  </a:lnTo>
                  <a:lnTo>
                    <a:pt x="10082620" y="97053"/>
                  </a:lnTo>
                  <a:lnTo>
                    <a:pt x="10109538" y="135127"/>
                  </a:lnTo>
                  <a:lnTo>
                    <a:pt x="10129720" y="177624"/>
                  </a:lnTo>
                  <a:lnTo>
                    <a:pt x="10142395" y="223770"/>
                  </a:lnTo>
                  <a:lnTo>
                    <a:pt x="10146791" y="272796"/>
                  </a:lnTo>
                  <a:lnTo>
                    <a:pt x="10146791" y="1363979"/>
                  </a:lnTo>
                  <a:lnTo>
                    <a:pt x="10142395" y="1413005"/>
                  </a:lnTo>
                  <a:lnTo>
                    <a:pt x="10129720" y="1459151"/>
                  </a:lnTo>
                  <a:lnTo>
                    <a:pt x="10109538" y="1501647"/>
                  </a:lnTo>
                  <a:lnTo>
                    <a:pt x="10082620" y="1539722"/>
                  </a:lnTo>
                  <a:lnTo>
                    <a:pt x="10049738" y="1572604"/>
                  </a:lnTo>
                  <a:lnTo>
                    <a:pt x="10011664" y="1599522"/>
                  </a:lnTo>
                  <a:lnTo>
                    <a:pt x="9969167" y="1619704"/>
                  </a:lnTo>
                  <a:lnTo>
                    <a:pt x="9923021" y="1632379"/>
                  </a:lnTo>
                  <a:lnTo>
                    <a:pt x="9873996" y="1636776"/>
                  </a:lnTo>
                  <a:lnTo>
                    <a:pt x="272795" y="1636776"/>
                  </a:lnTo>
                  <a:lnTo>
                    <a:pt x="223760" y="1632379"/>
                  </a:lnTo>
                  <a:lnTo>
                    <a:pt x="177609" y="1619704"/>
                  </a:lnTo>
                  <a:lnTo>
                    <a:pt x="135111" y="1599522"/>
                  </a:lnTo>
                  <a:lnTo>
                    <a:pt x="97037" y="1572604"/>
                  </a:lnTo>
                  <a:lnTo>
                    <a:pt x="64158" y="1539722"/>
                  </a:lnTo>
                  <a:lnTo>
                    <a:pt x="37244" y="1501647"/>
                  </a:lnTo>
                  <a:lnTo>
                    <a:pt x="17066" y="1459151"/>
                  </a:lnTo>
                  <a:lnTo>
                    <a:pt x="4395" y="1413005"/>
                  </a:lnTo>
                  <a:lnTo>
                    <a:pt x="0" y="1363979"/>
                  </a:lnTo>
                  <a:lnTo>
                    <a:pt x="0" y="272796"/>
                  </a:lnTo>
                  <a:close/>
                </a:path>
              </a:pathLst>
            </a:custGeom>
            <a:ln w="19050">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lIns="0" tIns="0" rIns="0" bIns="0" rtlCol="0"/>
            <a:lstStyle/>
            <a:p>
              <a:endParaRPr/>
            </a:p>
          </p:txBody>
        </p:sp>
        <p:sp>
          <p:nvSpPr>
            <p:cNvPr id="33" name="object 17">
              <a:extLst>
                <a:ext uri="{FF2B5EF4-FFF2-40B4-BE49-F238E27FC236}">
                  <a16:creationId xmlns:a16="http://schemas.microsoft.com/office/drawing/2014/main" id="{E9E45DD4-9E0B-189F-A4DF-65A80DD523D0}"/>
                </a:ext>
              </a:extLst>
            </p:cNvPr>
            <p:cNvSpPr txBox="1"/>
            <p:nvPr/>
          </p:nvSpPr>
          <p:spPr>
            <a:xfrm>
              <a:off x="9721088" y="2670124"/>
              <a:ext cx="609600" cy="331470"/>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libri"/>
                  <a:cs typeface="Calibri"/>
                </a:rPr>
                <a:t>Noise</a:t>
              </a:r>
              <a:endParaRPr sz="2000" dirty="0">
                <a:latin typeface="Calibri"/>
                <a:cs typeface="Calibri"/>
              </a:endParaRPr>
            </a:p>
          </p:txBody>
        </p:sp>
        <p:sp>
          <p:nvSpPr>
            <p:cNvPr id="34" name="object 16">
              <a:extLst>
                <a:ext uri="{FF2B5EF4-FFF2-40B4-BE49-F238E27FC236}">
                  <a16:creationId xmlns:a16="http://schemas.microsoft.com/office/drawing/2014/main" id="{212AD8C7-A828-4488-B3D4-4762FF8EEA65}"/>
                </a:ext>
              </a:extLst>
            </p:cNvPr>
            <p:cNvSpPr txBox="1"/>
            <p:nvPr/>
          </p:nvSpPr>
          <p:spPr>
            <a:xfrm>
              <a:off x="1942338" y="2670124"/>
              <a:ext cx="506095" cy="331470"/>
            </a:xfrm>
            <a:prstGeom prst="rect">
              <a:avLst/>
            </a:prstGeom>
          </p:spPr>
          <p:txBody>
            <a:bodyPr vert="horz" wrap="square" lIns="0" tIns="13335" rIns="0" bIns="0" rtlCol="0">
              <a:spAutoFit/>
            </a:bodyPr>
            <a:lstStyle/>
            <a:p>
              <a:pPr marL="12700">
                <a:lnSpc>
                  <a:spcPct val="100000"/>
                </a:lnSpc>
                <a:spcBef>
                  <a:spcPts val="105"/>
                </a:spcBef>
              </a:pPr>
              <a:r>
                <a:rPr sz="2000" spc="-20" dirty="0">
                  <a:latin typeface="Calibri"/>
                  <a:cs typeface="Calibri"/>
                </a:rPr>
                <a:t>Data</a:t>
              </a:r>
              <a:endParaRPr sz="2000" dirty="0">
                <a:latin typeface="Calibri"/>
                <a:cs typeface="Calibri"/>
              </a:endParaRPr>
            </a:p>
          </p:txBody>
        </p:sp>
        <p:sp>
          <p:nvSpPr>
            <p:cNvPr id="35" name="箭头: 右 34">
              <a:extLst>
                <a:ext uri="{FF2B5EF4-FFF2-40B4-BE49-F238E27FC236}">
                  <a16:creationId xmlns:a16="http://schemas.microsoft.com/office/drawing/2014/main" id="{A91F41A6-EDD9-5F31-D004-5D8B79DD4AFC}"/>
                </a:ext>
              </a:extLst>
            </p:cNvPr>
            <p:cNvSpPr/>
            <p:nvPr/>
          </p:nvSpPr>
          <p:spPr>
            <a:xfrm>
              <a:off x="3775075" y="2835400"/>
              <a:ext cx="693040" cy="91950"/>
            </a:xfrm>
            <a:prstGeom prst="rightArrow">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右 35">
              <a:extLst>
                <a:ext uri="{FF2B5EF4-FFF2-40B4-BE49-F238E27FC236}">
                  <a16:creationId xmlns:a16="http://schemas.microsoft.com/office/drawing/2014/main" id="{A63B2434-C862-7329-1C95-8048559BDDBC}"/>
                </a:ext>
              </a:extLst>
            </p:cNvPr>
            <p:cNvSpPr/>
            <p:nvPr/>
          </p:nvSpPr>
          <p:spPr>
            <a:xfrm>
              <a:off x="8182101" y="2835400"/>
              <a:ext cx="207010" cy="91950"/>
            </a:xfrm>
            <a:prstGeom prst="rightArrow">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右 36">
              <a:extLst>
                <a:ext uri="{FF2B5EF4-FFF2-40B4-BE49-F238E27FC236}">
                  <a16:creationId xmlns:a16="http://schemas.microsoft.com/office/drawing/2014/main" id="{1E34C8A9-8ADF-3962-C309-68804E05765E}"/>
                </a:ext>
              </a:extLst>
            </p:cNvPr>
            <p:cNvSpPr/>
            <p:nvPr/>
          </p:nvSpPr>
          <p:spPr>
            <a:xfrm>
              <a:off x="5742557" y="2835400"/>
              <a:ext cx="693040" cy="91950"/>
            </a:xfrm>
            <a:prstGeom prst="rightArrow">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795F5E9E-7EB9-A2E1-4421-82CCF6B9BF4D}"/>
                </a:ext>
              </a:extLst>
            </p:cNvPr>
            <p:cNvSpPr/>
            <p:nvPr/>
          </p:nvSpPr>
          <p:spPr>
            <a:xfrm>
              <a:off x="7599108" y="2858674"/>
              <a:ext cx="201867" cy="45719"/>
            </a:xfrm>
            <a:prstGeom prst="rect">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8F74B7DA-B804-A31C-D6CC-C9A765C4808E}"/>
                </a:ext>
              </a:extLst>
            </p:cNvPr>
            <p:cNvSpPr/>
            <p:nvPr/>
          </p:nvSpPr>
          <p:spPr>
            <a:xfrm>
              <a:off x="7858124" y="2858674"/>
              <a:ext cx="45719" cy="45719"/>
            </a:xfrm>
            <a:prstGeom prst="ellipse">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7B60BD9C-A437-1522-FB52-C35E85257BED}"/>
                </a:ext>
              </a:extLst>
            </p:cNvPr>
            <p:cNvSpPr/>
            <p:nvPr/>
          </p:nvSpPr>
          <p:spPr>
            <a:xfrm>
              <a:off x="7960992" y="2858674"/>
              <a:ext cx="45719" cy="45719"/>
            </a:xfrm>
            <a:prstGeom prst="ellipse">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B3CD4AE1-D911-FFBB-4B46-42F9129B94FC}"/>
                </a:ext>
              </a:extLst>
            </p:cNvPr>
            <p:cNvSpPr/>
            <p:nvPr/>
          </p:nvSpPr>
          <p:spPr>
            <a:xfrm>
              <a:off x="8067544" y="2858674"/>
              <a:ext cx="45719" cy="45719"/>
            </a:xfrm>
            <a:prstGeom prst="ellipse">
              <a:avLst/>
            </a:prstGeom>
            <a:solidFill>
              <a:srgbClr val="3A0C7B"/>
            </a:solidFill>
            <a:ln>
              <a:solidFill>
                <a:srgbClr val="3A0C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41">
              <a:extLst>
                <a:ext uri="{FF2B5EF4-FFF2-40B4-BE49-F238E27FC236}">
                  <a16:creationId xmlns:a16="http://schemas.microsoft.com/office/drawing/2014/main" id="{02DB4736-A5B5-F9C2-812C-BEC8A126551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49588" y="2400775"/>
              <a:ext cx="961200" cy="961200"/>
            </a:xfrm>
            <a:prstGeom prst="rect">
              <a:avLst/>
            </a:prstGeom>
          </p:spPr>
        </p:pic>
        <p:pic>
          <p:nvPicPr>
            <p:cNvPr id="43" name="图片 42">
              <a:extLst>
                <a:ext uri="{FF2B5EF4-FFF2-40B4-BE49-F238E27FC236}">
                  <a16:creationId xmlns:a16="http://schemas.microsoft.com/office/drawing/2014/main" id="{68CA2399-C8E8-6AB7-400D-E927A0829C0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595969" y="2400775"/>
              <a:ext cx="961200" cy="961200"/>
            </a:xfrm>
            <a:prstGeom prst="rect">
              <a:avLst/>
            </a:prstGeom>
          </p:spPr>
        </p:pic>
        <p:pic>
          <p:nvPicPr>
            <p:cNvPr id="44" name="图片 43">
              <a:extLst>
                <a:ext uri="{FF2B5EF4-FFF2-40B4-BE49-F238E27FC236}">
                  <a16:creationId xmlns:a16="http://schemas.microsoft.com/office/drawing/2014/main" id="{07AF169E-45DC-4156-70D2-3329E4C8C2A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526147" y="2400775"/>
              <a:ext cx="961200" cy="961200"/>
            </a:xfrm>
            <a:prstGeom prst="rect">
              <a:avLst/>
            </a:prstGeom>
          </p:spPr>
        </p:pic>
        <p:pic>
          <p:nvPicPr>
            <p:cNvPr id="45" name="图片 44">
              <a:extLst>
                <a:ext uri="{FF2B5EF4-FFF2-40B4-BE49-F238E27FC236}">
                  <a16:creationId xmlns:a16="http://schemas.microsoft.com/office/drawing/2014/main" id="{05F40007-7489-E849-B21F-AB220355B54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8567396" y="2400775"/>
              <a:ext cx="961200" cy="961200"/>
            </a:xfrm>
            <a:prstGeom prst="rect">
              <a:avLst/>
            </a:prstGeom>
          </p:spPr>
        </p:pic>
        <p:sp>
          <p:nvSpPr>
            <p:cNvPr id="46" name="object 38">
              <a:extLst>
                <a:ext uri="{FF2B5EF4-FFF2-40B4-BE49-F238E27FC236}">
                  <a16:creationId xmlns:a16="http://schemas.microsoft.com/office/drawing/2014/main" id="{6707AA41-955E-32E3-A433-E3090581C477}"/>
                </a:ext>
              </a:extLst>
            </p:cNvPr>
            <p:cNvSpPr/>
            <p:nvPr/>
          </p:nvSpPr>
          <p:spPr>
            <a:xfrm>
              <a:off x="336041" y="2154173"/>
              <a:ext cx="1358265" cy="1637030"/>
            </a:xfrm>
            <a:custGeom>
              <a:avLst/>
              <a:gdLst/>
              <a:ahLst/>
              <a:cxnLst/>
              <a:rect l="l" t="t" r="r" b="b"/>
              <a:pathLst>
                <a:path w="1358265" h="1637029">
                  <a:moveTo>
                    <a:pt x="1131570" y="0"/>
                  </a:moveTo>
                  <a:lnTo>
                    <a:pt x="226313" y="0"/>
                  </a:lnTo>
                  <a:lnTo>
                    <a:pt x="180710" y="4598"/>
                  </a:lnTo>
                  <a:lnTo>
                    <a:pt x="138231" y="17787"/>
                  </a:lnTo>
                  <a:lnTo>
                    <a:pt x="99789" y="38656"/>
                  </a:lnTo>
                  <a:lnTo>
                    <a:pt x="66294" y="66293"/>
                  </a:lnTo>
                  <a:lnTo>
                    <a:pt x="38656" y="99789"/>
                  </a:lnTo>
                  <a:lnTo>
                    <a:pt x="17787" y="138231"/>
                  </a:lnTo>
                  <a:lnTo>
                    <a:pt x="4598" y="180710"/>
                  </a:lnTo>
                  <a:lnTo>
                    <a:pt x="0" y="226313"/>
                  </a:lnTo>
                  <a:lnTo>
                    <a:pt x="0" y="1410461"/>
                  </a:lnTo>
                  <a:lnTo>
                    <a:pt x="4598" y="1456065"/>
                  </a:lnTo>
                  <a:lnTo>
                    <a:pt x="17787" y="1498544"/>
                  </a:lnTo>
                  <a:lnTo>
                    <a:pt x="38656" y="1536986"/>
                  </a:lnTo>
                  <a:lnTo>
                    <a:pt x="66294" y="1570482"/>
                  </a:lnTo>
                  <a:lnTo>
                    <a:pt x="99789" y="1598119"/>
                  </a:lnTo>
                  <a:lnTo>
                    <a:pt x="138231" y="1618988"/>
                  </a:lnTo>
                  <a:lnTo>
                    <a:pt x="180710" y="1632177"/>
                  </a:lnTo>
                  <a:lnTo>
                    <a:pt x="226313" y="1636776"/>
                  </a:lnTo>
                  <a:lnTo>
                    <a:pt x="1131570" y="1636776"/>
                  </a:lnTo>
                  <a:lnTo>
                    <a:pt x="1177173" y="1632177"/>
                  </a:lnTo>
                  <a:lnTo>
                    <a:pt x="1219652" y="1618988"/>
                  </a:lnTo>
                  <a:lnTo>
                    <a:pt x="1258094" y="1598119"/>
                  </a:lnTo>
                  <a:lnTo>
                    <a:pt x="1291589" y="1570482"/>
                  </a:lnTo>
                  <a:lnTo>
                    <a:pt x="1319227" y="1536986"/>
                  </a:lnTo>
                  <a:lnTo>
                    <a:pt x="1340096" y="1498544"/>
                  </a:lnTo>
                  <a:lnTo>
                    <a:pt x="1353285" y="1456065"/>
                  </a:lnTo>
                  <a:lnTo>
                    <a:pt x="1357883" y="1410461"/>
                  </a:lnTo>
                  <a:lnTo>
                    <a:pt x="1357883" y="226313"/>
                  </a:lnTo>
                  <a:lnTo>
                    <a:pt x="1353285" y="180710"/>
                  </a:lnTo>
                  <a:lnTo>
                    <a:pt x="1340096" y="138231"/>
                  </a:lnTo>
                  <a:lnTo>
                    <a:pt x="1319227" y="99789"/>
                  </a:lnTo>
                  <a:lnTo>
                    <a:pt x="1291589" y="66293"/>
                  </a:lnTo>
                  <a:lnTo>
                    <a:pt x="1258094" y="38656"/>
                  </a:lnTo>
                  <a:lnTo>
                    <a:pt x="1219652" y="17787"/>
                  </a:lnTo>
                  <a:lnTo>
                    <a:pt x="1177173" y="4598"/>
                  </a:lnTo>
                  <a:lnTo>
                    <a:pt x="1131570" y="0"/>
                  </a:lnTo>
                  <a:close/>
                </a:path>
              </a:pathLst>
            </a:cu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lstStyle/>
            <a:p>
              <a:endParaRPr dirty="0"/>
            </a:p>
          </p:txBody>
        </p:sp>
        <p:sp>
          <p:nvSpPr>
            <p:cNvPr id="47" name="object 39">
              <a:extLst>
                <a:ext uri="{FF2B5EF4-FFF2-40B4-BE49-F238E27FC236}">
                  <a16:creationId xmlns:a16="http://schemas.microsoft.com/office/drawing/2014/main" id="{8686D7F8-312A-BBBF-5C91-A63E51482B2D}"/>
                </a:ext>
              </a:extLst>
            </p:cNvPr>
            <p:cNvSpPr txBox="1"/>
            <p:nvPr/>
          </p:nvSpPr>
          <p:spPr>
            <a:xfrm>
              <a:off x="567911" y="2457132"/>
              <a:ext cx="984885" cy="940435"/>
            </a:xfrm>
            <a:prstGeom prst="rect">
              <a:avLst/>
            </a:prstGeom>
          </p:spPr>
          <p:txBody>
            <a:bodyPr vert="horz" wrap="square" lIns="0" tIns="13335" rIns="0" bIns="0" rtlCol="0">
              <a:spAutoFit/>
            </a:bodyPr>
            <a:lstStyle/>
            <a:p>
              <a:pPr marL="12700" marR="5080">
                <a:lnSpc>
                  <a:spcPct val="100000"/>
                </a:lnSpc>
                <a:spcBef>
                  <a:spcPts val="105"/>
                </a:spcBef>
              </a:pPr>
              <a:r>
                <a:rPr sz="2000" b="1" spc="-10" dirty="0">
                  <a:solidFill>
                    <a:schemeClr val="accent1">
                      <a:lumMod val="50000"/>
                    </a:schemeClr>
                  </a:solidFill>
                  <a:latin typeface="Calibri"/>
                  <a:cs typeface="Calibri"/>
                </a:rPr>
                <a:t>Forward Diffusion Process</a:t>
              </a:r>
              <a:endParaRPr sz="2000" dirty="0">
                <a:solidFill>
                  <a:schemeClr val="accent1">
                    <a:lumMod val="50000"/>
                  </a:schemeClr>
                </a:solidFill>
                <a:latin typeface="Calibri"/>
                <a:cs typeface="Calibri"/>
              </a:endParaRPr>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6CD5C54D-AE4D-362C-11D3-098EBB5F2260}"/>
                    </a:ext>
                  </a:extLst>
                </p:cNvPr>
                <p:cNvSpPr txBox="1"/>
                <p:nvPr/>
              </p:nvSpPr>
              <p:spPr>
                <a:xfrm>
                  <a:off x="2887328" y="3381731"/>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48" name="文本框 47">
                  <a:extLst>
                    <a:ext uri="{FF2B5EF4-FFF2-40B4-BE49-F238E27FC236}">
                      <a16:creationId xmlns:a16="http://schemas.microsoft.com/office/drawing/2014/main" id="{6CD5C54D-AE4D-362C-11D3-098EBB5F2260}"/>
                    </a:ext>
                  </a:extLst>
                </p:cNvPr>
                <p:cNvSpPr txBox="1">
                  <a:spLocks noRot="1" noChangeAspect="1" noMove="1" noResize="1" noEditPoints="1" noAdjustHandles="1" noChangeArrowheads="1" noChangeShapeType="1" noTextEdit="1"/>
                </p:cNvSpPr>
                <p:nvPr/>
              </p:nvSpPr>
              <p:spPr>
                <a:xfrm>
                  <a:off x="2887328" y="3381731"/>
                  <a:ext cx="291042" cy="276999"/>
                </a:xfrm>
                <a:prstGeom prst="rect">
                  <a:avLst/>
                </a:prstGeom>
                <a:blipFill>
                  <a:blip r:embed="rId6"/>
                  <a:stretch>
                    <a:fillRect l="-27660" r="-27660" b="-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C13E620C-5F18-CE55-8AB1-6EF7616ED551}"/>
                    </a:ext>
                  </a:extLst>
                </p:cNvPr>
                <p:cNvSpPr txBox="1"/>
                <p:nvPr/>
              </p:nvSpPr>
              <p:spPr>
                <a:xfrm>
                  <a:off x="4933709" y="3381731"/>
                  <a:ext cx="2857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49" name="文本框 48">
                  <a:extLst>
                    <a:ext uri="{FF2B5EF4-FFF2-40B4-BE49-F238E27FC236}">
                      <a16:creationId xmlns:a16="http://schemas.microsoft.com/office/drawing/2014/main" id="{C13E620C-5F18-CE55-8AB1-6EF7616ED551}"/>
                    </a:ext>
                  </a:extLst>
                </p:cNvPr>
                <p:cNvSpPr txBox="1">
                  <a:spLocks noRot="1" noChangeAspect="1" noMove="1" noResize="1" noEditPoints="1" noAdjustHandles="1" noChangeArrowheads="1" noChangeShapeType="1" noTextEdit="1"/>
                </p:cNvSpPr>
                <p:nvPr/>
              </p:nvSpPr>
              <p:spPr>
                <a:xfrm>
                  <a:off x="4933709" y="3381731"/>
                  <a:ext cx="285719" cy="276999"/>
                </a:xfrm>
                <a:prstGeom prst="rect">
                  <a:avLst/>
                </a:prstGeom>
                <a:blipFill>
                  <a:blip r:embed="rId7"/>
                  <a:stretch>
                    <a:fillRect l="-25532" r="-25532" b="-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57E5851C-CDF0-C544-7DD3-730F32304723}"/>
                    </a:ext>
                  </a:extLst>
                </p:cNvPr>
                <p:cNvSpPr txBox="1"/>
                <p:nvPr/>
              </p:nvSpPr>
              <p:spPr>
                <a:xfrm>
                  <a:off x="6860793" y="3381731"/>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50" name="文本框 49">
                  <a:extLst>
                    <a:ext uri="{FF2B5EF4-FFF2-40B4-BE49-F238E27FC236}">
                      <a16:creationId xmlns:a16="http://schemas.microsoft.com/office/drawing/2014/main" id="{57E5851C-CDF0-C544-7DD3-730F32304723}"/>
                    </a:ext>
                  </a:extLst>
                </p:cNvPr>
                <p:cNvSpPr txBox="1">
                  <a:spLocks noRot="1" noChangeAspect="1" noMove="1" noResize="1" noEditPoints="1" noAdjustHandles="1" noChangeArrowheads="1" noChangeShapeType="1" noTextEdit="1"/>
                </p:cNvSpPr>
                <p:nvPr/>
              </p:nvSpPr>
              <p:spPr>
                <a:xfrm>
                  <a:off x="6860793" y="3381731"/>
                  <a:ext cx="291042" cy="276999"/>
                </a:xfrm>
                <a:prstGeom prst="rect">
                  <a:avLst/>
                </a:prstGeom>
                <a:blipFill>
                  <a:blip r:embed="rId8"/>
                  <a:stretch>
                    <a:fillRect l="-25000" r="-25000" b="-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062C486A-8E49-A5FD-DAC9-10CA20CF2061}"/>
                    </a:ext>
                  </a:extLst>
                </p:cNvPr>
                <p:cNvSpPr txBox="1"/>
                <p:nvPr/>
              </p:nvSpPr>
              <p:spPr>
                <a:xfrm>
                  <a:off x="8905136" y="3381731"/>
                  <a:ext cx="3107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zh-CN" altLang="en-US" dirty="0"/>
                </a:p>
              </p:txBody>
            </p:sp>
          </mc:Choice>
          <mc:Fallback xmlns="">
            <p:sp>
              <p:nvSpPr>
                <p:cNvPr id="51" name="文本框 50">
                  <a:extLst>
                    <a:ext uri="{FF2B5EF4-FFF2-40B4-BE49-F238E27FC236}">
                      <a16:creationId xmlns:a16="http://schemas.microsoft.com/office/drawing/2014/main" id="{062C486A-8E49-A5FD-DAC9-10CA20CF2061}"/>
                    </a:ext>
                  </a:extLst>
                </p:cNvPr>
                <p:cNvSpPr txBox="1">
                  <a:spLocks noRot="1" noChangeAspect="1" noMove="1" noResize="1" noEditPoints="1" noAdjustHandles="1" noChangeArrowheads="1" noChangeShapeType="1" noTextEdit="1"/>
                </p:cNvSpPr>
                <p:nvPr/>
              </p:nvSpPr>
              <p:spPr>
                <a:xfrm>
                  <a:off x="8905136" y="3381731"/>
                  <a:ext cx="310726" cy="276999"/>
                </a:xfrm>
                <a:prstGeom prst="rect">
                  <a:avLst/>
                </a:prstGeom>
                <a:blipFill>
                  <a:blip r:embed="rId9"/>
                  <a:stretch>
                    <a:fillRect l="-25490" r="-23529" b="-5777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FE9C5202-EA63-8591-690A-0792C578D158}"/>
                  </a:ext>
                </a:extLst>
              </p:cNvPr>
              <p:cNvSpPr txBox="1"/>
              <p:nvPr/>
            </p:nvSpPr>
            <p:spPr>
              <a:xfrm>
                <a:off x="2887328" y="5231842"/>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52" name="文本框 51">
                <a:extLst>
                  <a:ext uri="{FF2B5EF4-FFF2-40B4-BE49-F238E27FC236}">
                    <a16:creationId xmlns:a16="http://schemas.microsoft.com/office/drawing/2014/main" id="{FE9C5202-EA63-8591-690A-0792C578D158}"/>
                  </a:ext>
                </a:extLst>
              </p:cNvPr>
              <p:cNvSpPr txBox="1">
                <a:spLocks noRot="1" noChangeAspect="1" noMove="1" noResize="1" noEditPoints="1" noAdjustHandles="1" noChangeArrowheads="1" noChangeShapeType="1" noTextEdit="1"/>
              </p:cNvSpPr>
              <p:nvPr/>
            </p:nvSpPr>
            <p:spPr>
              <a:xfrm>
                <a:off x="2887328" y="5231842"/>
                <a:ext cx="291042" cy="276999"/>
              </a:xfrm>
              <a:prstGeom prst="rect">
                <a:avLst/>
              </a:prstGeom>
              <a:blipFill>
                <a:blip r:embed="rId10"/>
                <a:stretch>
                  <a:fillRect l="-27660" r="-27660" b="-5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D04F3300-962F-082C-6637-BCBACD656F62}"/>
                  </a:ext>
                </a:extLst>
              </p:cNvPr>
              <p:cNvSpPr txBox="1"/>
              <p:nvPr/>
            </p:nvSpPr>
            <p:spPr>
              <a:xfrm>
                <a:off x="4933709" y="5231842"/>
                <a:ext cx="2857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53" name="文本框 52">
                <a:extLst>
                  <a:ext uri="{FF2B5EF4-FFF2-40B4-BE49-F238E27FC236}">
                    <a16:creationId xmlns:a16="http://schemas.microsoft.com/office/drawing/2014/main" id="{D04F3300-962F-082C-6637-BCBACD656F62}"/>
                  </a:ext>
                </a:extLst>
              </p:cNvPr>
              <p:cNvSpPr txBox="1">
                <a:spLocks noRot="1" noChangeAspect="1" noMove="1" noResize="1" noEditPoints="1" noAdjustHandles="1" noChangeArrowheads="1" noChangeShapeType="1" noTextEdit="1"/>
              </p:cNvSpPr>
              <p:nvPr/>
            </p:nvSpPr>
            <p:spPr>
              <a:xfrm>
                <a:off x="4933709" y="5231842"/>
                <a:ext cx="285719" cy="276999"/>
              </a:xfrm>
              <a:prstGeom prst="rect">
                <a:avLst/>
              </a:prstGeom>
              <a:blipFill>
                <a:blip r:embed="rId11"/>
                <a:stretch>
                  <a:fillRect l="-25532" r="-25532" b="-5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2D9C338D-79B8-A5D5-6BE9-AFC14C9159B4}"/>
                  </a:ext>
                </a:extLst>
              </p:cNvPr>
              <p:cNvSpPr txBox="1"/>
              <p:nvPr/>
            </p:nvSpPr>
            <p:spPr>
              <a:xfrm>
                <a:off x="6860793" y="5231842"/>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54" name="文本框 53">
                <a:extLst>
                  <a:ext uri="{FF2B5EF4-FFF2-40B4-BE49-F238E27FC236}">
                    <a16:creationId xmlns:a16="http://schemas.microsoft.com/office/drawing/2014/main" id="{2D9C338D-79B8-A5D5-6BE9-AFC14C9159B4}"/>
                  </a:ext>
                </a:extLst>
              </p:cNvPr>
              <p:cNvSpPr txBox="1">
                <a:spLocks noRot="1" noChangeAspect="1" noMove="1" noResize="1" noEditPoints="1" noAdjustHandles="1" noChangeArrowheads="1" noChangeShapeType="1" noTextEdit="1"/>
              </p:cNvSpPr>
              <p:nvPr/>
            </p:nvSpPr>
            <p:spPr>
              <a:xfrm>
                <a:off x="6860793" y="5231842"/>
                <a:ext cx="291042" cy="276999"/>
              </a:xfrm>
              <a:prstGeom prst="rect">
                <a:avLst/>
              </a:prstGeom>
              <a:blipFill>
                <a:blip r:embed="rId12"/>
                <a:stretch>
                  <a:fillRect l="-25000" r="-25000" b="-5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F01A88EA-8344-8379-3B13-917C3F6CC43E}"/>
                  </a:ext>
                </a:extLst>
              </p:cNvPr>
              <p:cNvSpPr txBox="1"/>
              <p:nvPr/>
            </p:nvSpPr>
            <p:spPr>
              <a:xfrm>
                <a:off x="8905136" y="5231842"/>
                <a:ext cx="3107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zh-CN" altLang="en-US" dirty="0"/>
              </a:p>
            </p:txBody>
          </p:sp>
        </mc:Choice>
        <mc:Fallback xmlns="">
          <p:sp>
            <p:nvSpPr>
              <p:cNvPr id="55" name="文本框 54">
                <a:extLst>
                  <a:ext uri="{FF2B5EF4-FFF2-40B4-BE49-F238E27FC236}">
                    <a16:creationId xmlns:a16="http://schemas.microsoft.com/office/drawing/2014/main" id="{F01A88EA-8344-8379-3B13-917C3F6CC43E}"/>
                  </a:ext>
                </a:extLst>
              </p:cNvPr>
              <p:cNvSpPr txBox="1">
                <a:spLocks noRot="1" noChangeAspect="1" noMove="1" noResize="1" noEditPoints="1" noAdjustHandles="1" noChangeArrowheads="1" noChangeShapeType="1" noTextEdit="1"/>
              </p:cNvSpPr>
              <p:nvPr/>
            </p:nvSpPr>
            <p:spPr>
              <a:xfrm>
                <a:off x="8905136" y="5231842"/>
                <a:ext cx="310726" cy="276999"/>
              </a:xfrm>
              <a:prstGeom prst="rect">
                <a:avLst/>
              </a:prstGeom>
              <a:blipFill>
                <a:blip r:embed="rId13"/>
                <a:stretch>
                  <a:fillRect l="-25490" r="-23529" b="-54348"/>
                </a:stretch>
              </a:blipFill>
            </p:spPr>
            <p:txBody>
              <a:bodyPr/>
              <a:lstStyle/>
              <a:p>
                <a:r>
                  <a:rPr lang="zh-CN" altLang="en-US">
                    <a:noFill/>
                  </a:rPr>
                  <a:t> </a:t>
                </a:r>
              </a:p>
            </p:txBody>
          </p:sp>
        </mc:Fallback>
      </mc:AlternateContent>
      <p:sp>
        <p:nvSpPr>
          <p:cNvPr id="56" name="object 40">
            <a:extLst>
              <a:ext uri="{FF2B5EF4-FFF2-40B4-BE49-F238E27FC236}">
                <a16:creationId xmlns:a16="http://schemas.microsoft.com/office/drawing/2014/main" id="{2A881C7D-D3AC-D5EC-7658-7A4256676224}"/>
              </a:ext>
            </a:extLst>
          </p:cNvPr>
          <p:cNvSpPr txBox="1"/>
          <p:nvPr/>
        </p:nvSpPr>
        <p:spPr>
          <a:xfrm>
            <a:off x="10710418" y="4268165"/>
            <a:ext cx="984885" cy="941705"/>
          </a:xfrm>
          <a:prstGeom prst="rect">
            <a:avLst/>
          </a:prstGeom>
        </p:spPr>
        <p:txBody>
          <a:bodyPr vert="horz" wrap="square" lIns="0" tIns="13335" rIns="0" bIns="0" rtlCol="0">
            <a:spAutoFit/>
          </a:bodyPr>
          <a:lstStyle/>
          <a:p>
            <a:pPr marL="12700" marR="5080">
              <a:lnSpc>
                <a:spcPct val="100000"/>
              </a:lnSpc>
              <a:spcBef>
                <a:spcPts val="105"/>
              </a:spcBef>
            </a:pPr>
            <a:r>
              <a:rPr sz="2000" b="1" spc="-10" dirty="0">
                <a:solidFill>
                  <a:srgbClr val="538235"/>
                </a:solidFill>
                <a:latin typeface="Calibri"/>
                <a:cs typeface="Calibri"/>
              </a:rPr>
              <a:t>Reverse Diffusion Process</a:t>
            </a:r>
            <a:endParaRPr sz="2000" dirty="0">
              <a:latin typeface="Calibri"/>
              <a:cs typeface="Calibri"/>
            </a:endParaRPr>
          </a:p>
        </p:txBody>
      </p:sp>
    </p:spTree>
    <p:extLst>
      <p:ext uri="{BB962C8B-B14F-4D97-AF65-F5344CB8AC3E}">
        <p14:creationId xmlns:p14="http://schemas.microsoft.com/office/powerpoint/2010/main" val="4091057226"/>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right)">
                                      <p:cBhvr>
                                        <p:cTn id="24" dur="200"/>
                                        <p:tgtEl>
                                          <p:spTgt spid="20"/>
                                        </p:tgtEl>
                                      </p:cBhvr>
                                    </p:animEffect>
                                  </p:childTnLst>
                                </p:cTn>
                              </p:par>
                            </p:childTnLst>
                          </p:cTn>
                        </p:par>
                        <p:par>
                          <p:cTn id="25" fill="hold">
                            <p:stCondLst>
                              <p:cond delay="200"/>
                            </p:stCondLst>
                            <p:childTnLst>
                              <p:par>
                                <p:cTn id="26" presetID="22" presetClass="entr" presetSubtype="2" fill="hold" grpId="0"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right)">
                                      <p:cBhvr>
                                        <p:cTn id="28" dur="200"/>
                                        <p:tgtEl>
                                          <p:spTgt spid="23"/>
                                        </p:tgtEl>
                                      </p:cBhvr>
                                    </p:animEffect>
                                  </p:childTnLst>
                                </p:cTn>
                              </p:par>
                            </p:childTnLst>
                          </p:cTn>
                        </p:par>
                        <p:par>
                          <p:cTn id="29" fill="hold">
                            <p:stCondLst>
                              <p:cond delay="400"/>
                            </p:stCondLst>
                            <p:childTnLst>
                              <p:par>
                                <p:cTn id="30" presetID="22" presetClass="entr" presetSubtype="2"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200"/>
                                        <p:tgtEl>
                                          <p:spTgt spid="22"/>
                                        </p:tgtEl>
                                      </p:cBhvr>
                                    </p:animEffect>
                                  </p:childTnLst>
                                </p:cTn>
                              </p:par>
                            </p:childTnLst>
                          </p:cTn>
                        </p:par>
                        <p:par>
                          <p:cTn id="33" fill="hold">
                            <p:stCondLst>
                              <p:cond delay="600"/>
                            </p:stCondLst>
                            <p:childTnLst>
                              <p:par>
                                <p:cTn id="34" presetID="22" presetClass="entr" presetSubtype="2"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right)">
                                      <p:cBhvr>
                                        <p:cTn id="36" dur="200"/>
                                        <p:tgtEl>
                                          <p:spTgt spid="21"/>
                                        </p:tgtEl>
                                      </p:cBhvr>
                                    </p:animEffect>
                                  </p:childTnLst>
                                </p:cTn>
                              </p:par>
                            </p:childTnLst>
                          </p:cTn>
                        </p:par>
                        <p:par>
                          <p:cTn id="37" fill="hold">
                            <p:stCondLst>
                              <p:cond delay="800"/>
                            </p:stCondLst>
                            <p:childTnLst>
                              <p:par>
                                <p:cTn id="38" presetID="22" presetClass="entr" presetSubtype="2"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right)">
                                      <p:cBhvr>
                                        <p:cTn id="40" dur="200"/>
                                        <p:tgtEl>
                                          <p:spTgt spid="19"/>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fade">
                                      <p:cBhvr>
                                        <p:cTn id="47" dur="500"/>
                                        <p:tgtEl>
                                          <p:spTgt spid="54"/>
                                        </p:tgtEl>
                                      </p:cBhvr>
                                    </p:animEffect>
                                  </p:childTnLst>
                                </p:cTn>
                              </p:par>
                            </p:childTnLst>
                          </p:cTn>
                        </p:par>
                        <p:par>
                          <p:cTn id="48" fill="hold">
                            <p:stCondLst>
                              <p:cond delay="1500"/>
                            </p:stCondLst>
                            <p:childTnLst>
                              <p:par>
                                <p:cTn id="49" presetID="22" presetClass="entr" presetSubtype="2" fill="hold" grpId="0"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right)">
                                      <p:cBhvr>
                                        <p:cTn id="51" dur="500"/>
                                        <p:tgtEl>
                                          <p:spTgt spid="25"/>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500"/>
                                        <p:tgtEl>
                                          <p:spTgt spid="53"/>
                                        </p:tgtEl>
                                      </p:cBhvr>
                                    </p:animEffect>
                                  </p:childTnLst>
                                </p:cTn>
                              </p:par>
                            </p:childTnLst>
                          </p:cTn>
                        </p:par>
                        <p:par>
                          <p:cTn id="59" fill="hold">
                            <p:stCondLst>
                              <p:cond delay="2500"/>
                            </p:stCondLst>
                            <p:childTnLst>
                              <p:par>
                                <p:cTn id="60" presetID="22" presetClass="entr" presetSubtype="2" fill="hold" grpId="0" nodeType="after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right)">
                                      <p:cBhvr>
                                        <p:cTn id="62" dur="500"/>
                                        <p:tgtEl>
                                          <p:spTgt spid="24"/>
                                        </p:tgtEl>
                                      </p:cBhvr>
                                    </p:animEffect>
                                  </p:childTnLst>
                                </p:cTn>
                              </p:par>
                            </p:childTnLst>
                          </p:cTn>
                        </p:par>
                        <p:par>
                          <p:cTn id="63" fill="hold">
                            <p:stCondLst>
                              <p:cond delay="3000"/>
                            </p:stCondLst>
                            <p:childTnLst>
                              <p:par>
                                <p:cTn id="64" presetID="10" presetClass="entr" presetSubtype="0" fill="hold" nodeType="after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500"/>
                                        <p:tgtEl>
                                          <p:spTgt spid="3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fade">
                                      <p:cBhvr>
                                        <p:cTn id="69" dur="500"/>
                                        <p:tgtEl>
                                          <p:spTgt spid="5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animBg="1"/>
      <p:bldP spid="20" grpId="0" animBg="1"/>
      <p:bldP spid="21" grpId="0" animBg="1"/>
      <p:bldP spid="22" grpId="0" animBg="1"/>
      <p:bldP spid="23" grpId="0" animBg="1"/>
      <p:bldP spid="24" grpId="0" animBg="1"/>
      <p:bldP spid="25" grpId="0" animBg="1"/>
      <p:bldP spid="52" grpId="0"/>
      <p:bldP spid="53" grpId="0"/>
      <p:bldP spid="54" grpId="0"/>
      <p:bldP spid="55" grpId="0"/>
      <p:bldP spid="5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BD7C4-4EF1-E636-2A99-E923DDAB8FA2}"/>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DB16BCAD-BC1D-7CB3-D000-BC99F2ABF924}"/>
              </a:ext>
            </a:extLst>
          </p:cNvPr>
          <p:cNvSpPr>
            <a:spLocks noGrp="1"/>
          </p:cNvSpPr>
          <p:nvPr>
            <p:ph type="dt" sz="half" idx="10"/>
          </p:nvPr>
        </p:nvSpPr>
        <p:spPr/>
        <p:txBody>
          <a:bodyPr/>
          <a:lstStyle/>
          <a:p>
            <a:fld id="{0129A223-CDA2-4ADD-A070-BBC60E5C9F09}" type="datetime1">
              <a:rPr lang="zh-CN" altLang="en-US" smtClean="0"/>
              <a:t>2025/10/19</a:t>
            </a:fld>
            <a:endParaRPr lang="zh-CN" altLang="en-US" dirty="0"/>
          </a:p>
        </p:txBody>
      </p:sp>
      <p:sp>
        <p:nvSpPr>
          <p:cNvPr id="3" name="灯片编号占位符 2">
            <a:extLst>
              <a:ext uri="{FF2B5EF4-FFF2-40B4-BE49-F238E27FC236}">
                <a16:creationId xmlns:a16="http://schemas.microsoft.com/office/drawing/2014/main" id="{94A7E338-E608-7676-B340-01244209F4C3}"/>
              </a:ext>
            </a:extLst>
          </p:cNvPr>
          <p:cNvSpPr>
            <a:spLocks noGrp="1"/>
          </p:cNvSpPr>
          <p:nvPr>
            <p:ph type="sldNum" sz="quarter" idx="12"/>
          </p:nvPr>
        </p:nvSpPr>
        <p:spPr/>
        <p:txBody>
          <a:bodyPr/>
          <a:lstStyle/>
          <a:p>
            <a:fld id="{0C913308-F349-4B6D-A68A-DD1791B4A57B}" type="slidenum">
              <a:rPr lang="zh-CN" altLang="en-US" smtClean="0"/>
              <a:t>8</a:t>
            </a:fld>
            <a:endParaRPr lang="zh-CN" altLang="en-US"/>
          </a:p>
        </p:txBody>
      </p:sp>
      <p:sp>
        <p:nvSpPr>
          <p:cNvPr id="57" name="object 9">
            <a:extLst>
              <a:ext uri="{FF2B5EF4-FFF2-40B4-BE49-F238E27FC236}">
                <a16:creationId xmlns:a16="http://schemas.microsoft.com/office/drawing/2014/main" id="{8805C8DC-F218-91FB-ED48-07AF12978F25}"/>
              </a:ext>
            </a:extLst>
          </p:cNvPr>
          <p:cNvSpPr/>
          <p:nvPr/>
        </p:nvSpPr>
        <p:spPr>
          <a:xfrm>
            <a:off x="3872738" y="4981445"/>
            <a:ext cx="4495800" cy="1276207"/>
          </a:xfrm>
          <a:custGeom>
            <a:avLst/>
            <a:gdLst/>
            <a:ahLst/>
            <a:cxnLst/>
            <a:rect l="l" t="t" r="r" b="b"/>
            <a:pathLst>
              <a:path w="4495800" h="1580514">
                <a:moveTo>
                  <a:pt x="4232402" y="0"/>
                </a:moveTo>
                <a:lnTo>
                  <a:pt x="263398" y="0"/>
                </a:lnTo>
                <a:lnTo>
                  <a:pt x="216066" y="4245"/>
                </a:lnTo>
                <a:lnTo>
                  <a:pt x="171512" y="16485"/>
                </a:lnTo>
                <a:lnTo>
                  <a:pt x="130480" y="35973"/>
                </a:lnTo>
                <a:lnTo>
                  <a:pt x="93716" y="61966"/>
                </a:lnTo>
                <a:lnTo>
                  <a:pt x="61966" y="93716"/>
                </a:lnTo>
                <a:lnTo>
                  <a:pt x="35973" y="130480"/>
                </a:lnTo>
                <a:lnTo>
                  <a:pt x="16485" y="171512"/>
                </a:lnTo>
                <a:lnTo>
                  <a:pt x="4245" y="216066"/>
                </a:lnTo>
                <a:lnTo>
                  <a:pt x="0" y="263397"/>
                </a:lnTo>
                <a:lnTo>
                  <a:pt x="0" y="1316989"/>
                </a:lnTo>
                <a:lnTo>
                  <a:pt x="4245" y="1364334"/>
                </a:lnTo>
                <a:lnTo>
                  <a:pt x="16485" y="1408896"/>
                </a:lnTo>
                <a:lnTo>
                  <a:pt x="35973" y="1449929"/>
                </a:lnTo>
                <a:lnTo>
                  <a:pt x="61966" y="1486691"/>
                </a:lnTo>
                <a:lnTo>
                  <a:pt x="93716" y="1518438"/>
                </a:lnTo>
                <a:lnTo>
                  <a:pt x="130480" y="1544425"/>
                </a:lnTo>
                <a:lnTo>
                  <a:pt x="171512" y="1563908"/>
                </a:lnTo>
                <a:lnTo>
                  <a:pt x="216066" y="1576144"/>
                </a:lnTo>
                <a:lnTo>
                  <a:pt x="263398" y="1580388"/>
                </a:lnTo>
                <a:lnTo>
                  <a:pt x="4232402" y="1580388"/>
                </a:lnTo>
                <a:lnTo>
                  <a:pt x="4279733" y="1576144"/>
                </a:lnTo>
                <a:lnTo>
                  <a:pt x="4324287" y="1563908"/>
                </a:lnTo>
                <a:lnTo>
                  <a:pt x="4365319" y="1544425"/>
                </a:lnTo>
                <a:lnTo>
                  <a:pt x="4402083" y="1518438"/>
                </a:lnTo>
                <a:lnTo>
                  <a:pt x="4433833" y="1486691"/>
                </a:lnTo>
                <a:lnTo>
                  <a:pt x="4459826" y="1449929"/>
                </a:lnTo>
                <a:lnTo>
                  <a:pt x="4479314" y="1408896"/>
                </a:lnTo>
                <a:lnTo>
                  <a:pt x="4491554" y="1364334"/>
                </a:lnTo>
                <a:lnTo>
                  <a:pt x="4495800" y="1316989"/>
                </a:lnTo>
                <a:lnTo>
                  <a:pt x="4495800" y="263397"/>
                </a:lnTo>
                <a:lnTo>
                  <a:pt x="4491554" y="216066"/>
                </a:lnTo>
                <a:lnTo>
                  <a:pt x="4479314" y="171512"/>
                </a:lnTo>
                <a:lnTo>
                  <a:pt x="4459826" y="130480"/>
                </a:lnTo>
                <a:lnTo>
                  <a:pt x="4433833" y="93716"/>
                </a:lnTo>
                <a:lnTo>
                  <a:pt x="4402083" y="61966"/>
                </a:lnTo>
                <a:lnTo>
                  <a:pt x="4365319" y="35973"/>
                </a:lnTo>
                <a:lnTo>
                  <a:pt x="4324287" y="16485"/>
                </a:lnTo>
                <a:lnTo>
                  <a:pt x="4279733" y="4245"/>
                </a:lnTo>
                <a:lnTo>
                  <a:pt x="4232402" y="0"/>
                </a:lnTo>
                <a:close/>
              </a:path>
            </a:pathLst>
          </a:custGeom>
          <a:solidFill>
            <a:srgbClr val="538235">
              <a:alpha val="10978"/>
            </a:srgbClr>
          </a:solidFill>
          <a:ln>
            <a:solidFill>
              <a:schemeClr val="accent5"/>
            </a:solidFill>
          </a:ln>
        </p:spPr>
        <p:txBody>
          <a:bodyPr wrap="square" lIns="0" tIns="0" rIns="0" bIns="0" rtlCol="0"/>
          <a:lstStyle/>
          <a:p>
            <a:endParaRPr dirty="0"/>
          </a:p>
        </p:txBody>
      </p:sp>
      <p:sp>
        <p:nvSpPr>
          <p:cNvPr id="58" name="object 13">
            <a:extLst>
              <a:ext uri="{FF2B5EF4-FFF2-40B4-BE49-F238E27FC236}">
                <a16:creationId xmlns:a16="http://schemas.microsoft.com/office/drawing/2014/main" id="{AE304458-A597-D1AB-B9D0-8449A80B277C}"/>
              </a:ext>
            </a:extLst>
          </p:cNvPr>
          <p:cNvSpPr/>
          <p:nvPr/>
        </p:nvSpPr>
        <p:spPr>
          <a:xfrm>
            <a:off x="7205471" y="5548053"/>
            <a:ext cx="958850" cy="541020"/>
          </a:xfrm>
          <a:custGeom>
            <a:avLst/>
            <a:gdLst/>
            <a:ahLst/>
            <a:cxnLst/>
            <a:rect l="l" t="t" r="r" b="b"/>
            <a:pathLst>
              <a:path w="958850" h="541020">
                <a:moveTo>
                  <a:pt x="868426" y="0"/>
                </a:moveTo>
                <a:lnTo>
                  <a:pt x="90170" y="0"/>
                </a:lnTo>
                <a:lnTo>
                  <a:pt x="55078" y="7088"/>
                </a:lnTo>
                <a:lnTo>
                  <a:pt x="26416" y="26416"/>
                </a:lnTo>
                <a:lnTo>
                  <a:pt x="7088" y="55078"/>
                </a:lnTo>
                <a:lnTo>
                  <a:pt x="0" y="90169"/>
                </a:lnTo>
                <a:lnTo>
                  <a:pt x="0" y="450850"/>
                </a:lnTo>
                <a:lnTo>
                  <a:pt x="7088" y="485947"/>
                </a:lnTo>
                <a:lnTo>
                  <a:pt x="26415" y="514608"/>
                </a:lnTo>
                <a:lnTo>
                  <a:pt x="55078" y="533933"/>
                </a:lnTo>
                <a:lnTo>
                  <a:pt x="90170" y="541019"/>
                </a:lnTo>
                <a:lnTo>
                  <a:pt x="868426" y="541019"/>
                </a:lnTo>
                <a:lnTo>
                  <a:pt x="903517" y="533933"/>
                </a:lnTo>
                <a:lnTo>
                  <a:pt x="932179" y="514608"/>
                </a:lnTo>
                <a:lnTo>
                  <a:pt x="951507" y="485947"/>
                </a:lnTo>
                <a:lnTo>
                  <a:pt x="958596" y="450850"/>
                </a:lnTo>
                <a:lnTo>
                  <a:pt x="958596" y="90169"/>
                </a:lnTo>
                <a:lnTo>
                  <a:pt x="951507" y="55078"/>
                </a:lnTo>
                <a:lnTo>
                  <a:pt x="932179" y="26415"/>
                </a:lnTo>
                <a:lnTo>
                  <a:pt x="903517" y="7088"/>
                </a:lnTo>
                <a:lnTo>
                  <a:pt x="868426" y="0"/>
                </a:lnTo>
                <a:close/>
              </a:path>
            </a:pathLst>
          </a:custGeom>
          <a:solidFill>
            <a:srgbClr val="004B74">
              <a:alpha val="21174"/>
            </a:srgbClr>
          </a:solidFill>
        </p:spPr>
        <p:txBody>
          <a:bodyPr wrap="square" lIns="0" tIns="0" rIns="0" bIns="0" rtlCol="0"/>
          <a:lstStyle/>
          <a:p>
            <a:endParaRPr dirty="0"/>
          </a:p>
        </p:txBody>
      </p:sp>
      <p:grpSp>
        <p:nvGrpSpPr>
          <p:cNvPr id="59" name="object 2">
            <a:extLst>
              <a:ext uri="{FF2B5EF4-FFF2-40B4-BE49-F238E27FC236}">
                <a16:creationId xmlns:a16="http://schemas.microsoft.com/office/drawing/2014/main" id="{333D2F1D-589D-71E5-3F26-CF2E1391127B}"/>
              </a:ext>
            </a:extLst>
          </p:cNvPr>
          <p:cNvGrpSpPr/>
          <p:nvPr/>
        </p:nvGrpSpPr>
        <p:grpSpPr>
          <a:xfrm>
            <a:off x="4123944" y="5510446"/>
            <a:ext cx="586740" cy="581025"/>
            <a:chOff x="4123944" y="5239511"/>
            <a:chExt cx="586740" cy="581025"/>
          </a:xfrm>
        </p:grpSpPr>
        <p:pic>
          <p:nvPicPr>
            <p:cNvPr id="60" name="object 3">
              <a:extLst>
                <a:ext uri="{FF2B5EF4-FFF2-40B4-BE49-F238E27FC236}">
                  <a16:creationId xmlns:a16="http://schemas.microsoft.com/office/drawing/2014/main" id="{70142913-E92A-09FF-AA7E-531040928268}"/>
                </a:ext>
              </a:extLst>
            </p:cNvPr>
            <p:cNvPicPr/>
            <p:nvPr/>
          </p:nvPicPr>
          <p:blipFill>
            <a:blip r:embed="rId2" cstate="print"/>
            <a:stretch>
              <a:fillRect/>
            </a:stretch>
          </p:blipFill>
          <p:spPr>
            <a:xfrm>
              <a:off x="4127962" y="5241453"/>
              <a:ext cx="574683" cy="570664"/>
            </a:xfrm>
            <a:prstGeom prst="rect">
              <a:avLst/>
            </a:prstGeom>
          </p:spPr>
        </p:pic>
        <p:sp>
          <p:nvSpPr>
            <p:cNvPr id="61" name="object 4">
              <a:extLst>
                <a:ext uri="{FF2B5EF4-FFF2-40B4-BE49-F238E27FC236}">
                  <a16:creationId xmlns:a16="http://schemas.microsoft.com/office/drawing/2014/main" id="{CD3F7E06-0A75-667C-3556-A464001BB6AA}"/>
                </a:ext>
              </a:extLst>
            </p:cNvPr>
            <p:cNvSpPr/>
            <p:nvPr/>
          </p:nvSpPr>
          <p:spPr>
            <a:xfrm>
              <a:off x="4123944" y="5239511"/>
              <a:ext cx="586740" cy="581025"/>
            </a:xfrm>
            <a:custGeom>
              <a:avLst/>
              <a:gdLst/>
              <a:ahLst/>
              <a:cxnLst/>
              <a:rect l="l" t="t" r="r" b="b"/>
              <a:pathLst>
                <a:path w="586739" h="581025">
                  <a:moveTo>
                    <a:pt x="586739" y="0"/>
                  </a:moveTo>
                  <a:lnTo>
                    <a:pt x="0" y="0"/>
                  </a:lnTo>
                  <a:lnTo>
                    <a:pt x="0" y="580644"/>
                  </a:lnTo>
                  <a:lnTo>
                    <a:pt x="586739" y="580644"/>
                  </a:lnTo>
                  <a:lnTo>
                    <a:pt x="586739" y="0"/>
                  </a:lnTo>
                  <a:close/>
                </a:path>
              </a:pathLst>
            </a:custGeom>
            <a:solidFill>
              <a:srgbClr val="FFFFFF">
                <a:alpha val="45097"/>
              </a:srgbClr>
            </a:solidFill>
          </p:spPr>
          <p:txBody>
            <a:bodyPr wrap="square" lIns="0" tIns="0" rIns="0" bIns="0" rtlCol="0"/>
            <a:lstStyle/>
            <a:p>
              <a:endParaRPr/>
            </a:p>
          </p:txBody>
        </p:sp>
      </p:grpSp>
      <p:grpSp>
        <p:nvGrpSpPr>
          <p:cNvPr id="62" name="object 5">
            <a:extLst>
              <a:ext uri="{FF2B5EF4-FFF2-40B4-BE49-F238E27FC236}">
                <a16:creationId xmlns:a16="http://schemas.microsoft.com/office/drawing/2014/main" id="{8C478611-AE43-C781-B84D-9066DA9A12C2}"/>
              </a:ext>
            </a:extLst>
          </p:cNvPr>
          <p:cNvGrpSpPr/>
          <p:nvPr/>
        </p:nvGrpSpPr>
        <p:grpSpPr>
          <a:xfrm>
            <a:off x="5278373" y="2018962"/>
            <a:ext cx="1572895" cy="346075"/>
            <a:chOff x="5278373" y="1748027"/>
            <a:chExt cx="1572895" cy="346075"/>
          </a:xfrm>
        </p:grpSpPr>
        <p:sp>
          <p:nvSpPr>
            <p:cNvPr id="63" name="object 6">
              <a:extLst>
                <a:ext uri="{FF2B5EF4-FFF2-40B4-BE49-F238E27FC236}">
                  <a16:creationId xmlns:a16="http://schemas.microsoft.com/office/drawing/2014/main" id="{6D39DC60-D5F0-FD4A-0AD8-9045C7D31084}"/>
                </a:ext>
              </a:extLst>
            </p:cNvPr>
            <p:cNvSpPr/>
            <p:nvPr/>
          </p:nvSpPr>
          <p:spPr>
            <a:xfrm>
              <a:off x="5278373" y="1885441"/>
              <a:ext cx="1572895" cy="104775"/>
            </a:xfrm>
            <a:custGeom>
              <a:avLst/>
              <a:gdLst/>
              <a:ahLst/>
              <a:cxnLst/>
              <a:rect l="l" t="t" r="r" b="b"/>
              <a:pathLst>
                <a:path w="1572895" h="104775">
                  <a:moveTo>
                    <a:pt x="1467739" y="0"/>
                  </a:moveTo>
                  <a:lnTo>
                    <a:pt x="1467739" y="104775"/>
                  </a:lnTo>
                  <a:lnTo>
                    <a:pt x="1537504" y="69850"/>
                  </a:lnTo>
                  <a:lnTo>
                    <a:pt x="1485137" y="69850"/>
                  </a:lnTo>
                  <a:lnTo>
                    <a:pt x="1485137" y="34925"/>
                  </a:lnTo>
                  <a:lnTo>
                    <a:pt x="1537673" y="34925"/>
                  </a:lnTo>
                  <a:lnTo>
                    <a:pt x="1467739" y="0"/>
                  </a:lnTo>
                  <a:close/>
                </a:path>
                <a:path w="1572895" h="104775">
                  <a:moveTo>
                    <a:pt x="1467739" y="34925"/>
                  </a:moveTo>
                  <a:lnTo>
                    <a:pt x="0" y="34925"/>
                  </a:lnTo>
                  <a:lnTo>
                    <a:pt x="0" y="69850"/>
                  </a:lnTo>
                  <a:lnTo>
                    <a:pt x="1467739" y="69850"/>
                  </a:lnTo>
                  <a:lnTo>
                    <a:pt x="1467739" y="34925"/>
                  </a:lnTo>
                  <a:close/>
                </a:path>
                <a:path w="1572895" h="104775">
                  <a:moveTo>
                    <a:pt x="1537673" y="34925"/>
                  </a:moveTo>
                  <a:lnTo>
                    <a:pt x="1485137" y="34925"/>
                  </a:lnTo>
                  <a:lnTo>
                    <a:pt x="1485137" y="69850"/>
                  </a:lnTo>
                  <a:lnTo>
                    <a:pt x="1537504" y="69850"/>
                  </a:lnTo>
                  <a:lnTo>
                    <a:pt x="1572514" y="52324"/>
                  </a:lnTo>
                  <a:lnTo>
                    <a:pt x="1537673" y="34925"/>
                  </a:lnTo>
                  <a:close/>
                </a:path>
              </a:pathLst>
            </a:custGeom>
            <a:solidFill>
              <a:srgbClr val="6F2F9F"/>
            </a:solidFill>
          </p:spPr>
          <p:txBody>
            <a:bodyPr wrap="square" lIns="0" tIns="0" rIns="0" bIns="0" rtlCol="0"/>
            <a:lstStyle/>
            <a:p>
              <a:endParaRPr/>
            </a:p>
          </p:txBody>
        </p:sp>
        <p:sp>
          <p:nvSpPr>
            <p:cNvPr id="64" name="object 7">
              <a:extLst>
                <a:ext uri="{FF2B5EF4-FFF2-40B4-BE49-F238E27FC236}">
                  <a16:creationId xmlns:a16="http://schemas.microsoft.com/office/drawing/2014/main" id="{476F55A3-C202-11FF-691C-01BDA1DB6E74}"/>
                </a:ext>
              </a:extLst>
            </p:cNvPr>
            <p:cNvSpPr/>
            <p:nvPr/>
          </p:nvSpPr>
          <p:spPr>
            <a:xfrm>
              <a:off x="5516879" y="1748027"/>
              <a:ext cx="929640" cy="346075"/>
            </a:xfrm>
            <a:custGeom>
              <a:avLst/>
              <a:gdLst/>
              <a:ahLst/>
              <a:cxnLst/>
              <a:rect l="l" t="t" r="r" b="b"/>
              <a:pathLst>
                <a:path w="929639" h="346075">
                  <a:moveTo>
                    <a:pt x="929639" y="0"/>
                  </a:moveTo>
                  <a:lnTo>
                    <a:pt x="0" y="0"/>
                  </a:lnTo>
                  <a:lnTo>
                    <a:pt x="0" y="345948"/>
                  </a:lnTo>
                  <a:lnTo>
                    <a:pt x="929639" y="345948"/>
                  </a:lnTo>
                  <a:lnTo>
                    <a:pt x="929639" y="0"/>
                  </a:lnTo>
                  <a:close/>
                </a:path>
              </a:pathLst>
            </a:custGeom>
            <a:solidFill>
              <a:srgbClr val="FFFFFF"/>
            </a:solidFill>
          </p:spPr>
          <p:txBody>
            <a:bodyPr wrap="square" lIns="0" tIns="0" rIns="0" bIns="0" rtlCol="0"/>
            <a:lstStyle/>
            <a:p>
              <a:endParaRPr/>
            </a:p>
          </p:txBody>
        </p:sp>
      </p:grpSp>
      <p:pic>
        <p:nvPicPr>
          <p:cNvPr id="65" name="object 16">
            <a:extLst>
              <a:ext uri="{FF2B5EF4-FFF2-40B4-BE49-F238E27FC236}">
                <a16:creationId xmlns:a16="http://schemas.microsoft.com/office/drawing/2014/main" id="{147B271B-9365-20D1-87D5-08990F21A395}"/>
              </a:ext>
            </a:extLst>
          </p:cNvPr>
          <p:cNvPicPr/>
          <p:nvPr/>
        </p:nvPicPr>
        <p:blipFill>
          <a:blip r:embed="rId3" cstate="print"/>
          <a:stretch>
            <a:fillRect/>
          </a:stretch>
        </p:blipFill>
        <p:spPr>
          <a:xfrm>
            <a:off x="2377826" y="2814884"/>
            <a:ext cx="229705" cy="169428"/>
          </a:xfrm>
          <a:prstGeom prst="rect">
            <a:avLst/>
          </a:prstGeom>
        </p:spPr>
      </p:pic>
      <p:grpSp>
        <p:nvGrpSpPr>
          <p:cNvPr id="66" name="object 17">
            <a:extLst>
              <a:ext uri="{FF2B5EF4-FFF2-40B4-BE49-F238E27FC236}">
                <a16:creationId xmlns:a16="http://schemas.microsoft.com/office/drawing/2014/main" id="{4A9A0258-76EC-EF96-0864-89D9C56882AE}"/>
              </a:ext>
            </a:extLst>
          </p:cNvPr>
          <p:cNvGrpSpPr/>
          <p:nvPr/>
        </p:nvGrpSpPr>
        <p:grpSpPr>
          <a:xfrm>
            <a:off x="4206611" y="2814884"/>
            <a:ext cx="356870" cy="168275"/>
            <a:chOff x="4206611" y="2543949"/>
            <a:chExt cx="356870" cy="168275"/>
          </a:xfrm>
        </p:grpSpPr>
        <p:pic>
          <p:nvPicPr>
            <p:cNvPr id="67" name="object 18">
              <a:extLst>
                <a:ext uri="{FF2B5EF4-FFF2-40B4-BE49-F238E27FC236}">
                  <a16:creationId xmlns:a16="http://schemas.microsoft.com/office/drawing/2014/main" id="{B47FBC45-3A65-7C8B-F297-84D0453E46DF}"/>
                </a:ext>
              </a:extLst>
            </p:cNvPr>
            <p:cNvPicPr/>
            <p:nvPr/>
          </p:nvPicPr>
          <p:blipFill>
            <a:blip r:embed="rId4" cstate="print"/>
            <a:stretch>
              <a:fillRect/>
            </a:stretch>
          </p:blipFill>
          <p:spPr>
            <a:xfrm>
              <a:off x="4206611" y="2543949"/>
              <a:ext cx="202565" cy="167844"/>
            </a:xfrm>
            <a:prstGeom prst="rect">
              <a:avLst/>
            </a:prstGeom>
          </p:spPr>
        </p:pic>
        <p:sp>
          <p:nvSpPr>
            <p:cNvPr id="68" name="object 19">
              <a:extLst>
                <a:ext uri="{FF2B5EF4-FFF2-40B4-BE49-F238E27FC236}">
                  <a16:creationId xmlns:a16="http://schemas.microsoft.com/office/drawing/2014/main" id="{B11CBE9F-1E27-8855-99A4-8774DDE43E94}"/>
                </a:ext>
              </a:extLst>
            </p:cNvPr>
            <p:cNvSpPr/>
            <p:nvPr/>
          </p:nvSpPr>
          <p:spPr>
            <a:xfrm>
              <a:off x="4447307" y="2659540"/>
              <a:ext cx="116205" cy="6350"/>
            </a:xfrm>
            <a:custGeom>
              <a:avLst/>
              <a:gdLst/>
              <a:ahLst/>
              <a:cxnLst/>
              <a:rect l="l" t="t" r="r" b="b"/>
              <a:pathLst>
                <a:path w="116204" h="6350">
                  <a:moveTo>
                    <a:pt x="114545" y="0"/>
                  </a:moveTo>
                  <a:lnTo>
                    <a:pt x="3177" y="0"/>
                  </a:lnTo>
                  <a:lnTo>
                    <a:pt x="1417" y="0"/>
                  </a:lnTo>
                  <a:lnTo>
                    <a:pt x="0" y="1418"/>
                  </a:lnTo>
                  <a:lnTo>
                    <a:pt x="0" y="4915"/>
                  </a:lnTo>
                  <a:lnTo>
                    <a:pt x="1417" y="6333"/>
                  </a:lnTo>
                  <a:lnTo>
                    <a:pt x="114545" y="6333"/>
                  </a:lnTo>
                  <a:lnTo>
                    <a:pt x="115963" y="4915"/>
                  </a:lnTo>
                  <a:lnTo>
                    <a:pt x="115963" y="1418"/>
                  </a:lnTo>
                  <a:lnTo>
                    <a:pt x="114545" y="0"/>
                  </a:lnTo>
                  <a:close/>
                </a:path>
              </a:pathLst>
            </a:custGeom>
            <a:solidFill>
              <a:srgbClr val="000000"/>
            </a:solidFill>
          </p:spPr>
          <p:txBody>
            <a:bodyPr wrap="square" lIns="0" tIns="0" rIns="0" bIns="0" rtlCol="0"/>
            <a:lstStyle/>
            <a:p>
              <a:endParaRPr/>
            </a:p>
          </p:txBody>
        </p:sp>
      </p:grpSp>
      <p:pic>
        <p:nvPicPr>
          <p:cNvPr id="69" name="object 20">
            <a:extLst>
              <a:ext uri="{FF2B5EF4-FFF2-40B4-BE49-F238E27FC236}">
                <a16:creationId xmlns:a16="http://schemas.microsoft.com/office/drawing/2014/main" id="{0ADD16C4-35FB-39FF-F585-03B14F6D64FD}"/>
              </a:ext>
            </a:extLst>
          </p:cNvPr>
          <p:cNvPicPr/>
          <p:nvPr/>
        </p:nvPicPr>
        <p:blipFill>
          <a:blip r:embed="rId5" cstate="print"/>
          <a:stretch>
            <a:fillRect/>
          </a:stretch>
        </p:blipFill>
        <p:spPr>
          <a:xfrm>
            <a:off x="4609344" y="2869513"/>
            <a:ext cx="64344" cy="110840"/>
          </a:xfrm>
          <a:prstGeom prst="rect">
            <a:avLst/>
          </a:prstGeom>
        </p:spPr>
      </p:pic>
      <p:pic>
        <p:nvPicPr>
          <p:cNvPr id="70" name="object 21">
            <a:extLst>
              <a:ext uri="{FF2B5EF4-FFF2-40B4-BE49-F238E27FC236}">
                <a16:creationId xmlns:a16="http://schemas.microsoft.com/office/drawing/2014/main" id="{D9426B9D-6460-330D-3623-80A8919D38EF}"/>
              </a:ext>
            </a:extLst>
          </p:cNvPr>
          <p:cNvPicPr/>
          <p:nvPr/>
        </p:nvPicPr>
        <p:blipFill>
          <a:blip r:embed="rId6" cstate="print"/>
          <a:stretch>
            <a:fillRect/>
          </a:stretch>
        </p:blipFill>
        <p:spPr>
          <a:xfrm>
            <a:off x="7609400" y="2813912"/>
            <a:ext cx="200371" cy="168453"/>
          </a:xfrm>
          <a:prstGeom prst="rect">
            <a:avLst/>
          </a:prstGeom>
        </p:spPr>
      </p:pic>
      <p:sp>
        <p:nvSpPr>
          <p:cNvPr id="71" name="object 22">
            <a:extLst>
              <a:ext uri="{FF2B5EF4-FFF2-40B4-BE49-F238E27FC236}">
                <a16:creationId xmlns:a16="http://schemas.microsoft.com/office/drawing/2014/main" id="{9CF1B549-A87D-1E21-7845-B29E2116D159}"/>
              </a:ext>
            </a:extLst>
          </p:cNvPr>
          <p:cNvSpPr/>
          <p:nvPr/>
        </p:nvSpPr>
        <p:spPr>
          <a:xfrm>
            <a:off x="8551707" y="2194255"/>
            <a:ext cx="33655" cy="32384"/>
          </a:xfrm>
          <a:custGeom>
            <a:avLst/>
            <a:gdLst/>
            <a:ahLst/>
            <a:cxnLst/>
            <a:rect l="l" t="t" r="r" b="b"/>
            <a:pathLst>
              <a:path w="33654" h="32385">
                <a:moveTo>
                  <a:pt x="16785" y="0"/>
                </a:moveTo>
                <a:lnTo>
                  <a:pt x="10390" y="803"/>
                </a:lnTo>
                <a:lnTo>
                  <a:pt x="4796" y="4741"/>
                </a:lnTo>
                <a:lnTo>
                  <a:pt x="1599" y="9467"/>
                </a:lnTo>
                <a:lnTo>
                  <a:pt x="0" y="15785"/>
                </a:lnTo>
                <a:lnTo>
                  <a:pt x="1599" y="22100"/>
                </a:lnTo>
                <a:lnTo>
                  <a:pt x="4796" y="27623"/>
                </a:lnTo>
                <a:lnTo>
                  <a:pt x="10390" y="30781"/>
                </a:lnTo>
                <a:lnTo>
                  <a:pt x="16785" y="32359"/>
                </a:lnTo>
                <a:lnTo>
                  <a:pt x="23179" y="30781"/>
                </a:lnTo>
                <a:lnTo>
                  <a:pt x="28775" y="27624"/>
                </a:lnTo>
                <a:lnTo>
                  <a:pt x="32772" y="22100"/>
                </a:lnTo>
                <a:lnTo>
                  <a:pt x="33570" y="15785"/>
                </a:lnTo>
                <a:lnTo>
                  <a:pt x="32772" y="9468"/>
                </a:lnTo>
                <a:lnTo>
                  <a:pt x="28775" y="4741"/>
                </a:lnTo>
                <a:lnTo>
                  <a:pt x="23179" y="803"/>
                </a:lnTo>
                <a:lnTo>
                  <a:pt x="16785" y="0"/>
                </a:lnTo>
                <a:close/>
              </a:path>
            </a:pathLst>
          </a:custGeom>
          <a:solidFill>
            <a:srgbClr val="000000"/>
          </a:solidFill>
        </p:spPr>
        <p:txBody>
          <a:bodyPr wrap="square" lIns="0" tIns="0" rIns="0" bIns="0" rtlCol="0"/>
          <a:lstStyle/>
          <a:p>
            <a:endParaRPr/>
          </a:p>
        </p:txBody>
      </p:sp>
      <p:sp>
        <p:nvSpPr>
          <p:cNvPr id="72" name="object 23">
            <a:extLst>
              <a:ext uri="{FF2B5EF4-FFF2-40B4-BE49-F238E27FC236}">
                <a16:creationId xmlns:a16="http://schemas.microsoft.com/office/drawing/2014/main" id="{4DB39D9B-727F-B30B-F593-72631976B9BE}"/>
              </a:ext>
            </a:extLst>
          </p:cNvPr>
          <p:cNvSpPr/>
          <p:nvPr/>
        </p:nvSpPr>
        <p:spPr>
          <a:xfrm>
            <a:off x="8630040" y="2194255"/>
            <a:ext cx="33655" cy="32384"/>
          </a:xfrm>
          <a:custGeom>
            <a:avLst/>
            <a:gdLst/>
            <a:ahLst/>
            <a:cxnLst/>
            <a:rect l="l" t="t" r="r" b="b"/>
            <a:pathLst>
              <a:path w="33654" h="32385">
                <a:moveTo>
                  <a:pt x="16785" y="0"/>
                </a:moveTo>
                <a:lnTo>
                  <a:pt x="10390" y="803"/>
                </a:lnTo>
                <a:lnTo>
                  <a:pt x="5595" y="4741"/>
                </a:lnTo>
                <a:lnTo>
                  <a:pt x="1599" y="9467"/>
                </a:lnTo>
                <a:lnTo>
                  <a:pt x="0" y="15785"/>
                </a:lnTo>
                <a:lnTo>
                  <a:pt x="1599" y="22100"/>
                </a:lnTo>
                <a:lnTo>
                  <a:pt x="5595" y="27623"/>
                </a:lnTo>
                <a:lnTo>
                  <a:pt x="10390" y="30781"/>
                </a:lnTo>
                <a:lnTo>
                  <a:pt x="16785" y="32359"/>
                </a:lnTo>
                <a:lnTo>
                  <a:pt x="23979" y="30781"/>
                </a:lnTo>
                <a:lnTo>
                  <a:pt x="28775" y="27624"/>
                </a:lnTo>
                <a:lnTo>
                  <a:pt x="32772" y="22100"/>
                </a:lnTo>
                <a:lnTo>
                  <a:pt x="33571" y="15785"/>
                </a:lnTo>
                <a:lnTo>
                  <a:pt x="32772" y="9468"/>
                </a:lnTo>
                <a:lnTo>
                  <a:pt x="28775" y="4741"/>
                </a:lnTo>
                <a:lnTo>
                  <a:pt x="23979" y="803"/>
                </a:lnTo>
                <a:lnTo>
                  <a:pt x="16785" y="0"/>
                </a:lnTo>
                <a:close/>
              </a:path>
            </a:pathLst>
          </a:custGeom>
          <a:solidFill>
            <a:srgbClr val="000000"/>
          </a:solidFill>
        </p:spPr>
        <p:txBody>
          <a:bodyPr wrap="square" lIns="0" tIns="0" rIns="0" bIns="0" rtlCol="0"/>
          <a:lstStyle/>
          <a:p>
            <a:endParaRPr/>
          </a:p>
        </p:txBody>
      </p:sp>
      <p:sp>
        <p:nvSpPr>
          <p:cNvPr id="73" name="object 24">
            <a:extLst>
              <a:ext uri="{FF2B5EF4-FFF2-40B4-BE49-F238E27FC236}">
                <a16:creationId xmlns:a16="http://schemas.microsoft.com/office/drawing/2014/main" id="{F9A9B7E5-AA8C-7BA2-0777-E754A165C5CE}"/>
              </a:ext>
            </a:extLst>
          </p:cNvPr>
          <p:cNvSpPr/>
          <p:nvPr/>
        </p:nvSpPr>
        <p:spPr>
          <a:xfrm>
            <a:off x="8709167" y="2194255"/>
            <a:ext cx="33655" cy="32384"/>
          </a:xfrm>
          <a:custGeom>
            <a:avLst/>
            <a:gdLst/>
            <a:ahLst/>
            <a:cxnLst/>
            <a:rect l="l" t="t" r="r" b="b"/>
            <a:pathLst>
              <a:path w="33654" h="32385">
                <a:moveTo>
                  <a:pt x="16792" y="0"/>
                </a:moveTo>
                <a:lnTo>
                  <a:pt x="10395" y="803"/>
                </a:lnTo>
                <a:lnTo>
                  <a:pt x="4797" y="4741"/>
                </a:lnTo>
                <a:lnTo>
                  <a:pt x="799" y="9467"/>
                </a:lnTo>
                <a:lnTo>
                  <a:pt x="0" y="15785"/>
                </a:lnTo>
                <a:lnTo>
                  <a:pt x="799" y="22100"/>
                </a:lnTo>
                <a:lnTo>
                  <a:pt x="4797" y="27623"/>
                </a:lnTo>
                <a:lnTo>
                  <a:pt x="10395" y="30781"/>
                </a:lnTo>
                <a:lnTo>
                  <a:pt x="16792" y="32359"/>
                </a:lnTo>
                <a:lnTo>
                  <a:pt x="23189" y="30781"/>
                </a:lnTo>
                <a:lnTo>
                  <a:pt x="28786" y="27624"/>
                </a:lnTo>
                <a:lnTo>
                  <a:pt x="31985" y="22100"/>
                </a:lnTo>
                <a:lnTo>
                  <a:pt x="33568" y="15785"/>
                </a:lnTo>
                <a:lnTo>
                  <a:pt x="31985" y="9468"/>
                </a:lnTo>
                <a:lnTo>
                  <a:pt x="28786" y="4741"/>
                </a:lnTo>
                <a:lnTo>
                  <a:pt x="23189" y="803"/>
                </a:lnTo>
                <a:lnTo>
                  <a:pt x="16792" y="0"/>
                </a:lnTo>
                <a:close/>
              </a:path>
            </a:pathLst>
          </a:custGeom>
          <a:solidFill>
            <a:srgbClr val="000000"/>
          </a:solidFill>
        </p:spPr>
        <p:txBody>
          <a:bodyPr wrap="square" lIns="0" tIns="0" rIns="0" bIns="0" rtlCol="0"/>
          <a:lstStyle/>
          <a:p>
            <a:endParaRPr/>
          </a:p>
        </p:txBody>
      </p:sp>
      <p:pic>
        <p:nvPicPr>
          <p:cNvPr id="74" name="object 25">
            <a:extLst>
              <a:ext uri="{FF2B5EF4-FFF2-40B4-BE49-F238E27FC236}">
                <a16:creationId xmlns:a16="http://schemas.microsoft.com/office/drawing/2014/main" id="{BAE0434E-EE21-9DF4-55A2-236C0DBB4E2D}"/>
              </a:ext>
            </a:extLst>
          </p:cNvPr>
          <p:cNvPicPr/>
          <p:nvPr/>
        </p:nvPicPr>
        <p:blipFill>
          <a:blip r:embed="rId7" cstate="print"/>
          <a:stretch>
            <a:fillRect/>
          </a:stretch>
        </p:blipFill>
        <p:spPr>
          <a:xfrm>
            <a:off x="9523797" y="2814884"/>
            <a:ext cx="262473" cy="165470"/>
          </a:xfrm>
          <a:prstGeom prst="rect">
            <a:avLst/>
          </a:prstGeom>
        </p:spPr>
      </p:pic>
      <p:pic>
        <p:nvPicPr>
          <p:cNvPr id="75" name="object 26">
            <a:extLst>
              <a:ext uri="{FF2B5EF4-FFF2-40B4-BE49-F238E27FC236}">
                <a16:creationId xmlns:a16="http://schemas.microsoft.com/office/drawing/2014/main" id="{FA92073D-D565-955C-3384-A68DAE8AA4B9}"/>
              </a:ext>
            </a:extLst>
          </p:cNvPr>
          <p:cNvPicPr/>
          <p:nvPr/>
        </p:nvPicPr>
        <p:blipFill>
          <a:blip r:embed="rId8" cstate="print">
            <a:extLst>
              <a:ext uri="{28A0092B-C50C-407E-A947-70E740481C1C}">
                <a14:useLocalDpi xmlns:a14="http://schemas.microsoft.com/office/drawing/2010/main" val="0"/>
              </a:ext>
            </a:extLst>
          </a:blip>
          <a:srcRect/>
          <a:stretch/>
        </p:blipFill>
        <p:spPr>
          <a:xfrm>
            <a:off x="1990344" y="1727116"/>
            <a:ext cx="960119" cy="960119"/>
          </a:xfrm>
          <a:prstGeom prst="rect">
            <a:avLst/>
          </a:prstGeom>
        </p:spPr>
      </p:pic>
      <p:pic>
        <p:nvPicPr>
          <p:cNvPr id="76" name="object 27">
            <a:extLst>
              <a:ext uri="{FF2B5EF4-FFF2-40B4-BE49-F238E27FC236}">
                <a16:creationId xmlns:a16="http://schemas.microsoft.com/office/drawing/2014/main" id="{659985DC-7189-41D3-AAF4-E7A8A54A754D}"/>
              </a:ext>
            </a:extLst>
          </p:cNvPr>
          <p:cNvPicPr/>
          <p:nvPr/>
        </p:nvPicPr>
        <p:blipFill>
          <a:blip r:embed="rId9" cstate="print">
            <a:extLst>
              <a:ext uri="{28A0092B-C50C-407E-A947-70E740481C1C}">
                <a14:useLocalDpi xmlns:a14="http://schemas.microsoft.com/office/drawing/2010/main" val="0"/>
              </a:ext>
            </a:extLst>
          </a:blip>
          <a:srcRect/>
          <a:stretch/>
        </p:blipFill>
        <p:spPr>
          <a:xfrm>
            <a:off x="3936491" y="1727116"/>
            <a:ext cx="960119" cy="960119"/>
          </a:xfrm>
          <a:prstGeom prst="rect">
            <a:avLst/>
          </a:prstGeom>
        </p:spPr>
      </p:pic>
      <p:pic>
        <p:nvPicPr>
          <p:cNvPr id="77" name="object 28">
            <a:extLst>
              <a:ext uri="{FF2B5EF4-FFF2-40B4-BE49-F238E27FC236}">
                <a16:creationId xmlns:a16="http://schemas.microsoft.com/office/drawing/2014/main" id="{F17A6B8E-789D-75CE-EB1F-D2EC75764798}"/>
              </a:ext>
            </a:extLst>
          </p:cNvPr>
          <p:cNvPicPr/>
          <p:nvPr/>
        </p:nvPicPr>
        <p:blipFill>
          <a:blip r:embed="rId10" cstate="print">
            <a:extLst>
              <a:ext uri="{28A0092B-C50C-407E-A947-70E740481C1C}">
                <a14:useLocalDpi xmlns:a14="http://schemas.microsoft.com/office/drawing/2010/main" val="0"/>
              </a:ext>
            </a:extLst>
          </a:blip>
          <a:srcRect/>
          <a:stretch/>
        </p:blipFill>
        <p:spPr>
          <a:xfrm>
            <a:off x="7205471" y="1726354"/>
            <a:ext cx="961643" cy="961643"/>
          </a:xfrm>
          <a:prstGeom prst="rect">
            <a:avLst/>
          </a:prstGeom>
        </p:spPr>
      </p:pic>
      <p:pic>
        <p:nvPicPr>
          <p:cNvPr id="78" name="object 29">
            <a:extLst>
              <a:ext uri="{FF2B5EF4-FFF2-40B4-BE49-F238E27FC236}">
                <a16:creationId xmlns:a16="http://schemas.microsoft.com/office/drawing/2014/main" id="{A761B007-7A29-66FC-A4C7-664A2B21B9EA}"/>
              </a:ext>
            </a:extLst>
          </p:cNvPr>
          <p:cNvPicPr/>
          <p:nvPr/>
        </p:nvPicPr>
        <p:blipFill>
          <a:blip r:embed="rId11" cstate="print">
            <a:extLst>
              <a:ext uri="{28A0092B-C50C-407E-A947-70E740481C1C}">
                <a14:useLocalDpi xmlns:a14="http://schemas.microsoft.com/office/drawing/2010/main" val="0"/>
              </a:ext>
            </a:extLst>
          </a:blip>
          <a:srcRect/>
          <a:stretch/>
        </p:blipFill>
        <p:spPr>
          <a:xfrm>
            <a:off x="9151619" y="1726354"/>
            <a:ext cx="961643" cy="961643"/>
          </a:xfrm>
          <a:prstGeom prst="rect">
            <a:avLst/>
          </a:prstGeom>
        </p:spPr>
      </p:pic>
      <p:sp>
        <p:nvSpPr>
          <p:cNvPr id="79" name="object 30">
            <a:extLst>
              <a:ext uri="{FF2B5EF4-FFF2-40B4-BE49-F238E27FC236}">
                <a16:creationId xmlns:a16="http://schemas.microsoft.com/office/drawing/2014/main" id="{558D017B-FC77-6D5D-8AE1-FD58E5A8AC13}"/>
              </a:ext>
            </a:extLst>
          </p:cNvPr>
          <p:cNvSpPr txBox="1"/>
          <p:nvPr/>
        </p:nvSpPr>
        <p:spPr>
          <a:xfrm>
            <a:off x="1257427" y="2042204"/>
            <a:ext cx="505459" cy="330835"/>
          </a:xfrm>
          <a:prstGeom prst="rect">
            <a:avLst/>
          </a:prstGeom>
        </p:spPr>
        <p:txBody>
          <a:bodyPr vert="horz" wrap="square" lIns="0" tIns="13335" rIns="0" bIns="0" rtlCol="0">
            <a:spAutoFit/>
          </a:bodyPr>
          <a:lstStyle/>
          <a:p>
            <a:pPr marL="12700">
              <a:lnSpc>
                <a:spcPct val="100000"/>
              </a:lnSpc>
              <a:spcBef>
                <a:spcPts val="105"/>
              </a:spcBef>
            </a:pPr>
            <a:r>
              <a:rPr sz="2000" spc="-20" dirty="0">
                <a:latin typeface="Calibri"/>
                <a:cs typeface="Calibri"/>
              </a:rPr>
              <a:t>Data</a:t>
            </a:r>
            <a:endParaRPr sz="2000">
              <a:latin typeface="Calibri"/>
              <a:cs typeface="Calibri"/>
            </a:endParaRPr>
          </a:p>
        </p:txBody>
      </p:sp>
      <p:sp>
        <p:nvSpPr>
          <p:cNvPr id="80" name="object 31">
            <a:extLst>
              <a:ext uri="{FF2B5EF4-FFF2-40B4-BE49-F238E27FC236}">
                <a16:creationId xmlns:a16="http://schemas.microsoft.com/office/drawing/2014/main" id="{B7E7CCC7-46F5-12B1-661F-967F7A3A1AA3}"/>
              </a:ext>
            </a:extLst>
          </p:cNvPr>
          <p:cNvSpPr txBox="1"/>
          <p:nvPr/>
        </p:nvSpPr>
        <p:spPr>
          <a:xfrm>
            <a:off x="10359643" y="2042204"/>
            <a:ext cx="608330"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libri"/>
                <a:cs typeface="Calibri"/>
              </a:rPr>
              <a:t>Noise</a:t>
            </a:r>
            <a:endParaRPr sz="2000">
              <a:latin typeface="Calibri"/>
              <a:cs typeface="Calibri"/>
            </a:endParaRPr>
          </a:p>
        </p:txBody>
      </p:sp>
      <p:sp>
        <p:nvSpPr>
          <p:cNvPr id="81" name="object 32">
            <a:extLst>
              <a:ext uri="{FF2B5EF4-FFF2-40B4-BE49-F238E27FC236}">
                <a16:creationId xmlns:a16="http://schemas.microsoft.com/office/drawing/2014/main" id="{B9962805-EA12-2877-BBE7-6EE6860E93CE}"/>
              </a:ext>
            </a:extLst>
          </p:cNvPr>
          <p:cNvSpPr/>
          <p:nvPr/>
        </p:nvSpPr>
        <p:spPr>
          <a:xfrm>
            <a:off x="8811006" y="2156249"/>
            <a:ext cx="257175" cy="104775"/>
          </a:xfrm>
          <a:custGeom>
            <a:avLst/>
            <a:gdLst/>
            <a:ahLst/>
            <a:cxnLst/>
            <a:rect l="l" t="t" r="r" b="b"/>
            <a:pathLst>
              <a:path w="257175" h="104775">
                <a:moveTo>
                  <a:pt x="152146" y="0"/>
                </a:moveTo>
                <a:lnTo>
                  <a:pt x="152146" y="104775"/>
                </a:lnTo>
                <a:lnTo>
                  <a:pt x="221826" y="69976"/>
                </a:lnTo>
                <a:lnTo>
                  <a:pt x="169672" y="69976"/>
                </a:lnTo>
                <a:lnTo>
                  <a:pt x="169672" y="35051"/>
                </a:lnTo>
                <a:lnTo>
                  <a:pt x="222165" y="35051"/>
                </a:lnTo>
                <a:lnTo>
                  <a:pt x="152146" y="0"/>
                </a:lnTo>
                <a:close/>
              </a:path>
              <a:path w="257175" h="104775">
                <a:moveTo>
                  <a:pt x="152146" y="35051"/>
                </a:moveTo>
                <a:lnTo>
                  <a:pt x="0" y="35051"/>
                </a:lnTo>
                <a:lnTo>
                  <a:pt x="0" y="69976"/>
                </a:lnTo>
                <a:lnTo>
                  <a:pt x="152146" y="69976"/>
                </a:lnTo>
                <a:lnTo>
                  <a:pt x="152146" y="35051"/>
                </a:lnTo>
                <a:close/>
              </a:path>
              <a:path w="257175" h="104775">
                <a:moveTo>
                  <a:pt x="222165" y="35051"/>
                </a:moveTo>
                <a:lnTo>
                  <a:pt x="169672" y="35051"/>
                </a:lnTo>
                <a:lnTo>
                  <a:pt x="169672" y="69976"/>
                </a:lnTo>
                <a:lnTo>
                  <a:pt x="221826" y="69976"/>
                </a:lnTo>
                <a:lnTo>
                  <a:pt x="256921" y="52450"/>
                </a:lnTo>
                <a:lnTo>
                  <a:pt x="222165" y="35051"/>
                </a:lnTo>
                <a:close/>
              </a:path>
            </a:pathLst>
          </a:custGeom>
          <a:solidFill>
            <a:srgbClr val="6F2F9F"/>
          </a:solidFill>
        </p:spPr>
        <p:txBody>
          <a:bodyPr wrap="square" lIns="0" tIns="0" rIns="0" bIns="0" rtlCol="0"/>
          <a:lstStyle/>
          <a:p>
            <a:endParaRPr/>
          </a:p>
        </p:txBody>
      </p:sp>
      <p:sp>
        <p:nvSpPr>
          <p:cNvPr id="82" name="object 33">
            <a:extLst>
              <a:ext uri="{FF2B5EF4-FFF2-40B4-BE49-F238E27FC236}">
                <a16:creationId xmlns:a16="http://schemas.microsoft.com/office/drawing/2014/main" id="{172F1572-DE58-3EF1-F81D-AF49A0BCD0CD}"/>
              </a:ext>
            </a:extLst>
          </p:cNvPr>
          <p:cNvSpPr/>
          <p:nvPr/>
        </p:nvSpPr>
        <p:spPr>
          <a:xfrm>
            <a:off x="8245602" y="2208701"/>
            <a:ext cx="246379" cy="0"/>
          </a:xfrm>
          <a:custGeom>
            <a:avLst/>
            <a:gdLst/>
            <a:ahLst/>
            <a:cxnLst/>
            <a:rect l="l" t="t" r="r" b="b"/>
            <a:pathLst>
              <a:path w="246379">
                <a:moveTo>
                  <a:pt x="0" y="0"/>
                </a:moveTo>
                <a:lnTo>
                  <a:pt x="245872" y="0"/>
                </a:lnTo>
              </a:path>
            </a:pathLst>
          </a:custGeom>
          <a:ln w="34925">
            <a:solidFill>
              <a:srgbClr val="6F2F9F"/>
            </a:solidFill>
          </a:ln>
        </p:spPr>
        <p:txBody>
          <a:bodyPr wrap="square" lIns="0" tIns="0" rIns="0" bIns="0" rtlCol="0"/>
          <a:lstStyle/>
          <a:p>
            <a:endParaRPr/>
          </a:p>
        </p:txBody>
      </p:sp>
      <p:sp>
        <p:nvSpPr>
          <p:cNvPr id="83" name="object 34">
            <a:extLst>
              <a:ext uri="{FF2B5EF4-FFF2-40B4-BE49-F238E27FC236}">
                <a16:creationId xmlns:a16="http://schemas.microsoft.com/office/drawing/2014/main" id="{CEB18E34-A781-D100-C5DA-1A9F8BC03294}"/>
              </a:ext>
            </a:extLst>
          </p:cNvPr>
          <p:cNvSpPr/>
          <p:nvPr/>
        </p:nvSpPr>
        <p:spPr>
          <a:xfrm>
            <a:off x="3333531" y="2194255"/>
            <a:ext cx="33655" cy="32384"/>
          </a:xfrm>
          <a:custGeom>
            <a:avLst/>
            <a:gdLst/>
            <a:ahLst/>
            <a:cxnLst/>
            <a:rect l="l" t="t" r="r" b="b"/>
            <a:pathLst>
              <a:path w="33654" h="32385">
                <a:moveTo>
                  <a:pt x="16785" y="0"/>
                </a:moveTo>
                <a:lnTo>
                  <a:pt x="10390" y="803"/>
                </a:lnTo>
                <a:lnTo>
                  <a:pt x="4796" y="4741"/>
                </a:lnTo>
                <a:lnTo>
                  <a:pt x="1599" y="9467"/>
                </a:lnTo>
                <a:lnTo>
                  <a:pt x="0" y="15785"/>
                </a:lnTo>
                <a:lnTo>
                  <a:pt x="1599" y="22100"/>
                </a:lnTo>
                <a:lnTo>
                  <a:pt x="4796" y="27623"/>
                </a:lnTo>
                <a:lnTo>
                  <a:pt x="10390" y="30781"/>
                </a:lnTo>
                <a:lnTo>
                  <a:pt x="16785" y="32359"/>
                </a:lnTo>
                <a:lnTo>
                  <a:pt x="23179" y="30781"/>
                </a:lnTo>
                <a:lnTo>
                  <a:pt x="28775" y="27624"/>
                </a:lnTo>
                <a:lnTo>
                  <a:pt x="32772" y="22100"/>
                </a:lnTo>
                <a:lnTo>
                  <a:pt x="33570" y="15785"/>
                </a:lnTo>
                <a:lnTo>
                  <a:pt x="32772" y="9468"/>
                </a:lnTo>
                <a:lnTo>
                  <a:pt x="28775" y="4741"/>
                </a:lnTo>
                <a:lnTo>
                  <a:pt x="23179" y="803"/>
                </a:lnTo>
                <a:lnTo>
                  <a:pt x="16785" y="0"/>
                </a:lnTo>
                <a:close/>
              </a:path>
            </a:pathLst>
          </a:custGeom>
          <a:solidFill>
            <a:srgbClr val="000000"/>
          </a:solidFill>
        </p:spPr>
        <p:txBody>
          <a:bodyPr wrap="square" lIns="0" tIns="0" rIns="0" bIns="0" rtlCol="0"/>
          <a:lstStyle/>
          <a:p>
            <a:endParaRPr/>
          </a:p>
        </p:txBody>
      </p:sp>
      <p:sp>
        <p:nvSpPr>
          <p:cNvPr id="84" name="object 35">
            <a:extLst>
              <a:ext uri="{FF2B5EF4-FFF2-40B4-BE49-F238E27FC236}">
                <a16:creationId xmlns:a16="http://schemas.microsoft.com/office/drawing/2014/main" id="{1370D0D4-F41D-9A83-403D-581EE435C49F}"/>
              </a:ext>
            </a:extLst>
          </p:cNvPr>
          <p:cNvSpPr/>
          <p:nvPr/>
        </p:nvSpPr>
        <p:spPr>
          <a:xfrm>
            <a:off x="3411864" y="2194255"/>
            <a:ext cx="33655" cy="32384"/>
          </a:xfrm>
          <a:custGeom>
            <a:avLst/>
            <a:gdLst/>
            <a:ahLst/>
            <a:cxnLst/>
            <a:rect l="l" t="t" r="r" b="b"/>
            <a:pathLst>
              <a:path w="33654" h="32385">
                <a:moveTo>
                  <a:pt x="16785" y="0"/>
                </a:moveTo>
                <a:lnTo>
                  <a:pt x="10390" y="803"/>
                </a:lnTo>
                <a:lnTo>
                  <a:pt x="5595" y="4741"/>
                </a:lnTo>
                <a:lnTo>
                  <a:pt x="1599" y="9467"/>
                </a:lnTo>
                <a:lnTo>
                  <a:pt x="0" y="15785"/>
                </a:lnTo>
                <a:lnTo>
                  <a:pt x="1599" y="22100"/>
                </a:lnTo>
                <a:lnTo>
                  <a:pt x="5595" y="27623"/>
                </a:lnTo>
                <a:lnTo>
                  <a:pt x="10390" y="30781"/>
                </a:lnTo>
                <a:lnTo>
                  <a:pt x="16785" y="32359"/>
                </a:lnTo>
                <a:lnTo>
                  <a:pt x="23979" y="30781"/>
                </a:lnTo>
                <a:lnTo>
                  <a:pt x="28775" y="27624"/>
                </a:lnTo>
                <a:lnTo>
                  <a:pt x="32772" y="22100"/>
                </a:lnTo>
                <a:lnTo>
                  <a:pt x="33571" y="15785"/>
                </a:lnTo>
                <a:lnTo>
                  <a:pt x="32772" y="9468"/>
                </a:lnTo>
                <a:lnTo>
                  <a:pt x="28775" y="4741"/>
                </a:lnTo>
                <a:lnTo>
                  <a:pt x="23979" y="803"/>
                </a:lnTo>
                <a:lnTo>
                  <a:pt x="16785" y="0"/>
                </a:lnTo>
                <a:close/>
              </a:path>
            </a:pathLst>
          </a:custGeom>
          <a:solidFill>
            <a:srgbClr val="000000"/>
          </a:solidFill>
        </p:spPr>
        <p:txBody>
          <a:bodyPr wrap="square" lIns="0" tIns="0" rIns="0" bIns="0" rtlCol="0"/>
          <a:lstStyle/>
          <a:p>
            <a:endParaRPr/>
          </a:p>
        </p:txBody>
      </p:sp>
      <p:sp>
        <p:nvSpPr>
          <p:cNvPr id="85" name="object 36">
            <a:extLst>
              <a:ext uri="{FF2B5EF4-FFF2-40B4-BE49-F238E27FC236}">
                <a16:creationId xmlns:a16="http://schemas.microsoft.com/office/drawing/2014/main" id="{561A42B0-B626-172C-30EB-2E764DAFFC7D}"/>
              </a:ext>
            </a:extLst>
          </p:cNvPr>
          <p:cNvSpPr/>
          <p:nvPr/>
        </p:nvSpPr>
        <p:spPr>
          <a:xfrm>
            <a:off x="3490991" y="2194255"/>
            <a:ext cx="33655" cy="32384"/>
          </a:xfrm>
          <a:custGeom>
            <a:avLst/>
            <a:gdLst/>
            <a:ahLst/>
            <a:cxnLst/>
            <a:rect l="l" t="t" r="r" b="b"/>
            <a:pathLst>
              <a:path w="33654" h="32385">
                <a:moveTo>
                  <a:pt x="16792" y="0"/>
                </a:moveTo>
                <a:lnTo>
                  <a:pt x="10395" y="803"/>
                </a:lnTo>
                <a:lnTo>
                  <a:pt x="4797" y="4741"/>
                </a:lnTo>
                <a:lnTo>
                  <a:pt x="799" y="9467"/>
                </a:lnTo>
                <a:lnTo>
                  <a:pt x="0" y="15785"/>
                </a:lnTo>
                <a:lnTo>
                  <a:pt x="799" y="22100"/>
                </a:lnTo>
                <a:lnTo>
                  <a:pt x="4797" y="27623"/>
                </a:lnTo>
                <a:lnTo>
                  <a:pt x="10395" y="30781"/>
                </a:lnTo>
                <a:lnTo>
                  <a:pt x="16792" y="32359"/>
                </a:lnTo>
                <a:lnTo>
                  <a:pt x="23189" y="30781"/>
                </a:lnTo>
                <a:lnTo>
                  <a:pt x="28786" y="27624"/>
                </a:lnTo>
                <a:lnTo>
                  <a:pt x="31985" y="22100"/>
                </a:lnTo>
                <a:lnTo>
                  <a:pt x="33568" y="15785"/>
                </a:lnTo>
                <a:lnTo>
                  <a:pt x="31985" y="9468"/>
                </a:lnTo>
                <a:lnTo>
                  <a:pt x="28786" y="4741"/>
                </a:lnTo>
                <a:lnTo>
                  <a:pt x="23189" y="803"/>
                </a:lnTo>
                <a:lnTo>
                  <a:pt x="16792" y="0"/>
                </a:lnTo>
                <a:close/>
              </a:path>
            </a:pathLst>
          </a:custGeom>
          <a:solidFill>
            <a:srgbClr val="000000"/>
          </a:solidFill>
        </p:spPr>
        <p:txBody>
          <a:bodyPr wrap="square" lIns="0" tIns="0" rIns="0" bIns="0" rtlCol="0"/>
          <a:lstStyle/>
          <a:p>
            <a:endParaRPr/>
          </a:p>
        </p:txBody>
      </p:sp>
      <p:sp>
        <p:nvSpPr>
          <p:cNvPr id="86" name="object 37">
            <a:extLst>
              <a:ext uri="{FF2B5EF4-FFF2-40B4-BE49-F238E27FC236}">
                <a16:creationId xmlns:a16="http://schemas.microsoft.com/office/drawing/2014/main" id="{1002BDF1-6BF6-4C09-E520-00AB2C44548E}"/>
              </a:ext>
            </a:extLst>
          </p:cNvPr>
          <p:cNvSpPr/>
          <p:nvPr/>
        </p:nvSpPr>
        <p:spPr>
          <a:xfrm>
            <a:off x="3592829" y="2156249"/>
            <a:ext cx="257175" cy="104775"/>
          </a:xfrm>
          <a:custGeom>
            <a:avLst/>
            <a:gdLst/>
            <a:ahLst/>
            <a:cxnLst/>
            <a:rect l="l" t="t" r="r" b="b"/>
            <a:pathLst>
              <a:path w="257175" h="104775">
                <a:moveTo>
                  <a:pt x="152146" y="0"/>
                </a:moveTo>
                <a:lnTo>
                  <a:pt x="152146" y="104775"/>
                </a:lnTo>
                <a:lnTo>
                  <a:pt x="221826" y="69976"/>
                </a:lnTo>
                <a:lnTo>
                  <a:pt x="169672" y="69976"/>
                </a:lnTo>
                <a:lnTo>
                  <a:pt x="169672" y="35051"/>
                </a:lnTo>
                <a:lnTo>
                  <a:pt x="222165" y="35051"/>
                </a:lnTo>
                <a:lnTo>
                  <a:pt x="152146" y="0"/>
                </a:lnTo>
                <a:close/>
              </a:path>
              <a:path w="257175" h="104775">
                <a:moveTo>
                  <a:pt x="152146" y="35051"/>
                </a:moveTo>
                <a:lnTo>
                  <a:pt x="0" y="35051"/>
                </a:lnTo>
                <a:lnTo>
                  <a:pt x="0" y="69976"/>
                </a:lnTo>
                <a:lnTo>
                  <a:pt x="152146" y="69976"/>
                </a:lnTo>
                <a:lnTo>
                  <a:pt x="152146" y="35051"/>
                </a:lnTo>
                <a:close/>
              </a:path>
              <a:path w="257175" h="104775">
                <a:moveTo>
                  <a:pt x="222165" y="35051"/>
                </a:moveTo>
                <a:lnTo>
                  <a:pt x="169672" y="35051"/>
                </a:lnTo>
                <a:lnTo>
                  <a:pt x="169672" y="69976"/>
                </a:lnTo>
                <a:lnTo>
                  <a:pt x="221826" y="69976"/>
                </a:lnTo>
                <a:lnTo>
                  <a:pt x="256921" y="52450"/>
                </a:lnTo>
                <a:lnTo>
                  <a:pt x="222165" y="35051"/>
                </a:lnTo>
                <a:close/>
              </a:path>
            </a:pathLst>
          </a:custGeom>
          <a:solidFill>
            <a:srgbClr val="6F2F9F"/>
          </a:solidFill>
        </p:spPr>
        <p:txBody>
          <a:bodyPr wrap="square" lIns="0" tIns="0" rIns="0" bIns="0" rtlCol="0"/>
          <a:lstStyle/>
          <a:p>
            <a:endParaRPr/>
          </a:p>
        </p:txBody>
      </p:sp>
      <p:sp>
        <p:nvSpPr>
          <p:cNvPr id="87" name="object 38">
            <a:extLst>
              <a:ext uri="{FF2B5EF4-FFF2-40B4-BE49-F238E27FC236}">
                <a16:creationId xmlns:a16="http://schemas.microsoft.com/office/drawing/2014/main" id="{5E3C5BE5-49E0-97E3-AF46-01C06013EF70}"/>
              </a:ext>
            </a:extLst>
          </p:cNvPr>
          <p:cNvSpPr/>
          <p:nvPr/>
        </p:nvSpPr>
        <p:spPr>
          <a:xfrm>
            <a:off x="3027426" y="2208701"/>
            <a:ext cx="246379" cy="0"/>
          </a:xfrm>
          <a:custGeom>
            <a:avLst/>
            <a:gdLst/>
            <a:ahLst/>
            <a:cxnLst/>
            <a:rect l="l" t="t" r="r" b="b"/>
            <a:pathLst>
              <a:path w="246379">
                <a:moveTo>
                  <a:pt x="0" y="0"/>
                </a:moveTo>
                <a:lnTo>
                  <a:pt x="245872" y="0"/>
                </a:lnTo>
              </a:path>
            </a:pathLst>
          </a:custGeom>
          <a:ln w="34925">
            <a:solidFill>
              <a:srgbClr val="6F2F9F"/>
            </a:solidFill>
          </a:ln>
        </p:spPr>
        <p:txBody>
          <a:bodyPr wrap="square" lIns="0" tIns="0" rIns="0" bIns="0" rtlCol="0"/>
          <a:lstStyle/>
          <a:p>
            <a:endParaRPr/>
          </a:p>
        </p:txBody>
      </p:sp>
      <p:grpSp>
        <p:nvGrpSpPr>
          <p:cNvPr id="88" name="object 39">
            <a:extLst>
              <a:ext uri="{FF2B5EF4-FFF2-40B4-BE49-F238E27FC236}">
                <a16:creationId xmlns:a16="http://schemas.microsoft.com/office/drawing/2014/main" id="{A2C1EB96-BB25-430B-412C-E39731E6F5F8}"/>
              </a:ext>
            </a:extLst>
          </p:cNvPr>
          <p:cNvGrpSpPr/>
          <p:nvPr/>
        </p:nvGrpSpPr>
        <p:grpSpPr>
          <a:xfrm>
            <a:off x="3137916" y="1439843"/>
            <a:ext cx="586740" cy="581025"/>
            <a:chOff x="3137916" y="1168908"/>
            <a:chExt cx="586740" cy="581025"/>
          </a:xfrm>
        </p:grpSpPr>
        <p:pic>
          <p:nvPicPr>
            <p:cNvPr id="89" name="object 40">
              <a:extLst>
                <a:ext uri="{FF2B5EF4-FFF2-40B4-BE49-F238E27FC236}">
                  <a16:creationId xmlns:a16="http://schemas.microsoft.com/office/drawing/2014/main" id="{30D46191-5270-0E0A-6D46-7CA739946522}"/>
                </a:ext>
              </a:extLst>
            </p:cNvPr>
            <p:cNvPicPr/>
            <p:nvPr/>
          </p:nvPicPr>
          <p:blipFill>
            <a:blip r:embed="rId2" cstate="print"/>
            <a:stretch>
              <a:fillRect/>
            </a:stretch>
          </p:blipFill>
          <p:spPr>
            <a:xfrm>
              <a:off x="3141934" y="1170849"/>
              <a:ext cx="574683" cy="570664"/>
            </a:xfrm>
            <a:prstGeom prst="rect">
              <a:avLst/>
            </a:prstGeom>
          </p:spPr>
        </p:pic>
        <p:sp>
          <p:nvSpPr>
            <p:cNvPr id="90" name="object 41">
              <a:extLst>
                <a:ext uri="{FF2B5EF4-FFF2-40B4-BE49-F238E27FC236}">
                  <a16:creationId xmlns:a16="http://schemas.microsoft.com/office/drawing/2014/main" id="{A5D0889D-F3EF-7D71-A0D7-BC0BC3BB7792}"/>
                </a:ext>
              </a:extLst>
            </p:cNvPr>
            <p:cNvSpPr/>
            <p:nvPr/>
          </p:nvSpPr>
          <p:spPr>
            <a:xfrm>
              <a:off x="3137916" y="1168908"/>
              <a:ext cx="586740" cy="581025"/>
            </a:xfrm>
            <a:custGeom>
              <a:avLst/>
              <a:gdLst/>
              <a:ahLst/>
              <a:cxnLst/>
              <a:rect l="l" t="t" r="r" b="b"/>
              <a:pathLst>
                <a:path w="586739" h="581025">
                  <a:moveTo>
                    <a:pt x="586740" y="0"/>
                  </a:moveTo>
                  <a:lnTo>
                    <a:pt x="0" y="0"/>
                  </a:lnTo>
                  <a:lnTo>
                    <a:pt x="0" y="580644"/>
                  </a:lnTo>
                  <a:lnTo>
                    <a:pt x="586740" y="580644"/>
                  </a:lnTo>
                  <a:lnTo>
                    <a:pt x="586740" y="0"/>
                  </a:lnTo>
                  <a:close/>
                </a:path>
              </a:pathLst>
            </a:custGeom>
            <a:solidFill>
              <a:srgbClr val="FFFFFF">
                <a:alpha val="45097"/>
              </a:srgbClr>
            </a:solidFill>
          </p:spPr>
          <p:txBody>
            <a:bodyPr wrap="square" lIns="0" tIns="0" rIns="0" bIns="0" rtlCol="0"/>
            <a:lstStyle/>
            <a:p>
              <a:endParaRPr/>
            </a:p>
          </p:txBody>
        </p:sp>
        <p:sp>
          <p:nvSpPr>
            <p:cNvPr id="91" name="object 42">
              <a:extLst>
                <a:ext uri="{FF2B5EF4-FFF2-40B4-BE49-F238E27FC236}">
                  <a16:creationId xmlns:a16="http://schemas.microsoft.com/office/drawing/2014/main" id="{1B20D50C-EE39-290D-132E-70E6E2207582}"/>
                </a:ext>
              </a:extLst>
            </p:cNvPr>
            <p:cNvSpPr/>
            <p:nvPr/>
          </p:nvSpPr>
          <p:spPr>
            <a:xfrm>
              <a:off x="3191256" y="1278635"/>
              <a:ext cx="500380" cy="339090"/>
            </a:xfrm>
            <a:custGeom>
              <a:avLst/>
              <a:gdLst/>
              <a:ahLst/>
              <a:cxnLst/>
              <a:rect l="l" t="t" r="r" b="b"/>
              <a:pathLst>
                <a:path w="500379" h="339090">
                  <a:moveTo>
                    <a:pt x="500126" y="272796"/>
                  </a:moveTo>
                  <a:lnTo>
                    <a:pt x="487426" y="266446"/>
                  </a:lnTo>
                  <a:lnTo>
                    <a:pt x="449326" y="247396"/>
                  </a:lnTo>
                  <a:lnTo>
                    <a:pt x="449326" y="266446"/>
                  </a:lnTo>
                  <a:lnTo>
                    <a:pt x="236474" y="266446"/>
                  </a:lnTo>
                  <a:lnTo>
                    <a:pt x="236474" y="50800"/>
                  </a:lnTo>
                  <a:lnTo>
                    <a:pt x="255524" y="50800"/>
                  </a:lnTo>
                  <a:lnTo>
                    <a:pt x="249174" y="38100"/>
                  </a:lnTo>
                  <a:lnTo>
                    <a:pt x="230124" y="0"/>
                  </a:lnTo>
                  <a:lnTo>
                    <a:pt x="204724" y="50800"/>
                  </a:lnTo>
                  <a:lnTo>
                    <a:pt x="223774" y="50800"/>
                  </a:lnTo>
                  <a:lnTo>
                    <a:pt x="223774" y="266446"/>
                  </a:lnTo>
                  <a:lnTo>
                    <a:pt x="0" y="266446"/>
                  </a:lnTo>
                  <a:lnTo>
                    <a:pt x="0" y="279146"/>
                  </a:lnTo>
                  <a:lnTo>
                    <a:pt x="223774" y="279146"/>
                  </a:lnTo>
                  <a:lnTo>
                    <a:pt x="223774" y="338709"/>
                  </a:lnTo>
                  <a:lnTo>
                    <a:pt x="236474" y="338709"/>
                  </a:lnTo>
                  <a:lnTo>
                    <a:pt x="236474" y="279146"/>
                  </a:lnTo>
                  <a:lnTo>
                    <a:pt x="449326" y="279146"/>
                  </a:lnTo>
                  <a:lnTo>
                    <a:pt x="449326" y="298196"/>
                  </a:lnTo>
                  <a:lnTo>
                    <a:pt x="487426" y="279146"/>
                  </a:lnTo>
                  <a:lnTo>
                    <a:pt x="500126" y="272796"/>
                  </a:lnTo>
                  <a:close/>
                </a:path>
              </a:pathLst>
            </a:custGeom>
            <a:solidFill>
              <a:srgbClr val="000000"/>
            </a:solidFill>
          </p:spPr>
          <p:txBody>
            <a:bodyPr wrap="square" lIns="0" tIns="0" rIns="0" bIns="0" rtlCol="0"/>
            <a:lstStyle/>
            <a:p>
              <a:endParaRPr/>
            </a:p>
          </p:txBody>
        </p:sp>
        <p:sp>
          <p:nvSpPr>
            <p:cNvPr id="92" name="object 43">
              <a:extLst>
                <a:ext uri="{FF2B5EF4-FFF2-40B4-BE49-F238E27FC236}">
                  <a16:creationId xmlns:a16="http://schemas.microsoft.com/office/drawing/2014/main" id="{2EF0D63D-476D-D6D5-9A06-A901CCD30F4E}"/>
                </a:ext>
              </a:extLst>
            </p:cNvPr>
            <p:cNvSpPr/>
            <p:nvPr/>
          </p:nvSpPr>
          <p:spPr>
            <a:xfrm>
              <a:off x="3262884" y="1363980"/>
              <a:ext cx="317500" cy="163195"/>
            </a:xfrm>
            <a:custGeom>
              <a:avLst/>
              <a:gdLst/>
              <a:ahLst/>
              <a:cxnLst/>
              <a:rect l="l" t="t" r="r" b="b"/>
              <a:pathLst>
                <a:path w="317500" h="163194">
                  <a:moveTo>
                    <a:pt x="0" y="163068"/>
                  </a:moveTo>
                  <a:lnTo>
                    <a:pt x="52555" y="141684"/>
                  </a:lnTo>
                  <a:lnTo>
                    <a:pt x="86562" y="108881"/>
                  </a:lnTo>
                  <a:lnTo>
                    <a:pt x="108172" y="71485"/>
                  </a:lnTo>
                  <a:lnTo>
                    <a:pt x="123538" y="36321"/>
                  </a:lnTo>
                  <a:lnTo>
                    <a:pt x="138812" y="10218"/>
                  </a:lnTo>
                  <a:lnTo>
                    <a:pt x="160146" y="0"/>
                  </a:lnTo>
                  <a:lnTo>
                    <a:pt x="181087" y="10182"/>
                  </a:lnTo>
                  <a:lnTo>
                    <a:pt x="195420" y="36209"/>
                  </a:lnTo>
                  <a:lnTo>
                    <a:pt x="209661" y="71294"/>
                  </a:lnTo>
                  <a:lnTo>
                    <a:pt x="230326" y="108655"/>
                  </a:lnTo>
                  <a:lnTo>
                    <a:pt x="263931" y="141507"/>
                  </a:lnTo>
                  <a:lnTo>
                    <a:pt x="316991" y="163068"/>
                  </a:lnTo>
                </a:path>
              </a:pathLst>
            </a:custGeom>
            <a:ln w="9524">
              <a:solidFill>
                <a:srgbClr val="C00000"/>
              </a:solidFill>
            </a:ln>
          </p:spPr>
          <p:txBody>
            <a:bodyPr wrap="square" lIns="0" tIns="0" rIns="0" bIns="0" rtlCol="0"/>
            <a:lstStyle/>
            <a:p>
              <a:endParaRPr/>
            </a:p>
          </p:txBody>
        </p:sp>
      </p:grpSp>
      <p:grpSp>
        <p:nvGrpSpPr>
          <p:cNvPr id="93" name="object 44">
            <a:extLst>
              <a:ext uri="{FF2B5EF4-FFF2-40B4-BE49-F238E27FC236}">
                <a16:creationId xmlns:a16="http://schemas.microsoft.com/office/drawing/2014/main" id="{26153F70-ABAA-3C79-0DCE-3272F2BEC315}"/>
              </a:ext>
            </a:extLst>
          </p:cNvPr>
          <p:cNvGrpSpPr/>
          <p:nvPr/>
        </p:nvGrpSpPr>
        <p:grpSpPr>
          <a:xfrm>
            <a:off x="8377428" y="1439843"/>
            <a:ext cx="586740" cy="581025"/>
            <a:chOff x="8377428" y="1168908"/>
            <a:chExt cx="586740" cy="581025"/>
          </a:xfrm>
        </p:grpSpPr>
        <p:pic>
          <p:nvPicPr>
            <p:cNvPr id="94" name="object 45">
              <a:extLst>
                <a:ext uri="{FF2B5EF4-FFF2-40B4-BE49-F238E27FC236}">
                  <a16:creationId xmlns:a16="http://schemas.microsoft.com/office/drawing/2014/main" id="{50DD7628-CDE2-D665-1514-256703F5AAFB}"/>
                </a:ext>
              </a:extLst>
            </p:cNvPr>
            <p:cNvPicPr/>
            <p:nvPr/>
          </p:nvPicPr>
          <p:blipFill>
            <a:blip r:embed="rId2" cstate="print"/>
            <a:stretch>
              <a:fillRect/>
            </a:stretch>
          </p:blipFill>
          <p:spPr>
            <a:xfrm>
              <a:off x="8381446" y="1170849"/>
              <a:ext cx="574683" cy="570664"/>
            </a:xfrm>
            <a:prstGeom prst="rect">
              <a:avLst/>
            </a:prstGeom>
          </p:spPr>
        </p:pic>
        <p:sp>
          <p:nvSpPr>
            <p:cNvPr id="95" name="object 46">
              <a:extLst>
                <a:ext uri="{FF2B5EF4-FFF2-40B4-BE49-F238E27FC236}">
                  <a16:creationId xmlns:a16="http://schemas.microsoft.com/office/drawing/2014/main" id="{EC128593-471F-24E9-3C15-A912E5EC88BE}"/>
                </a:ext>
              </a:extLst>
            </p:cNvPr>
            <p:cNvSpPr/>
            <p:nvPr/>
          </p:nvSpPr>
          <p:spPr>
            <a:xfrm>
              <a:off x="8377428" y="1168908"/>
              <a:ext cx="586740" cy="581025"/>
            </a:xfrm>
            <a:custGeom>
              <a:avLst/>
              <a:gdLst/>
              <a:ahLst/>
              <a:cxnLst/>
              <a:rect l="l" t="t" r="r" b="b"/>
              <a:pathLst>
                <a:path w="586740" h="581025">
                  <a:moveTo>
                    <a:pt x="586740" y="0"/>
                  </a:moveTo>
                  <a:lnTo>
                    <a:pt x="0" y="0"/>
                  </a:lnTo>
                  <a:lnTo>
                    <a:pt x="0" y="580644"/>
                  </a:lnTo>
                  <a:lnTo>
                    <a:pt x="586740" y="580644"/>
                  </a:lnTo>
                  <a:lnTo>
                    <a:pt x="586740" y="0"/>
                  </a:lnTo>
                  <a:close/>
                </a:path>
              </a:pathLst>
            </a:custGeom>
            <a:solidFill>
              <a:srgbClr val="FFFFFF">
                <a:alpha val="45097"/>
              </a:srgbClr>
            </a:solidFill>
          </p:spPr>
          <p:txBody>
            <a:bodyPr wrap="square" lIns="0" tIns="0" rIns="0" bIns="0" rtlCol="0"/>
            <a:lstStyle/>
            <a:p>
              <a:endParaRPr/>
            </a:p>
          </p:txBody>
        </p:sp>
        <p:sp>
          <p:nvSpPr>
            <p:cNvPr id="96" name="object 47">
              <a:extLst>
                <a:ext uri="{FF2B5EF4-FFF2-40B4-BE49-F238E27FC236}">
                  <a16:creationId xmlns:a16="http://schemas.microsoft.com/office/drawing/2014/main" id="{FD0E3523-7302-4222-328A-218F4C9B19A8}"/>
                </a:ext>
              </a:extLst>
            </p:cNvPr>
            <p:cNvSpPr/>
            <p:nvPr/>
          </p:nvSpPr>
          <p:spPr>
            <a:xfrm>
              <a:off x="8430768" y="1278635"/>
              <a:ext cx="500380" cy="339090"/>
            </a:xfrm>
            <a:custGeom>
              <a:avLst/>
              <a:gdLst/>
              <a:ahLst/>
              <a:cxnLst/>
              <a:rect l="l" t="t" r="r" b="b"/>
              <a:pathLst>
                <a:path w="500379" h="339090">
                  <a:moveTo>
                    <a:pt x="499999" y="272796"/>
                  </a:moveTo>
                  <a:lnTo>
                    <a:pt x="487324" y="266446"/>
                  </a:lnTo>
                  <a:lnTo>
                    <a:pt x="449326" y="247396"/>
                  </a:lnTo>
                  <a:lnTo>
                    <a:pt x="449326" y="266446"/>
                  </a:lnTo>
                  <a:lnTo>
                    <a:pt x="236474" y="266446"/>
                  </a:lnTo>
                  <a:lnTo>
                    <a:pt x="236474" y="50800"/>
                  </a:lnTo>
                  <a:lnTo>
                    <a:pt x="255524" y="50800"/>
                  </a:lnTo>
                  <a:lnTo>
                    <a:pt x="249174" y="38100"/>
                  </a:lnTo>
                  <a:lnTo>
                    <a:pt x="230124" y="0"/>
                  </a:lnTo>
                  <a:lnTo>
                    <a:pt x="204724" y="50800"/>
                  </a:lnTo>
                  <a:lnTo>
                    <a:pt x="223774" y="50800"/>
                  </a:lnTo>
                  <a:lnTo>
                    <a:pt x="223774" y="266446"/>
                  </a:lnTo>
                  <a:lnTo>
                    <a:pt x="0" y="266446"/>
                  </a:lnTo>
                  <a:lnTo>
                    <a:pt x="0" y="279146"/>
                  </a:lnTo>
                  <a:lnTo>
                    <a:pt x="223774" y="279146"/>
                  </a:lnTo>
                  <a:lnTo>
                    <a:pt x="223774" y="338709"/>
                  </a:lnTo>
                  <a:lnTo>
                    <a:pt x="236474" y="338709"/>
                  </a:lnTo>
                  <a:lnTo>
                    <a:pt x="236474" y="279146"/>
                  </a:lnTo>
                  <a:lnTo>
                    <a:pt x="449326" y="279146"/>
                  </a:lnTo>
                  <a:lnTo>
                    <a:pt x="449326" y="298196"/>
                  </a:lnTo>
                  <a:lnTo>
                    <a:pt x="487324" y="279146"/>
                  </a:lnTo>
                  <a:lnTo>
                    <a:pt x="499999" y="272796"/>
                  </a:lnTo>
                  <a:close/>
                </a:path>
              </a:pathLst>
            </a:custGeom>
            <a:solidFill>
              <a:srgbClr val="000000"/>
            </a:solidFill>
          </p:spPr>
          <p:txBody>
            <a:bodyPr wrap="square" lIns="0" tIns="0" rIns="0" bIns="0" rtlCol="0"/>
            <a:lstStyle/>
            <a:p>
              <a:endParaRPr dirty="0"/>
            </a:p>
          </p:txBody>
        </p:sp>
        <p:sp>
          <p:nvSpPr>
            <p:cNvPr id="97" name="object 48">
              <a:extLst>
                <a:ext uri="{FF2B5EF4-FFF2-40B4-BE49-F238E27FC236}">
                  <a16:creationId xmlns:a16="http://schemas.microsoft.com/office/drawing/2014/main" id="{086953AC-6D1F-1DA6-6EC6-2C4D67AE732A}"/>
                </a:ext>
              </a:extLst>
            </p:cNvPr>
            <p:cNvSpPr/>
            <p:nvPr/>
          </p:nvSpPr>
          <p:spPr>
            <a:xfrm>
              <a:off x="8500872" y="1363980"/>
              <a:ext cx="318770" cy="163195"/>
            </a:xfrm>
            <a:custGeom>
              <a:avLst/>
              <a:gdLst/>
              <a:ahLst/>
              <a:cxnLst/>
              <a:rect l="l" t="t" r="r" b="b"/>
              <a:pathLst>
                <a:path w="318770" h="163194">
                  <a:moveTo>
                    <a:pt x="0" y="163068"/>
                  </a:moveTo>
                  <a:lnTo>
                    <a:pt x="52814" y="141684"/>
                  </a:lnTo>
                  <a:lnTo>
                    <a:pt x="86985" y="108881"/>
                  </a:lnTo>
                  <a:lnTo>
                    <a:pt x="108696" y="71485"/>
                  </a:lnTo>
                  <a:lnTo>
                    <a:pt x="124130" y="36321"/>
                  </a:lnTo>
                  <a:lnTo>
                    <a:pt x="139473" y="10218"/>
                  </a:lnTo>
                  <a:lnTo>
                    <a:pt x="160908" y="0"/>
                  </a:lnTo>
                  <a:lnTo>
                    <a:pt x="181949" y="10182"/>
                  </a:lnTo>
                  <a:lnTo>
                    <a:pt x="196351" y="36209"/>
                  </a:lnTo>
                  <a:lnTo>
                    <a:pt x="210661" y="71294"/>
                  </a:lnTo>
                  <a:lnTo>
                    <a:pt x="231426" y="108655"/>
                  </a:lnTo>
                  <a:lnTo>
                    <a:pt x="265195" y="141507"/>
                  </a:lnTo>
                  <a:lnTo>
                    <a:pt x="318516" y="163068"/>
                  </a:lnTo>
                </a:path>
              </a:pathLst>
            </a:custGeom>
            <a:ln w="9525">
              <a:solidFill>
                <a:srgbClr val="C00000"/>
              </a:solidFill>
            </a:ln>
          </p:spPr>
          <p:txBody>
            <a:bodyPr wrap="square" lIns="0" tIns="0" rIns="0" bIns="0" rtlCol="0"/>
            <a:lstStyle/>
            <a:p>
              <a:endParaRPr/>
            </a:p>
          </p:txBody>
        </p:sp>
      </p:grpSp>
      <p:sp>
        <p:nvSpPr>
          <p:cNvPr id="98" name="object 49">
            <a:extLst>
              <a:ext uri="{FF2B5EF4-FFF2-40B4-BE49-F238E27FC236}">
                <a16:creationId xmlns:a16="http://schemas.microsoft.com/office/drawing/2014/main" id="{271433FD-78D6-3D97-417A-1AF06471FA37}"/>
              </a:ext>
            </a:extLst>
          </p:cNvPr>
          <p:cNvSpPr txBox="1"/>
          <p:nvPr/>
        </p:nvSpPr>
        <p:spPr>
          <a:xfrm>
            <a:off x="3325114" y="2226354"/>
            <a:ext cx="1955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Microsoft YaHei"/>
                <a:cs typeface="Microsoft YaHei"/>
              </a:rPr>
              <a:t>+</a:t>
            </a:r>
            <a:endParaRPr sz="1800">
              <a:latin typeface="Microsoft YaHei"/>
              <a:cs typeface="Microsoft YaHei"/>
            </a:endParaRPr>
          </a:p>
        </p:txBody>
      </p:sp>
      <p:pic>
        <p:nvPicPr>
          <p:cNvPr id="99" name="object 50">
            <a:extLst>
              <a:ext uri="{FF2B5EF4-FFF2-40B4-BE49-F238E27FC236}">
                <a16:creationId xmlns:a16="http://schemas.microsoft.com/office/drawing/2014/main" id="{E4650C4F-BE39-2A0F-545D-56C5D707ACF6}"/>
              </a:ext>
            </a:extLst>
          </p:cNvPr>
          <p:cNvPicPr/>
          <p:nvPr/>
        </p:nvPicPr>
        <p:blipFill>
          <a:blip r:embed="rId12" cstate="print"/>
          <a:stretch>
            <a:fillRect/>
          </a:stretch>
        </p:blipFill>
        <p:spPr>
          <a:xfrm>
            <a:off x="3315970" y="2285408"/>
            <a:ext cx="213867" cy="213867"/>
          </a:xfrm>
          <a:prstGeom prst="rect">
            <a:avLst/>
          </a:prstGeom>
        </p:spPr>
      </p:pic>
      <p:sp>
        <p:nvSpPr>
          <p:cNvPr id="100" name="object 51">
            <a:extLst>
              <a:ext uri="{FF2B5EF4-FFF2-40B4-BE49-F238E27FC236}">
                <a16:creationId xmlns:a16="http://schemas.microsoft.com/office/drawing/2014/main" id="{7A59D811-165C-46F6-6E54-8A707232E404}"/>
              </a:ext>
            </a:extLst>
          </p:cNvPr>
          <p:cNvSpPr txBox="1"/>
          <p:nvPr/>
        </p:nvSpPr>
        <p:spPr>
          <a:xfrm>
            <a:off x="8561323" y="2226354"/>
            <a:ext cx="1955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Microsoft YaHei"/>
                <a:cs typeface="Microsoft YaHei"/>
              </a:rPr>
              <a:t>+</a:t>
            </a:r>
            <a:endParaRPr sz="1800">
              <a:latin typeface="Microsoft YaHei"/>
              <a:cs typeface="Microsoft YaHei"/>
            </a:endParaRPr>
          </a:p>
        </p:txBody>
      </p:sp>
      <p:pic>
        <p:nvPicPr>
          <p:cNvPr id="101" name="object 52">
            <a:extLst>
              <a:ext uri="{FF2B5EF4-FFF2-40B4-BE49-F238E27FC236}">
                <a16:creationId xmlns:a16="http://schemas.microsoft.com/office/drawing/2014/main" id="{F6B08D01-01EB-66C0-AD48-5764954457CC}"/>
              </a:ext>
            </a:extLst>
          </p:cNvPr>
          <p:cNvPicPr/>
          <p:nvPr/>
        </p:nvPicPr>
        <p:blipFill>
          <a:blip r:embed="rId12" cstate="print"/>
          <a:stretch>
            <a:fillRect/>
          </a:stretch>
        </p:blipFill>
        <p:spPr>
          <a:xfrm>
            <a:off x="8550909" y="2285408"/>
            <a:ext cx="213868" cy="213867"/>
          </a:xfrm>
          <a:prstGeom prst="rect">
            <a:avLst/>
          </a:prstGeom>
        </p:spPr>
      </p:pic>
      <p:sp>
        <p:nvSpPr>
          <p:cNvPr id="102" name="object 53">
            <a:extLst>
              <a:ext uri="{FF2B5EF4-FFF2-40B4-BE49-F238E27FC236}">
                <a16:creationId xmlns:a16="http://schemas.microsoft.com/office/drawing/2014/main" id="{BE94897C-7F96-59D7-46D8-74542FC39948}"/>
              </a:ext>
            </a:extLst>
          </p:cNvPr>
          <p:cNvSpPr/>
          <p:nvPr/>
        </p:nvSpPr>
        <p:spPr>
          <a:xfrm>
            <a:off x="8551707" y="4398857"/>
            <a:ext cx="33655" cy="33020"/>
          </a:xfrm>
          <a:custGeom>
            <a:avLst/>
            <a:gdLst/>
            <a:ahLst/>
            <a:cxnLst/>
            <a:rect l="l" t="t" r="r" b="b"/>
            <a:pathLst>
              <a:path w="33654" h="33020">
                <a:moveTo>
                  <a:pt x="16785" y="0"/>
                </a:moveTo>
                <a:lnTo>
                  <a:pt x="10390" y="806"/>
                </a:lnTo>
                <a:lnTo>
                  <a:pt x="4796" y="4759"/>
                </a:lnTo>
                <a:lnTo>
                  <a:pt x="1599" y="9502"/>
                </a:lnTo>
                <a:lnTo>
                  <a:pt x="0" y="15843"/>
                </a:lnTo>
                <a:lnTo>
                  <a:pt x="1599" y="22181"/>
                </a:lnTo>
                <a:lnTo>
                  <a:pt x="4796" y="27725"/>
                </a:lnTo>
                <a:lnTo>
                  <a:pt x="10390" y="30894"/>
                </a:lnTo>
                <a:lnTo>
                  <a:pt x="16785" y="32478"/>
                </a:lnTo>
                <a:lnTo>
                  <a:pt x="23179" y="30894"/>
                </a:lnTo>
                <a:lnTo>
                  <a:pt x="28775" y="27725"/>
                </a:lnTo>
                <a:lnTo>
                  <a:pt x="32772" y="22181"/>
                </a:lnTo>
                <a:lnTo>
                  <a:pt x="33570" y="15843"/>
                </a:lnTo>
                <a:lnTo>
                  <a:pt x="32772" y="9502"/>
                </a:lnTo>
                <a:lnTo>
                  <a:pt x="28775" y="4759"/>
                </a:lnTo>
                <a:lnTo>
                  <a:pt x="23179" y="806"/>
                </a:lnTo>
                <a:lnTo>
                  <a:pt x="16785" y="0"/>
                </a:lnTo>
                <a:close/>
              </a:path>
            </a:pathLst>
          </a:custGeom>
          <a:solidFill>
            <a:srgbClr val="000000"/>
          </a:solidFill>
        </p:spPr>
        <p:txBody>
          <a:bodyPr wrap="square" lIns="0" tIns="0" rIns="0" bIns="0" rtlCol="0"/>
          <a:lstStyle/>
          <a:p>
            <a:endParaRPr/>
          </a:p>
        </p:txBody>
      </p:sp>
      <p:sp>
        <p:nvSpPr>
          <p:cNvPr id="103" name="object 54">
            <a:extLst>
              <a:ext uri="{FF2B5EF4-FFF2-40B4-BE49-F238E27FC236}">
                <a16:creationId xmlns:a16="http://schemas.microsoft.com/office/drawing/2014/main" id="{F1707B88-CEB0-89A7-CE76-872F2DF7095E}"/>
              </a:ext>
            </a:extLst>
          </p:cNvPr>
          <p:cNvSpPr/>
          <p:nvPr/>
        </p:nvSpPr>
        <p:spPr>
          <a:xfrm>
            <a:off x="8630040" y="4398857"/>
            <a:ext cx="33655" cy="33020"/>
          </a:xfrm>
          <a:custGeom>
            <a:avLst/>
            <a:gdLst/>
            <a:ahLst/>
            <a:cxnLst/>
            <a:rect l="l" t="t" r="r" b="b"/>
            <a:pathLst>
              <a:path w="33654" h="33020">
                <a:moveTo>
                  <a:pt x="16785" y="0"/>
                </a:moveTo>
                <a:lnTo>
                  <a:pt x="10390" y="806"/>
                </a:lnTo>
                <a:lnTo>
                  <a:pt x="5595" y="4759"/>
                </a:lnTo>
                <a:lnTo>
                  <a:pt x="1599" y="9502"/>
                </a:lnTo>
                <a:lnTo>
                  <a:pt x="0" y="15843"/>
                </a:lnTo>
                <a:lnTo>
                  <a:pt x="1599" y="22181"/>
                </a:lnTo>
                <a:lnTo>
                  <a:pt x="5595" y="27725"/>
                </a:lnTo>
                <a:lnTo>
                  <a:pt x="10390" y="30894"/>
                </a:lnTo>
                <a:lnTo>
                  <a:pt x="16785" y="32478"/>
                </a:lnTo>
                <a:lnTo>
                  <a:pt x="23979" y="30894"/>
                </a:lnTo>
                <a:lnTo>
                  <a:pt x="28775" y="27725"/>
                </a:lnTo>
                <a:lnTo>
                  <a:pt x="32772" y="22181"/>
                </a:lnTo>
                <a:lnTo>
                  <a:pt x="33571" y="15843"/>
                </a:lnTo>
                <a:lnTo>
                  <a:pt x="32772" y="9502"/>
                </a:lnTo>
                <a:lnTo>
                  <a:pt x="28775" y="4759"/>
                </a:lnTo>
                <a:lnTo>
                  <a:pt x="23979" y="806"/>
                </a:lnTo>
                <a:lnTo>
                  <a:pt x="16785" y="0"/>
                </a:lnTo>
                <a:close/>
              </a:path>
            </a:pathLst>
          </a:custGeom>
          <a:solidFill>
            <a:srgbClr val="000000"/>
          </a:solidFill>
        </p:spPr>
        <p:txBody>
          <a:bodyPr wrap="square" lIns="0" tIns="0" rIns="0" bIns="0" rtlCol="0"/>
          <a:lstStyle/>
          <a:p>
            <a:endParaRPr/>
          </a:p>
        </p:txBody>
      </p:sp>
      <p:sp>
        <p:nvSpPr>
          <p:cNvPr id="104" name="object 55">
            <a:extLst>
              <a:ext uri="{FF2B5EF4-FFF2-40B4-BE49-F238E27FC236}">
                <a16:creationId xmlns:a16="http://schemas.microsoft.com/office/drawing/2014/main" id="{4D99CF22-2947-C8BF-158B-01A085D16860}"/>
              </a:ext>
            </a:extLst>
          </p:cNvPr>
          <p:cNvSpPr/>
          <p:nvPr/>
        </p:nvSpPr>
        <p:spPr>
          <a:xfrm>
            <a:off x="8709167" y="4398857"/>
            <a:ext cx="33655" cy="33020"/>
          </a:xfrm>
          <a:custGeom>
            <a:avLst/>
            <a:gdLst/>
            <a:ahLst/>
            <a:cxnLst/>
            <a:rect l="l" t="t" r="r" b="b"/>
            <a:pathLst>
              <a:path w="33654" h="33020">
                <a:moveTo>
                  <a:pt x="16792" y="0"/>
                </a:moveTo>
                <a:lnTo>
                  <a:pt x="10395" y="806"/>
                </a:lnTo>
                <a:lnTo>
                  <a:pt x="4797" y="4759"/>
                </a:lnTo>
                <a:lnTo>
                  <a:pt x="799" y="9502"/>
                </a:lnTo>
                <a:lnTo>
                  <a:pt x="0" y="15843"/>
                </a:lnTo>
                <a:lnTo>
                  <a:pt x="799" y="22181"/>
                </a:lnTo>
                <a:lnTo>
                  <a:pt x="4797" y="27725"/>
                </a:lnTo>
                <a:lnTo>
                  <a:pt x="10395" y="30894"/>
                </a:lnTo>
                <a:lnTo>
                  <a:pt x="16792" y="32478"/>
                </a:lnTo>
                <a:lnTo>
                  <a:pt x="23189" y="30894"/>
                </a:lnTo>
                <a:lnTo>
                  <a:pt x="28786" y="27725"/>
                </a:lnTo>
                <a:lnTo>
                  <a:pt x="31985" y="22181"/>
                </a:lnTo>
                <a:lnTo>
                  <a:pt x="33568" y="15843"/>
                </a:lnTo>
                <a:lnTo>
                  <a:pt x="31985" y="9502"/>
                </a:lnTo>
                <a:lnTo>
                  <a:pt x="28786" y="4759"/>
                </a:lnTo>
                <a:lnTo>
                  <a:pt x="23189" y="806"/>
                </a:lnTo>
                <a:lnTo>
                  <a:pt x="16792" y="0"/>
                </a:lnTo>
                <a:close/>
              </a:path>
            </a:pathLst>
          </a:custGeom>
          <a:solidFill>
            <a:srgbClr val="000000"/>
          </a:solidFill>
        </p:spPr>
        <p:txBody>
          <a:bodyPr wrap="square" lIns="0" tIns="0" rIns="0" bIns="0" rtlCol="0"/>
          <a:lstStyle/>
          <a:p>
            <a:endParaRPr/>
          </a:p>
        </p:txBody>
      </p:sp>
      <p:pic>
        <p:nvPicPr>
          <p:cNvPr id="105" name="object 56">
            <a:extLst>
              <a:ext uri="{FF2B5EF4-FFF2-40B4-BE49-F238E27FC236}">
                <a16:creationId xmlns:a16="http://schemas.microsoft.com/office/drawing/2014/main" id="{762C5FD6-3801-E92A-D0C0-0BFB87A0E1A2}"/>
              </a:ext>
            </a:extLst>
          </p:cNvPr>
          <p:cNvPicPr/>
          <p:nvPr/>
        </p:nvPicPr>
        <p:blipFill>
          <a:blip r:embed="rId8" cstate="print">
            <a:extLst>
              <a:ext uri="{28A0092B-C50C-407E-A947-70E740481C1C}">
                <a14:useLocalDpi xmlns:a14="http://schemas.microsoft.com/office/drawing/2010/main" val="0"/>
              </a:ext>
            </a:extLst>
          </a:blip>
          <a:srcRect/>
          <a:stretch/>
        </p:blipFill>
        <p:spPr>
          <a:xfrm>
            <a:off x="1990344" y="3931582"/>
            <a:ext cx="960119" cy="960119"/>
          </a:xfrm>
          <a:prstGeom prst="rect">
            <a:avLst/>
          </a:prstGeom>
        </p:spPr>
      </p:pic>
      <p:sp>
        <p:nvSpPr>
          <p:cNvPr id="106" name="object 58">
            <a:extLst>
              <a:ext uri="{FF2B5EF4-FFF2-40B4-BE49-F238E27FC236}">
                <a16:creationId xmlns:a16="http://schemas.microsoft.com/office/drawing/2014/main" id="{D12E105E-AB64-69AC-6C03-48424D46A84A}"/>
              </a:ext>
            </a:extLst>
          </p:cNvPr>
          <p:cNvSpPr txBox="1"/>
          <p:nvPr/>
        </p:nvSpPr>
        <p:spPr>
          <a:xfrm>
            <a:off x="1257427" y="4246796"/>
            <a:ext cx="505459" cy="330835"/>
          </a:xfrm>
          <a:prstGeom prst="rect">
            <a:avLst/>
          </a:prstGeom>
        </p:spPr>
        <p:txBody>
          <a:bodyPr vert="horz" wrap="square" lIns="0" tIns="12700" rIns="0" bIns="0" rtlCol="0">
            <a:spAutoFit/>
          </a:bodyPr>
          <a:lstStyle/>
          <a:p>
            <a:pPr marL="12700">
              <a:lnSpc>
                <a:spcPct val="100000"/>
              </a:lnSpc>
              <a:spcBef>
                <a:spcPts val="100"/>
              </a:spcBef>
            </a:pPr>
            <a:r>
              <a:rPr sz="2000" spc="-20" dirty="0">
                <a:latin typeface="Calibri"/>
                <a:cs typeface="Calibri"/>
              </a:rPr>
              <a:t>Data</a:t>
            </a:r>
            <a:endParaRPr sz="2000">
              <a:latin typeface="Calibri"/>
              <a:cs typeface="Calibri"/>
            </a:endParaRPr>
          </a:p>
        </p:txBody>
      </p:sp>
      <p:sp>
        <p:nvSpPr>
          <p:cNvPr id="107" name="object 59">
            <a:extLst>
              <a:ext uri="{FF2B5EF4-FFF2-40B4-BE49-F238E27FC236}">
                <a16:creationId xmlns:a16="http://schemas.microsoft.com/office/drawing/2014/main" id="{43E30011-F1A5-793E-AA96-63E328535441}"/>
              </a:ext>
            </a:extLst>
          </p:cNvPr>
          <p:cNvSpPr txBox="1"/>
          <p:nvPr/>
        </p:nvSpPr>
        <p:spPr>
          <a:xfrm>
            <a:off x="10359643" y="4246796"/>
            <a:ext cx="608330" cy="3308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libri"/>
                <a:cs typeface="Calibri"/>
              </a:rPr>
              <a:t>Noise</a:t>
            </a:r>
            <a:endParaRPr sz="2000">
              <a:latin typeface="Calibri"/>
              <a:cs typeface="Calibri"/>
            </a:endParaRPr>
          </a:p>
        </p:txBody>
      </p:sp>
      <p:sp>
        <p:nvSpPr>
          <p:cNvPr id="108" name="object 60">
            <a:extLst>
              <a:ext uri="{FF2B5EF4-FFF2-40B4-BE49-F238E27FC236}">
                <a16:creationId xmlns:a16="http://schemas.microsoft.com/office/drawing/2014/main" id="{B05D332F-CC5D-10EE-732C-F62B11EB6A53}"/>
              </a:ext>
            </a:extLst>
          </p:cNvPr>
          <p:cNvSpPr/>
          <p:nvPr/>
        </p:nvSpPr>
        <p:spPr>
          <a:xfrm>
            <a:off x="5278373" y="4359954"/>
            <a:ext cx="1572895" cy="104775"/>
          </a:xfrm>
          <a:custGeom>
            <a:avLst/>
            <a:gdLst/>
            <a:ahLst/>
            <a:cxnLst/>
            <a:rect l="l" t="t" r="r" b="b"/>
            <a:pathLst>
              <a:path w="1572895" h="104775">
                <a:moveTo>
                  <a:pt x="104775" y="0"/>
                </a:moveTo>
                <a:lnTo>
                  <a:pt x="0" y="52450"/>
                </a:lnTo>
                <a:lnTo>
                  <a:pt x="104775" y="104774"/>
                </a:lnTo>
                <a:lnTo>
                  <a:pt x="104775" y="69849"/>
                </a:lnTo>
                <a:lnTo>
                  <a:pt x="87375" y="69849"/>
                </a:lnTo>
                <a:lnTo>
                  <a:pt x="87375" y="35051"/>
                </a:lnTo>
                <a:lnTo>
                  <a:pt x="104775" y="35051"/>
                </a:lnTo>
                <a:lnTo>
                  <a:pt x="104775" y="0"/>
                </a:lnTo>
                <a:close/>
              </a:path>
              <a:path w="1572895" h="104775">
                <a:moveTo>
                  <a:pt x="104775" y="35051"/>
                </a:moveTo>
                <a:lnTo>
                  <a:pt x="87375" y="35051"/>
                </a:lnTo>
                <a:lnTo>
                  <a:pt x="87375" y="69849"/>
                </a:lnTo>
                <a:lnTo>
                  <a:pt x="104775" y="69849"/>
                </a:lnTo>
                <a:lnTo>
                  <a:pt x="104775" y="35051"/>
                </a:lnTo>
                <a:close/>
              </a:path>
              <a:path w="1572895" h="104775">
                <a:moveTo>
                  <a:pt x="1572514" y="35051"/>
                </a:moveTo>
                <a:lnTo>
                  <a:pt x="104775" y="35051"/>
                </a:lnTo>
                <a:lnTo>
                  <a:pt x="104775" y="69849"/>
                </a:lnTo>
                <a:lnTo>
                  <a:pt x="1572514" y="69849"/>
                </a:lnTo>
                <a:lnTo>
                  <a:pt x="1572514" y="35051"/>
                </a:lnTo>
                <a:close/>
              </a:path>
            </a:pathLst>
          </a:custGeom>
          <a:solidFill>
            <a:srgbClr val="6F2F9F"/>
          </a:solidFill>
        </p:spPr>
        <p:txBody>
          <a:bodyPr wrap="square" lIns="0" tIns="0" rIns="0" bIns="0" rtlCol="0"/>
          <a:lstStyle/>
          <a:p>
            <a:endParaRPr/>
          </a:p>
        </p:txBody>
      </p:sp>
      <p:sp>
        <p:nvSpPr>
          <p:cNvPr id="109" name="object 61">
            <a:extLst>
              <a:ext uri="{FF2B5EF4-FFF2-40B4-BE49-F238E27FC236}">
                <a16:creationId xmlns:a16="http://schemas.microsoft.com/office/drawing/2014/main" id="{A6B948FC-7A55-2566-1897-75A64BC169CA}"/>
              </a:ext>
            </a:extLst>
          </p:cNvPr>
          <p:cNvSpPr/>
          <p:nvPr/>
        </p:nvSpPr>
        <p:spPr>
          <a:xfrm>
            <a:off x="8811006" y="4412405"/>
            <a:ext cx="257175" cy="0"/>
          </a:xfrm>
          <a:custGeom>
            <a:avLst/>
            <a:gdLst/>
            <a:ahLst/>
            <a:cxnLst/>
            <a:rect l="l" t="t" r="r" b="b"/>
            <a:pathLst>
              <a:path w="257175">
                <a:moveTo>
                  <a:pt x="0" y="0"/>
                </a:moveTo>
                <a:lnTo>
                  <a:pt x="256921" y="0"/>
                </a:lnTo>
              </a:path>
            </a:pathLst>
          </a:custGeom>
          <a:ln w="34925">
            <a:solidFill>
              <a:srgbClr val="6F2F9F"/>
            </a:solidFill>
          </a:ln>
        </p:spPr>
        <p:txBody>
          <a:bodyPr wrap="square" lIns="0" tIns="0" rIns="0" bIns="0" rtlCol="0"/>
          <a:lstStyle/>
          <a:p>
            <a:endParaRPr/>
          </a:p>
        </p:txBody>
      </p:sp>
      <p:pic>
        <p:nvPicPr>
          <p:cNvPr id="110" name="object 62">
            <a:extLst>
              <a:ext uri="{FF2B5EF4-FFF2-40B4-BE49-F238E27FC236}">
                <a16:creationId xmlns:a16="http://schemas.microsoft.com/office/drawing/2014/main" id="{1ECD8D66-10E7-1CAD-9587-BF3680801C74}"/>
              </a:ext>
            </a:extLst>
          </p:cNvPr>
          <p:cNvPicPr/>
          <p:nvPr/>
        </p:nvPicPr>
        <p:blipFill>
          <a:blip r:embed="rId13" cstate="print"/>
          <a:stretch>
            <a:fillRect/>
          </a:stretch>
        </p:blipFill>
        <p:spPr>
          <a:xfrm>
            <a:off x="8245602" y="4359954"/>
            <a:ext cx="245872" cy="104775"/>
          </a:xfrm>
          <a:prstGeom prst="rect">
            <a:avLst/>
          </a:prstGeom>
        </p:spPr>
      </p:pic>
      <p:sp>
        <p:nvSpPr>
          <p:cNvPr id="111" name="object 63">
            <a:extLst>
              <a:ext uri="{FF2B5EF4-FFF2-40B4-BE49-F238E27FC236}">
                <a16:creationId xmlns:a16="http://schemas.microsoft.com/office/drawing/2014/main" id="{EAAB5162-1F89-2BD2-18AE-13DEA02DD377}"/>
              </a:ext>
            </a:extLst>
          </p:cNvPr>
          <p:cNvSpPr/>
          <p:nvPr/>
        </p:nvSpPr>
        <p:spPr>
          <a:xfrm>
            <a:off x="3333531" y="4398857"/>
            <a:ext cx="33655" cy="33020"/>
          </a:xfrm>
          <a:custGeom>
            <a:avLst/>
            <a:gdLst/>
            <a:ahLst/>
            <a:cxnLst/>
            <a:rect l="l" t="t" r="r" b="b"/>
            <a:pathLst>
              <a:path w="33654" h="33020">
                <a:moveTo>
                  <a:pt x="16785" y="0"/>
                </a:moveTo>
                <a:lnTo>
                  <a:pt x="10390" y="806"/>
                </a:lnTo>
                <a:lnTo>
                  <a:pt x="4796" y="4759"/>
                </a:lnTo>
                <a:lnTo>
                  <a:pt x="1599" y="9502"/>
                </a:lnTo>
                <a:lnTo>
                  <a:pt x="0" y="15843"/>
                </a:lnTo>
                <a:lnTo>
                  <a:pt x="1599" y="22181"/>
                </a:lnTo>
                <a:lnTo>
                  <a:pt x="4796" y="27725"/>
                </a:lnTo>
                <a:lnTo>
                  <a:pt x="10390" y="30894"/>
                </a:lnTo>
                <a:lnTo>
                  <a:pt x="16785" y="32478"/>
                </a:lnTo>
                <a:lnTo>
                  <a:pt x="23179" y="30894"/>
                </a:lnTo>
                <a:lnTo>
                  <a:pt x="28775" y="27725"/>
                </a:lnTo>
                <a:lnTo>
                  <a:pt x="32772" y="22181"/>
                </a:lnTo>
                <a:lnTo>
                  <a:pt x="33570" y="15843"/>
                </a:lnTo>
                <a:lnTo>
                  <a:pt x="32772" y="9502"/>
                </a:lnTo>
                <a:lnTo>
                  <a:pt x="28775" y="4759"/>
                </a:lnTo>
                <a:lnTo>
                  <a:pt x="23179" y="806"/>
                </a:lnTo>
                <a:lnTo>
                  <a:pt x="16785" y="0"/>
                </a:lnTo>
                <a:close/>
              </a:path>
            </a:pathLst>
          </a:custGeom>
          <a:solidFill>
            <a:srgbClr val="000000"/>
          </a:solidFill>
        </p:spPr>
        <p:txBody>
          <a:bodyPr wrap="square" lIns="0" tIns="0" rIns="0" bIns="0" rtlCol="0"/>
          <a:lstStyle/>
          <a:p>
            <a:endParaRPr/>
          </a:p>
        </p:txBody>
      </p:sp>
      <p:sp>
        <p:nvSpPr>
          <p:cNvPr id="112" name="object 64">
            <a:extLst>
              <a:ext uri="{FF2B5EF4-FFF2-40B4-BE49-F238E27FC236}">
                <a16:creationId xmlns:a16="http://schemas.microsoft.com/office/drawing/2014/main" id="{08ACD30A-0E66-9D69-B183-B9117AD7D4A3}"/>
              </a:ext>
            </a:extLst>
          </p:cNvPr>
          <p:cNvSpPr/>
          <p:nvPr/>
        </p:nvSpPr>
        <p:spPr>
          <a:xfrm>
            <a:off x="3411864" y="4398857"/>
            <a:ext cx="33655" cy="33020"/>
          </a:xfrm>
          <a:custGeom>
            <a:avLst/>
            <a:gdLst/>
            <a:ahLst/>
            <a:cxnLst/>
            <a:rect l="l" t="t" r="r" b="b"/>
            <a:pathLst>
              <a:path w="33654" h="33020">
                <a:moveTo>
                  <a:pt x="16785" y="0"/>
                </a:moveTo>
                <a:lnTo>
                  <a:pt x="10390" y="806"/>
                </a:lnTo>
                <a:lnTo>
                  <a:pt x="5595" y="4759"/>
                </a:lnTo>
                <a:lnTo>
                  <a:pt x="1599" y="9502"/>
                </a:lnTo>
                <a:lnTo>
                  <a:pt x="0" y="15843"/>
                </a:lnTo>
                <a:lnTo>
                  <a:pt x="1599" y="22181"/>
                </a:lnTo>
                <a:lnTo>
                  <a:pt x="5595" y="27725"/>
                </a:lnTo>
                <a:lnTo>
                  <a:pt x="10390" y="30894"/>
                </a:lnTo>
                <a:lnTo>
                  <a:pt x="16785" y="32478"/>
                </a:lnTo>
                <a:lnTo>
                  <a:pt x="23979" y="30894"/>
                </a:lnTo>
                <a:lnTo>
                  <a:pt x="28775" y="27725"/>
                </a:lnTo>
                <a:lnTo>
                  <a:pt x="32772" y="22181"/>
                </a:lnTo>
                <a:lnTo>
                  <a:pt x="33571" y="15843"/>
                </a:lnTo>
                <a:lnTo>
                  <a:pt x="32772" y="9502"/>
                </a:lnTo>
                <a:lnTo>
                  <a:pt x="28775" y="4759"/>
                </a:lnTo>
                <a:lnTo>
                  <a:pt x="23979" y="806"/>
                </a:lnTo>
                <a:lnTo>
                  <a:pt x="16785" y="0"/>
                </a:lnTo>
                <a:close/>
              </a:path>
            </a:pathLst>
          </a:custGeom>
          <a:solidFill>
            <a:srgbClr val="000000"/>
          </a:solidFill>
        </p:spPr>
        <p:txBody>
          <a:bodyPr wrap="square" lIns="0" tIns="0" rIns="0" bIns="0" rtlCol="0"/>
          <a:lstStyle/>
          <a:p>
            <a:endParaRPr/>
          </a:p>
        </p:txBody>
      </p:sp>
      <p:sp>
        <p:nvSpPr>
          <p:cNvPr id="113" name="object 65">
            <a:extLst>
              <a:ext uri="{FF2B5EF4-FFF2-40B4-BE49-F238E27FC236}">
                <a16:creationId xmlns:a16="http://schemas.microsoft.com/office/drawing/2014/main" id="{22738787-D90E-9245-B3FA-1994BC229202}"/>
              </a:ext>
            </a:extLst>
          </p:cNvPr>
          <p:cNvSpPr/>
          <p:nvPr/>
        </p:nvSpPr>
        <p:spPr>
          <a:xfrm>
            <a:off x="3490991" y="4398857"/>
            <a:ext cx="33655" cy="33020"/>
          </a:xfrm>
          <a:custGeom>
            <a:avLst/>
            <a:gdLst/>
            <a:ahLst/>
            <a:cxnLst/>
            <a:rect l="l" t="t" r="r" b="b"/>
            <a:pathLst>
              <a:path w="33654" h="33020">
                <a:moveTo>
                  <a:pt x="16792" y="0"/>
                </a:moveTo>
                <a:lnTo>
                  <a:pt x="10395" y="806"/>
                </a:lnTo>
                <a:lnTo>
                  <a:pt x="4797" y="4759"/>
                </a:lnTo>
                <a:lnTo>
                  <a:pt x="799" y="9502"/>
                </a:lnTo>
                <a:lnTo>
                  <a:pt x="0" y="15843"/>
                </a:lnTo>
                <a:lnTo>
                  <a:pt x="799" y="22181"/>
                </a:lnTo>
                <a:lnTo>
                  <a:pt x="4797" y="27725"/>
                </a:lnTo>
                <a:lnTo>
                  <a:pt x="10395" y="30894"/>
                </a:lnTo>
                <a:lnTo>
                  <a:pt x="16792" y="32478"/>
                </a:lnTo>
                <a:lnTo>
                  <a:pt x="23189" y="30894"/>
                </a:lnTo>
                <a:lnTo>
                  <a:pt x="28786" y="27725"/>
                </a:lnTo>
                <a:lnTo>
                  <a:pt x="31985" y="22181"/>
                </a:lnTo>
                <a:lnTo>
                  <a:pt x="33568" y="15843"/>
                </a:lnTo>
                <a:lnTo>
                  <a:pt x="31985" y="9502"/>
                </a:lnTo>
                <a:lnTo>
                  <a:pt x="28786" y="4759"/>
                </a:lnTo>
                <a:lnTo>
                  <a:pt x="23189" y="806"/>
                </a:lnTo>
                <a:lnTo>
                  <a:pt x="16792" y="0"/>
                </a:lnTo>
                <a:close/>
              </a:path>
            </a:pathLst>
          </a:custGeom>
          <a:solidFill>
            <a:srgbClr val="000000"/>
          </a:solidFill>
        </p:spPr>
        <p:txBody>
          <a:bodyPr wrap="square" lIns="0" tIns="0" rIns="0" bIns="0" rtlCol="0"/>
          <a:lstStyle/>
          <a:p>
            <a:endParaRPr/>
          </a:p>
        </p:txBody>
      </p:sp>
      <p:sp>
        <p:nvSpPr>
          <p:cNvPr id="114" name="object 66">
            <a:extLst>
              <a:ext uri="{FF2B5EF4-FFF2-40B4-BE49-F238E27FC236}">
                <a16:creationId xmlns:a16="http://schemas.microsoft.com/office/drawing/2014/main" id="{EEF20D1A-0DD7-DD9A-7D1D-2AA0FD2D97BD}"/>
              </a:ext>
            </a:extLst>
          </p:cNvPr>
          <p:cNvSpPr/>
          <p:nvPr/>
        </p:nvSpPr>
        <p:spPr>
          <a:xfrm>
            <a:off x="3592829" y="4412405"/>
            <a:ext cx="257175" cy="0"/>
          </a:xfrm>
          <a:custGeom>
            <a:avLst/>
            <a:gdLst/>
            <a:ahLst/>
            <a:cxnLst/>
            <a:rect l="l" t="t" r="r" b="b"/>
            <a:pathLst>
              <a:path w="257175">
                <a:moveTo>
                  <a:pt x="0" y="0"/>
                </a:moveTo>
                <a:lnTo>
                  <a:pt x="256921" y="0"/>
                </a:lnTo>
              </a:path>
            </a:pathLst>
          </a:custGeom>
          <a:ln w="34925">
            <a:solidFill>
              <a:srgbClr val="6F2F9F"/>
            </a:solidFill>
          </a:ln>
        </p:spPr>
        <p:txBody>
          <a:bodyPr wrap="square" lIns="0" tIns="0" rIns="0" bIns="0" rtlCol="0"/>
          <a:lstStyle/>
          <a:p>
            <a:endParaRPr/>
          </a:p>
        </p:txBody>
      </p:sp>
      <p:pic>
        <p:nvPicPr>
          <p:cNvPr id="115" name="object 67">
            <a:extLst>
              <a:ext uri="{FF2B5EF4-FFF2-40B4-BE49-F238E27FC236}">
                <a16:creationId xmlns:a16="http://schemas.microsoft.com/office/drawing/2014/main" id="{24A92AE6-FC53-5A43-3517-E92A81CE5DFF}"/>
              </a:ext>
            </a:extLst>
          </p:cNvPr>
          <p:cNvPicPr/>
          <p:nvPr/>
        </p:nvPicPr>
        <p:blipFill>
          <a:blip r:embed="rId14" cstate="print"/>
          <a:stretch>
            <a:fillRect/>
          </a:stretch>
        </p:blipFill>
        <p:spPr>
          <a:xfrm>
            <a:off x="3027426" y="4359954"/>
            <a:ext cx="245872" cy="104775"/>
          </a:xfrm>
          <a:prstGeom prst="rect">
            <a:avLst/>
          </a:prstGeom>
        </p:spPr>
      </p:pic>
      <p:sp>
        <p:nvSpPr>
          <p:cNvPr id="116" name="object 68">
            <a:extLst>
              <a:ext uri="{FF2B5EF4-FFF2-40B4-BE49-F238E27FC236}">
                <a16:creationId xmlns:a16="http://schemas.microsoft.com/office/drawing/2014/main" id="{A586C181-31BE-1203-E9BF-A5CF8B6521B9}"/>
              </a:ext>
            </a:extLst>
          </p:cNvPr>
          <p:cNvSpPr txBox="1"/>
          <p:nvPr/>
        </p:nvSpPr>
        <p:spPr>
          <a:xfrm>
            <a:off x="4354195" y="5028608"/>
            <a:ext cx="12446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Microsoft YaHei"/>
                <a:cs typeface="Microsoft YaHei"/>
              </a:rPr>
              <a:t>-</a:t>
            </a:r>
            <a:endParaRPr sz="1800" dirty="0">
              <a:latin typeface="Microsoft YaHei"/>
              <a:cs typeface="Microsoft YaHei"/>
            </a:endParaRPr>
          </a:p>
        </p:txBody>
      </p:sp>
      <p:pic>
        <p:nvPicPr>
          <p:cNvPr id="117" name="object 75">
            <a:extLst>
              <a:ext uri="{FF2B5EF4-FFF2-40B4-BE49-F238E27FC236}">
                <a16:creationId xmlns:a16="http://schemas.microsoft.com/office/drawing/2014/main" id="{79F8A844-806C-7C89-B791-C4AA7DA934F3}"/>
              </a:ext>
            </a:extLst>
          </p:cNvPr>
          <p:cNvPicPr/>
          <p:nvPr/>
        </p:nvPicPr>
        <p:blipFill>
          <a:blip r:embed="rId15" cstate="print"/>
          <a:stretch>
            <a:fillRect/>
          </a:stretch>
        </p:blipFill>
        <p:spPr>
          <a:xfrm>
            <a:off x="2377826" y="3607364"/>
            <a:ext cx="229705" cy="169428"/>
          </a:xfrm>
          <a:prstGeom prst="rect">
            <a:avLst/>
          </a:prstGeom>
        </p:spPr>
      </p:pic>
      <p:grpSp>
        <p:nvGrpSpPr>
          <p:cNvPr id="118" name="object 76">
            <a:extLst>
              <a:ext uri="{FF2B5EF4-FFF2-40B4-BE49-F238E27FC236}">
                <a16:creationId xmlns:a16="http://schemas.microsoft.com/office/drawing/2014/main" id="{E9563031-9FC0-46FC-8DB8-40617C683B6B}"/>
              </a:ext>
            </a:extLst>
          </p:cNvPr>
          <p:cNvGrpSpPr/>
          <p:nvPr/>
        </p:nvGrpSpPr>
        <p:grpSpPr>
          <a:xfrm>
            <a:off x="4206611" y="3607364"/>
            <a:ext cx="356870" cy="168275"/>
            <a:chOff x="4206611" y="3336429"/>
            <a:chExt cx="356870" cy="168275"/>
          </a:xfrm>
        </p:grpSpPr>
        <p:pic>
          <p:nvPicPr>
            <p:cNvPr id="119" name="object 77">
              <a:extLst>
                <a:ext uri="{FF2B5EF4-FFF2-40B4-BE49-F238E27FC236}">
                  <a16:creationId xmlns:a16="http://schemas.microsoft.com/office/drawing/2014/main" id="{3CD94C5D-0964-38F9-8ADD-B3B67FEA91E2}"/>
                </a:ext>
              </a:extLst>
            </p:cNvPr>
            <p:cNvPicPr/>
            <p:nvPr/>
          </p:nvPicPr>
          <p:blipFill>
            <a:blip r:embed="rId4" cstate="print"/>
            <a:stretch>
              <a:fillRect/>
            </a:stretch>
          </p:blipFill>
          <p:spPr>
            <a:xfrm>
              <a:off x="4206611" y="3336429"/>
              <a:ext cx="202565" cy="167844"/>
            </a:xfrm>
            <a:prstGeom prst="rect">
              <a:avLst/>
            </a:prstGeom>
          </p:spPr>
        </p:pic>
        <p:sp>
          <p:nvSpPr>
            <p:cNvPr id="120" name="object 78">
              <a:extLst>
                <a:ext uri="{FF2B5EF4-FFF2-40B4-BE49-F238E27FC236}">
                  <a16:creationId xmlns:a16="http://schemas.microsoft.com/office/drawing/2014/main" id="{BBF467B7-3E79-2D6D-9A45-5D2527FD22D3}"/>
                </a:ext>
              </a:extLst>
            </p:cNvPr>
            <p:cNvSpPr/>
            <p:nvPr/>
          </p:nvSpPr>
          <p:spPr>
            <a:xfrm>
              <a:off x="4447307" y="3452020"/>
              <a:ext cx="116205" cy="6350"/>
            </a:xfrm>
            <a:custGeom>
              <a:avLst/>
              <a:gdLst/>
              <a:ahLst/>
              <a:cxnLst/>
              <a:rect l="l" t="t" r="r" b="b"/>
              <a:pathLst>
                <a:path w="116204" h="6350">
                  <a:moveTo>
                    <a:pt x="114545" y="0"/>
                  </a:moveTo>
                  <a:lnTo>
                    <a:pt x="3177" y="0"/>
                  </a:lnTo>
                  <a:lnTo>
                    <a:pt x="1417" y="0"/>
                  </a:lnTo>
                  <a:lnTo>
                    <a:pt x="0" y="1418"/>
                  </a:lnTo>
                  <a:lnTo>
                    <a:pt x="0" y="4915"/>
                  </a:lnTo>
                  <a:lnTo>
                    <a:pt x="1417" y="6333"/>
                  </a:lnTo>
                  <a:lnTo>
                    <a:pt x="114545" y="6333"/>
                  </a:lnTo>
                  <a:lnTo>
                    <a:pt x="115963" y="4915"/>
                  </a:lnTo>
                  <a:lnTo>
                    <a:pt x="115963" y="1418"/>
                  </a:lnTo>
                  <a:lnTo>
                    <a:pt x="114545" y="0"/>
                  </a:lnTo>
                  <a:close/>
                </a:path>
              </a:pathLst>
            </a:custGeom>
            <a:solidFill>
              <a:srgbClr val="000000"/>
            </a:solidFill>
          </p:spPr>
          <p:txBody>
            <a:bodyPr wrap="square" lIns="0" tIns="0" rIns="0" bIns="0" rtlCol="0"/>
            <a:lstStyle/>
            <a:p>
              <a:endParaRPr/>
            </a:p>
          </p:txBody>
        </p:sp>
      </p:grpSp>
      <p:pic>
        <p:nvPicPr>
          <p:cNvPr id="121" name="object 79">
            <a:extLst>
              <a:ext uri="{FF2B5EF4-FFF2-40B4-BE49-F238E27FC236}">
                <a16:creationId xmlns:a16="http://schemas.microsoft.com/office/drawing/2014/main" id="{F8FC3E91-0091-CC0A-76EA-CCCF28BAEF97}"/>
              </a:ext>
            </a:extLst>
          </p:cNvPr>
          <p:cNvPicPr/>
          <p:nvPr/>
        </p:nvPicPr>
        <p:blipFill>
          <a:blip r:embed="rId5" cstate="print"/>
          <a:stretch>
            <a:fillRect/>
          </a:stretch>
        </p:blipFill>
        <p:spPr>
          <a:xfrm>
            <a:off x="4609344" y="3661993"/>
            <a:ext cx="64344" cy="110840"/>
          </a:xfrm>
          <a:prstGeom prst="rect">
            <a:avLst/>
          </a:prstGeom>
        </p:spPr>
      </p:pic>
      <p:pic>
        <p:nvPicPr>
          <p:cNvPr id="122" name="object 80">
            <a:extLst>
              <a:ext uri="{FF2B5EF4-FFF2-40B4-BE49-F238E27FC236}">
                <a16:creationId xmlns:a16="http://schemas.microsoft.com/office/drawing/2014/main" id="{0AD112F2-A339-4125-4793-3CF1220E50A4}"/>
              </a:ext>
            </a:extLst>
          </p:cNvPr>
          <p:cNvPicPr/>
          <p:nvPr/>
        </p:nvPicPr>
        <p:blipFill>
          <a:blip r:embed="rId16" cstate="print"/>
          <a:stretch>
            <a:fillRect/>
          </a:stretch>
        </p:blipFill>
        <p:spPr>
          <a:xfrm>
            <a:off x="7609400" y="3606392"/>
            <a:ext cx="200371" cy="168453"/>
          </a:xfrm>
          <a:prstGeom prst="rect">
            <a:avLst/>
          </a:prstGeom>
        </p:spPr>
      </p:pic>
      <p:pic>
        <p:nvPicPr>
          <p:cNvPr id="123" name="object 81">
            <a:extLst>
              <a:ext uri="{FF2B5EF4-FFF2-40B4-BE49-F238E27FC236}">
                <a16:creationId xmlns:a16="http://schemas.microsoft.com/office/drawing/2014/main" id="{49BFAB6D-9425-B4D0-09B9-1EAE4F83ECB9}"/>
              </a:ext>
            </a:extLst>
          </p:cNvPr>
          <p:cNvPicPr/>
          <p:nvPr/>
        </p:nvPicPr>
        <p:blipFill>
          <a:blip r:embed="rId17" cstate="print"/>
          <a:stretch>
            <a:fillRect/>
          </a:stretch>
        </p:blipFill>
        <p:spPr>
          <a:xfrm>
            <a:off x="9523797" y="3607364"/>
            <a:ext cx="262473" cy="165470"/>
          </a:xfrm>
          <a:prstGeom prst="rect">
            <a:avLst/>
          </a:prstGeom>
        </p:spPr>
      </p:pic>
      <p:grpSp>
        <p:nvGrpSpPr>
          <p:cNvPr id="124" name="object 82">
            <a:extLst>
              <a:ext uri="{FF2B5EF4-FFF2-40B4-BE49-F238E27FC236}">
                <a16:creationId xmlns:a16="http://schemas.microsoft.com/office/drawing/2014/main" id="{1391B490-A0C5-8C3D-324B-63E849D9F666}"/>
              </a:ext>
            </a:extLst>
          </p:cNvPr>
          <p:cNvGrpSpPr/>
          <p:nvPr/>
        </p:nvGrpSpPr>
        <p:grpSpPr>
          <a:xfrm>
            <a:off x="5818632" y="1916855"/>
            <a:ext cx="586740" cy="588645"/>
            <a:chOff x="5818632" y="1645920"/>
            <a:chExt cx="586740" cy="588645"/>
          </a:xfrm>
        </p:grpSpPr>
        <p:pic>
          <p:nvPicPr>
            <p:cNvPr id="125" name="object 83">
              <a:extLst>
                <a:ext uri="{FF2B5EF4-FFF2-40B4-BE49-F238E27FC236}">
                  <a16:creationId xmlns:a16="http://schemas.microsoft.com/office/drawing/2014/main" id="{9B8F3043-DEAD-9D92-47AD-BC4C34DB7BD9}"/>
                </a:ext>
              </a:extLst>
            </p:cNvPr>
            <p:cNvPicPr/>
            <p:nvPr/>
          </p:nvPicPr>
          <p:blipFill>
            <a:blip r:embed="rId18" cstate="print"/>
            <a:stretch>
              <a:fillRect/>
            </a:stretch>
          </p:blipFill>
          <p:spPr>
            <a:xfrm>
              <a:off x="5818632" y="1645920"/>
              <a:ext cx="586739" cy="588263"/>
            </a:xfrm>
            <a:prstGeom prst="rect">
              <a:avLst/>
            </a:prstGeom>
          </p:spPr>
        </p:pic>
        <p:sp>
          <p:nvSpPr>
            <p:cNvPr id="126" name="object 84">
              <a:extLst>
                <a:ext uri="{FF2B5EF4-FFF2-40B4-BE49-F238E27FC236}">
                  <a16:creationId xmlns:a16="http://schemas.microsoft.com/office/drawing/2014/main" id="{982B1BD6-ABFD-100F-41C3-B2B5EE113ACB}"/>
                </a:ext>
              </a:extLst>
            </p:cNvPr>
            <p:cNvSpPr/>
            <p:nvPr/>
          </p:nvSpPr>
          <p:spPr>
            <a:xfrm>
              <a:off x="5818632" y="1653540"/>
              <a:ext cx="586740" cy="581025"/>
            </a:xfrm>
            <a:custGeom>
              <a:avLst/>
              <a:gdLst/>
              <a:ahLst/>
              <a:cxnLst/>
              <a:rect l="l" t="t" r="r" b="b"/>
              <a:pathLst>
                <a:path w="586739" h="581025">
                  <a:moveTo>
                    <a:pt x="586739" y="0"/>
                  </a:moveTo>
                  <a:lnTo>
                    <a:pt x="0" y="0"/>
                  </a:lnTo>
                  <a:lnTo>
                    <a:pt x="0" y="580643"/>
                  </a:lnTo>
                  <a:lnTo>
                    <a:pt x="586739" y="580643"/>
                  </a:lnTo>
                  <a:lnTo>
                    <a:pt x="586739" y="0"/>
                  </a:lnTo>
                  <a:close/>
                </a:path>
              </a:pathLst>
            </a:custGeom>
            <a:solidFill>
              <a:srgbClr val="FFFFFF">
                <a:alpha val="45097"/>
              </a:srgbClr>
            </a:solidFill>
          </p:spPr>
          <p:txBody>
            <a:bodyPr wrap="square" lIns="0" tIns="0" rIns="0" bIns="0" rtlCol="0"/>
            <a:lstStyle/>
            <a:p>
              <a:endParaRPr/>
            </a:p>
          </p:txBody>
        </p:sp>
        <p:sp>
          <p:nvSpPr>
            <p:cNvPr id="127" name="object 85">
              <a:extLst>
                <a:ext uri="{FF2B5EF4-FFF2-40B4-BE49-F238E27FC236}">
                  <a16:creationId xmlns:a16="http://schemas.microsoft.com/office/drawing/2014/main" id="{D55B32BB-53FA-F627-7289-BCE4ACFDCEAB}"/>
                </a:ext>
              </a:extLst>
            </p:cNvPr>
            <p:cNvSpPr/>
            <p:nvPr/>
          </p:nvSpPr>
          <p:spPr>
            <a:xfrm>
              <a:off x="5871972" y="1763267"/>
              <a:ext cx="500380" cy="339090"/>
            </a:xfrm>
            <a:custGeom>
              <a:avLst/>
              <a:gdLst/>
              <a:ahLst/>
              <a:cxnLst/>
              <a:rect l="l" t="t" r="r" b="b"/>
              <a:pathLst>
                <a:path w="500379" h="339089">
                  <a:moveTo>
                    <a:pt x="500126" y="271272"/>
                  </a:moveTo>
                  <a:lnTo>
                    <a:pt x="487426" y="264922"/>
                  </a:lnTo>
                  <a:lnTo>
                    <a:pt x="449326" y="245872"/>
                  </a:lnTo>
                  <a:lnTo>
                    <a:pt x="449326" y="264922"/>
                  </a:lnTo>
                  <a:lnTo>
                    <a:pt x="236474" y="264922"/>
                  </a:lnTo>
                  <a:lnTo>
                    <a:pt x="236474" y="50800"/>
                  </a:lnTo>
                  <a:lnTo>
                    <a:pt x="255524" y="50800"/>
                  </a:lnTo>
                  <a:lnTo>
                    <a:pt x="249174" y="38100"/>
                  </a:lnTo>
                  <a:lnTo>
                    <a:pt x="230124" y="0"/>
                  </a:lnTo>
                  <a:lnTo>
                    <a:pt x="204724" y="50800"/>
                  </a:lnTo>
                  <a:lnTo>
                    <a:pt x="223774" y="50800"/>
                  </a:lnTo>
                  <a:lnTo>
                    <a:pt x="223774" y="264922"/>
                  </a:lnTo>
                  <a:lnTo>
                    <a:pt x="0" y="264922"/>
                  </a:lnTo>
                  <a:lnTo>
                    <a:pt x="0" y="277622"/>
                  </a:lnTo>
                  <a:lnTo>
                    <a:pt x="223774" y="277622"/>
                  </a:lnTo>
                  <a:lnTo>
                    <a:pt x="223774" y="338709"/>
                  </a:lnTo>
                  <a:lnTo>
                    <a:pt x="236474" y="338709"/>
                  </a:lnTo>
                  <a:lnTo>
                    <a:pt x="236474" y="277622"/>
                  </a:lnTo>
                  <a:lnTo>
                    <a:pt x="449326" y="277622"/>
                  </a:lnTo>
                  <a:lnTo>
                    <a:pt x="449326" y="296672"/>
                  </a:lnTo>
                  <a:lnTo>
                    <a:pt x="487426" y="277622"/>
                  </a:lnTo>
                  <a:lnTo>
                    <a:pt x="500126" y="271272"/>
                  </a:lnTo>
                  <a:close/>
                </a:path>
              </a:pathLst>
            </a:custGeom>
            <a:solidFill>
              <a:srgbClr val="000000"/>
            </a:solidFill>
          </p:spPr>
          <p:txBody>
            <a:bodyPr wrap="square" lIns="0" tIns="0" rIns="0" bIns="0" rtlCol="0"/>
            <a:lstStyle/>
            <a:p>
              <a:endParaRPr/>
            </a:p>
          </p:txBody>
        </p:sp>
        <p:sp>
          <p:nvSpPr>
            <p:cNvPr id="128" name="object 86">
              <a:extLst>
                <a:ext uri="{FF2B5EF4-FFF2-40B4-BE49-F238E27FC236}">
                  <a16:creationId xmlns:a16="http://schemas.microsoft.com/office/drawing/2014/main" id="{4B004560-E149-3AF6-9F05-36F2F4B27EC9}"/>
                </a:ext>
              </a:extLst>
            </p:cNvPr>
            <p:cNvSpPr/>
            <p:nvPr/>
          </p:nvSpPr>
          <p:spPr>
            <a:xfrm>
              <a:off x="5942076" y="1847088"/>
              <a:ext cx="318770" cy="165100"/>
            </a:xfrm>
            <a:custGeom>
              <a:avLst/>
              <a:gdLst/>
              <a:ahLst/>
              <a:cxnLst/>
              <a:rect l="l" t="t" r="r" b="b"/>
              <a:pathLst>
                <a:path w="318770" h="165100">
                  <a:moveTo>
                    <a:pt x="0" y="164591"/>
                  </a:moveTo>
                  <a:lnTo>
                    <a:pt x="52814" y="143007"/>
                  </a:lnTo>
                  <a:lnTo>
                    <a:pt x="86985" y="109897"/>
                  </a:lnTo>
                  <a:lnTo>
                    <a:pt x="108696" y="72151"/>
                  </a:lnTo>
                  <a:lnTo>
                    <a:pt x="124130" y="36660"/>
                  </a:lnTo>
                  <a:lnTo>
                    <a:pt x="139473" y="10313"/>
                  </a:lnTo>
                  <a:lnTo>
                    <a:pt x="160909" y="0"/>
                  </a:lnTo>
                  <a:lnTo>
                    <a:pt x="181949" y="10278"/>
                  </a:lnTo>
                  <a:lnTo>
                    <a:pt x="196351" y="36547"/>
                  </a:lnTo>
                  <a:lnTo>
                    <a:pt x="210661" y="71961"/>
                  </a:lnTo>
                  <a:lnTo>
                    <a:pt x="231426" y="109671"/>
                  </a:lnTo>
                  <a:lnTo>
                    <a:pt x="265195" y="142830"/>
                  </a:lnTo>
                  <a:lnTo>
                    <a:pt x="318515" y="164591"/>
                  </a:lnTo>
                </a:path>
              </a:pathLst>
            </a:custGeom>
            <a:ln w="9524">
              <a:solidFill>
                <a:srgbClr val="C00000"/>
              </a:solidFill>
            </a:ln>
          </p:spPr>
          <p:txBody>
            <a:bodyPr wrap="square" lIns="0" tIns="0" rIns="0" bIns="0" rtlCol="0"/>
            <a:lstStyle/>
            <a:p>
              <a:endParaRPr/>
            </a:p>
          </p:txBody>
        </p:sp>
      </p:grpSp>
      <p:sp>
        <p:nvSpPr>
          <p:cNvPr id="129" name="object 87">
            <a:extLst>
              <a:ext uri="{FF2B5EF4-FFF2-40B4-BE49-F238E27FC236}">
                <a16:creationId xmlns:a16="http://schemas.microsoft.com/office/drawing/2014/main" id="{177191F2-CA5E-0EB5-F76A-F459E9064622}"/>
              </a:ext>
            </a:extLst>
          </p:cNvPr>
          <p:cNvSpPr txBox="1"/>
          <p:nvPr/>
        </p:nvSpPr>
        <p:spPr>
          <a:xfrm>
            <a:off x="5573395" y="2044998"/>
            <a:ext cx="1955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Microsoft YaHei"/>
                <a:cs typeface="Microsoft YaHei"/>
              </a:rPr>
              <a:t>+</a:t>
            </a:r>
            <a:endParaRPr sz="1800">
              <a:latin typeface="Microsoft YaHei"/>
              <a:cs typeface="Microsoft YaHei"/>
            </a:endParaRPr>
          </a:p>
        </p:txBody>
      </p:sp>
      <p:pic>
        <p:nvPicPr>
          <p:cNvPr id="130" name="object 88">
            <a:extLst>
              <a:ext uri="{FF2B5EF4-FFF2-40B4-BE49-F238E27FC236}">
                <a16:creationId xmlns:a16="http://schemas.microsoft.com/office/drawing/2014/main" id="{5BAB485B-25E2-F11B-C73B-D65310CEC185}"/>
              </a:ext>
            </a:extLst>
          </p:cNvPr>
          <p:cNvPicPr/>
          <p:nvPr/>
        </p:nvPicPr>
        <p:blipFill>
          <a:blip r:embed="rId12" cstate="print"/>
          <a:stretch>
            <a:fillRect/>
          </a:stretch>
        </p:blipFill>
        <p:spPr>
          <a:xfrm>
            <a:off x="5563870" y="2104052"/>
            <a:ext cx="213867" cy="213868"/>
          </a:xfrm>
          <a:prstGeom prst="rect">
            <a:avLst/>
          </a:prstGeom>
        </p:spPr>
      </p:pic>
      <p:pic>
        <p:nvPicPr>
          <p:cNvPr id="131" name="object 27">
            <a:extLst>
              <a:ext uri="{FF2B5EF4-FFF2-40B4-BE49-F238E27FC236}">
                <a16:creationId xmlns:a16="http://schemas.microsoft.com/office/drawing/2014/main" id="{34B04361-EED0-AAF5-C0E5-F693731C5950}"/>
              </a:ext>
            </a:extLst>
          </p:cNvPr>
          <p:cNvPicPr/>
          <p:nvPr/>
        </p:nvPicPr>
        <p:blipFill>
          <a:blip r:embed="rId9" cstate="print">
            <a:extLst>
              <a:ext uri="{28A0092B-C50C-407E-A947-70E740481C1C}">
                <a14:useLocalDpi xmlns:a14="http://schemas.microsoft.com/office/drawing/2010/main" val="0"/>
              </a:ext>
            </a:extLst>
          </a:blip>
          <a:srcRect/>
          <a:stretch/>
        </p:blipFill>
        <p:spPr>
          <a:xfrm>
            <a:off x="3936491" y="3927519"/>
            <a:ext cx="960119" cy="960119"/>
          </a:xfrm>
          <a:prstGeom prst="rect">
            <a:avLst/>
          </a:prstGeom>
        </p:spPr>
      </p:pic>
      <p:pic>
        <p:nvPicPr>
          <p:cNvPr id="132" name="object 28">
            <a:extLst>
              <a:ext uri="{FF2B5EF4-FFF2-40B4-BE49-F238E27FC236}">
                <a16:creationId xmlns:a16="http://schemas.microsoft.com/office/drawing/2014/main" id="{3A07959E-BB2A-0B2C-8678-71151E772E10}"/>
              </a:ext>
            </a:extLst>
          </p:cNvPr>
          <p:cNvPicPr/>
          <p:nvPr/>
        </p:nvPicPr>
        <p:blipFill>
          <a:blip r:embed="rId10" cstate="print">
            <a:extLst>
              <a:ext uri="{28A0092B-C50C-407E-A947-70E740481C1C}">
                <a14:useLocalDpi xmlns:a14="http://schemas.microsoft.com/office/drawing/2010/main" val="0"/>
              </a:ext>
            </a:extLst>
          </a:blip>
          <a:srcRect/>
          <a:stretch/>
        </p:blipFill>
        <p:spPr>
          <a:xfrm>
            <a:off x="7205471" y="3926757"/>
            <a:ext cx="961643" cy="961643"/>
          </a:xfrm>
          <a:prstGeom prst="rect">
            <a:avLst/>
          </a:prstGeom>
        </p:spPr>
      </p:pic>
      <p:pic>
        <p:nvPicPr>
          <p:cNvPr id="133" name="object 29">
            <a:extLst>
              <a:ext uri="{FF2B5EF4-FFF2-40B4-BE49-F238E27FC236}">
                <a16:creationId xmlns:a16="http://schemas.microsoft.com/office/drawing/2014/main" id="{05FBA09D-9563-F9FE-CB62-52E534A72F70}"/>
              </a:ext>
            </a:extLst>
          </p:cNvPr>
          <p:cNvPicPr/>
          <p:nvPr/>
        </p:nvPicPr>
        <p:blipFill>
          <a:blip r:embed="rId11" cstate="print">
            <a:extLst>
              <a:ext uri="{28A0092B-C50C-407E-A947-70E740481C1C}">
                <a14:useLocalDpi xmlns:a14="http://schemas.microsoft.com/office/drawing/2010/main" val="0"/>
              </a:ext>
            </a:extLst>
          </a:blip>
          <a:srcRect/>
          <a:stretch/>
        </p:blipFill>
        <p:spPr>
          <a:xfrm>
            <a:off x="9151619" y="3926757"/>
            <a:ext cx="961643" cy="961643"/>
          </a:xfrm>
          <a:prstGeom prst="rect">
            <a:avLst/>
          </a:prstGeom>
        </p:spPr>
      </p:pic>
      <p:sp>
        <p:nvSpPr>
          <p:cNvPr id="134" name="文本框 133">
            <a:extLst>
              <a:ext uri="{FF2B5EF4-FFF2-40B4-BE49-F238E27FC236}">
                <a16:creationId xmlns:a16="http://schemas.microsoft.com/office/drawing/2014/main" id="{8DA4B264-9B7E-C9A4-57A0-354A53322444}"/>
              </a:ext>
            </a:extLst>
          </p:cNvPr>
          <p:cNvSpPr txBox="1"/>
          <p:nvPr/>
        </p:nvSpPr>
        <p:spPr>
          <a:xfrm>
            <a:off x="5219827" y="5870825"/>
            <a:ext cx="1752346" cy="369332"/>
          </a:xfrm>
          <a:prstGeom prst="rect">
            <a:avLst/>
          </a:prstGeom>
          <a:noFill/>
        </p:spPr>
        <p:txBody>
          <a:bodyPr wrap="square">
            <a:spAutoFit/>
          </a:bodyPr>
          <a:lstStyle/>
          <a:p>
            <a:pPr marL="12700">
              <a:lnSpc>
                <a:spcPct val="100000"/>
              </a:lnSpc>
              <a:spcBef>
                <a:spcPts val="1430"/>
              </a:spcBef>
            </a:pPr>
            <a:r>
              <a:rPr lang="en-US" altLang="zh-CN" sz="1800" b="1" dirty="0">
                <a:latin typeface="Calibri"/>
                <a:cs typeface="Calibri"/>
              </a:rPr>
              <a:t>Denoise</a:t>
            </a:r>
            <a:r>
              <a:rPr lang="en-US" altLang="zh-CN" sz="1800" b="1" spc="-70" dirty="0">
                <a:latin typeface="Calibri"/>
                <a:cs typeface="Calibri"/>
              </a:rPr>
              <a:t> </a:t>
            </a:r>
            <a:r>
              <a:rPr lang="en-US" altLang="zh-CN" sz="1800" spc="-10" dirty="0">
                <a:latin typeface="Calibri"/>
                <a:cs typeface="Calibri"/>
              </a:rPr>
              <a:t>Process</a:t>
            </a:r>
            <a:endParaRPr lang="en-US" altLang="zh-CN" sz="1800" dirty="0">
              <a:latin typeface="Calibri"/>
              <a:cs typeface="Calibri"/>
            </a:endParaRPr>
          </a:p>
        </p:txBody>
      </p:sp>
      <p:sp>
        <p:nvSpPr>
          <p:cNvPr id="135" name="文本框 134">
            <a:extLst>
              <a:ext uri="{FF2B5EF4-FFF2-40B4-BE49-F238E27FC236}">
                <a16:creationId xmlns:a16="http://schemas.microsoft.com/office/drawing/2014/main" id="{EDD0B7D1-94B8-3633-FF95-F303FA021006}"/>
              </a:ext>
            </a:extLst>
          </p:cNvPr>
          <p:cNvSpPr txBox="1"/>
          <p:nvPr/>
        </p:nvSpPr>
        <p:spPr>
          <a:xfrm>
            <a:off x="7292594" y="5530393"/>
            <a:ext cx="787395" cy="538609"/>
          </a:xfrm>
          <a:prstGeom prst="rect">
            <a:avLst/>
          </a:prstGeom>
          <a:noFill/>
        </p:spPr>
        <p:txBody>
          <a:bodyPr wrap="none" rtlCol="0">
            <a:spAutoFit/>
          </a:bodyPr>
          <a:lstStyle/>
          <a:p>
            <a:pPr algn="ctr"/>
            <a:r>
              <a:rPr lang="en-US" altLang="zh-CN" dirty="0">
                <a:solidFill>
                  <a:schemeClr val="accent1">
                    <a:lumMod val="75000"/>
                  </a:schemeClr>
                </a:solidFill>
                <a:latin typeface="Times New Roman" panose="02020603050405020304" pitchFamily="18" charset="0"/>
                <a:cs typeface="Times New Roman" panose="02020603050405020304" pitchFamily="18" charset="0"/>
              </a:rPr>
              <a:t>Model</a:t>
            </a:r>
          </a:p>
          <a:p>
            <a:pPr algn="ctr"/>
            <a:r>
              <a:rPr lang="zh-CN" altLang="en-US" sz="1100" dirty="0">
                <a:solidFill>
                  <a:schemeClr val="accent1">
                    <a:lumMod val="75000"/>
                  </a:schemeClr>
                </a:solidFill>
                <a:latin typeface="Times New Roman" panose="02020603050405020304" pitchFamily="18" charset="0"/>
                <a:cs typeface="Times New Roman" panose="02020603050405020304" pitchFamily="18" charset="0"/>
              </a:rPr>
              <a:t>（</a:t>
            </a:r>
            <a:r>
              <a:rPr lang="en-US" altLang="zh-CN" sz="1100" dirty="0">
                <a:solidFill>
                  <a:schemeClr val="accent1">
                    <a:lumMod val="75000"/>
                  </a:schemeClr>
                </a:solidFill>
                <a:latin typeface="Times New Roman" panose="02020603050405020304" pitchFamily="18" charset="0"/>
                <a:cs typeface="Times New Roman" panose="02020603050405020304" pitchFamily="18" charset="0"/>
              </a:rPr>
              <a:t>t</a:t>
            </a:r>
            <a:r>
              <a:rPr lang="zh-CN" altLang="en-US" sz="1100" dirty="0">
                <a:solidFill>
                  <a:schemeClr val="accent1">
                    <a:lumMod val="75000"/>
                  </a:schemeClr>
                </a:solidFill>
                <a:latin typeface="Times New Roman" panose="02020603050405020304" pitchFamily="18" charset="0"/>
                <a:cs typeface="Times New Roman" panose="02020603050405020304" pitchFamily="18" charset="0"/>
              </a:rPr>
              <a:t>）</a:t>
            </a:r>
            <a:endParaRPr lang="zh-CN" alt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36" name="箭头: 下 135">
            <a:extLst>
              <a:ext uri="{FF2B5EF4-FFF2-40B4-BE49-F238E27FC236}">
                <a16:creationId xmlns:a16="http://schemas.microsoft.com/office/drawing/2014/main" id="{334E172B-9E89-F167-0167-F7A2AF0E7277}"/>
              </a:ext>
            </a:extLst>
          </p:cNvPr>
          <p:cNvSpPr/>
          <p:nvPr/>
        </p:nvSpPr>
        <p:spPr>
          <a:xfrm>
            <a:off x="7656321" y="4897164"/>
            <a:ext cx="57026" cy="650890"/>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箭头: 下 136">
            <a:extLst>
              <a:ext uri="{FF2B5EF4-FFF2-40B4-BE49-F238E27FC236}">
                <a16:creationId xmlns:a16="http://schemas.microsoft.com/office/drawing/2014/main" id="{A9C85D1D-1AAE-1BA8-9462-7AFF17B0924E}"/>
              </a:ext>
            </a:extLst>
          </p:cNvPr>
          <p:cNvSpPr/>
          <p:nvPr/>
        </p:nvSpPr>
        <p:spPr>
          <a:xfrm rot="5400000">
            <a:off x="5928028" y="4607046"/>
            <a:ext cx="52060" cy="2502826"/>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 name="椭圆 137">
            <a:extLst>
              <a:ext uri="{FF2B5EF4-FFF2-40B4-BE49-F238E27FC236}">
                <a16:creationId xmlns:a16="http://schemas.microsoft.com/office/drawing/2014/main" id="{507A7141-3326-24CC-A7F9-C9B623ED4948}"/>
              </a:ext>
            </a:extLst>
          </p:cNvPr>
          <p:cNvSpPr/>
          <p:nvPr/>
        </p:nvSpPr>
        <p:spPr>
          <a:xfrm>
            <a:off x="4354195" y="5130272"/>
            <a:ext cx="126999" cy="126999"/>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箭头: 下 138">
            <a:extLst>
              <a:ext uri="{FF2B5EF4-FFF2-40B4-BE49-F238E27FC236}">
                <a16:creationId xmlns:a16="http://schemas.microsoft.com/office/drawing/2014/main" id="{AA377D87-D99B-E2D7-58D5-424ED3AEF54D}"/>
              </a:ext>
            </a:extLst>
          </p:cNvPr>
          <p:cNvSpPr/>
          <p:nvPr/>
        </p:nvSpPr>
        <p:spPr>
          <a:xfrm rot="10800000">
            <a:off x="4387912" y="5265573"/>
            <a:ext cx="57026" cy="247432"/>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箭头: 下 139">
            <a:extLst>
              <a:ext uri="{FF2B5EF4-FFF2-40B4-BE49-F238E27FC236}">
                <a16:creationId xmlns:a16="http://schemas.microsoft.com/office/drawing/2014/main" id="{AA04BC98-4829-64E8-0F2C-8FED23B42789}"/>
              </a:ext>
            </a:extLst>
          </p:cNvPr>
          <p:cNvSpPr/>
          <p:nvPr/>
        </p:nvSpPr>
        <p:spPr>
          <a:xfrm rot="10800000">
            <a:off x="4387911" y="4887637"/>
            <a:ext cx="57027" cy="237205"/>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下 140">
            <a:extLst>
              <a:ext uri="{FF2B5EF4-FFF2-40B4-BE49-F238E27FC236}">
                <a16:creationId xmlns:a16="http://schemas.microsoft.com/office/drawing/2014/main" id="{DABB1D23-5449-6B72-B2CF-F1E914F3B26F}"/>
              </a:ext>
            </a:extLst>
          </p:cNvPr>
          <p:cNvSpPr/>
          <p:nvPr/>
        </p:nvSpPr>
        <p:spPr>
          <a:xfrm rot="5400000">
            <a:off x="6058316" y="3581990"/>
            <a:ext cx="52060" cy="3211383"/>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2" name="标题 1">
            <a:extLst>
              <a:ext uri="{FF2B5EF4-FFF2-40B4-BE49-F238E27FC236}">
                <a16:creationId xmlns:a16="http://schemas.microsoft.com/office/drawing/2014/main" id="{736FB602-9BF9-E03B-DBEF-434C5FCD49EF}"/>
              </a:ext>
            </a:extLst>
          </p:cNvPr>
          <p:cNvSpPr txBox="1">
            <a:spLocks/>
          </p:cNvSpPr>
          <p:nvPr/>
        </p:nvSpPr>
        <p:spPr>
          <a:xfrm>
            <a:off x="-299806" y="319791"/>
            <a:ext cx="6042362" cy="728030"/>
          </a:xfrm>
          <a:prstGeom prst="rect">
            <a:avLst/>
          </a:prstGeom>
        </p:spPr>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r>
              <a:rPr lang="en-US" altLang="zh-CN" sz="4400" b="1" dirty="0">
                <a:solidFill>
                  <a:srgbClr val="000000"/>
                </a:solidFill>
                <a:ea typeface="+mn-ea"/>
                <a:cs typeface="+mn-cs"/>
              </a:rPr>
              <a:t>Diffusion</a:t>
            </a:r>
            <a:r>
              <a:rPr lang="en-US" altLang="zh-CN" sz="4400" b="1" spc="-60" dirty="0">
                <a:solidFill>
                  <a:srgbClr val="000000"/>
                </a:solidFill>
                <a:ea typeface="+mn-ea"/>
                <a:cs typeface="+mn-cs"/>
              </a:rPr>
              <a:t> </a:t>
            </a:r>
            <a:r>
              <a:rPr lang="en-US" altLang="zh-CN" sz="4400" b="1" dirty="0">
                <a:solidFill>
                  <a:srgbClr val="000000"/>
                </a:solidFill>
                <a:ea typeface="+mn-ea"/>
                <a:cs typeface="+mn-cs"/>
              </a:rPr>
              <a:t>Model</a:t>
            </a:r>
            <a:endParaRPr lang="zh-CN" altLang="en-US" sz="4400" dirty="0"/>
          </a:p>
        </p:txBody>
      </p:sp>
    </p:spTree>
    <p:extLst>
      <p:ext uri="{BB962C8B-B14F-4D97-AF65-F5344CB8AC3E}">
        <p14:creationId xmlns:p14="http://schemas.microsoft.com/office/powerpoint/2010/main" val="1401392408"/>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500"/>
                                        <p:tgtEl>
                                          <p:spTgt spid="7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fade">
                                      <p:cBhvr>
                                        <p:cTn id="10" dur="500"/>
                                        <p:tgtEl>
                                          <p:spTgt spid="7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3"/>
                                        </p:tgtEl>
                                        <p:attrNameLst>
                                          <p:attrName>style.visibility</p:attrName>
                                        </p:attrNameLst>
                                      </p:cBhvr>
                                      <p:to>
                                        <p:strVal val="visible"/>
                                      </p:to>
                                    </p:set>
                                    <p:animEffect transition="in" filter="fade">
                                      <p:cBhvr>
                                        <p:cTn id="13" dur="500"/>
                                        <p:tgtEl>
                                          <p:spTgt spid="8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4"/>
                                        </p:tgtEl>
                                        <p:attrNameLst>
                                          <p:attrName>style.visibility</p:attrName>
                                        </p:attrNameLst>
                                      </p:cBhvr>
                                      <p:to>
                                        <p:strVal val="visible"/>
                                      </p:to>
                                    </p:set>
                                    <p:animEffect transition="in" filter="fade">
                                      <p:cBhvr>
                                        <p:cTn id="16" dur="500"/>
                                        <p:tgtEl>
                                          <p:spTgt spid="8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5"/>
                                        </p:tgtEl>
                                        <p:attrNameLst>
                                          <p:attrName>style.visibility</p:attrName>
                                        </p:attrNameLst>
                                      </p:cBhvr>
                                      <p:to>
                                        <p:strVal val="visible"/>
                                      </p:to>
                                    </p:set>
                                    <p:animEffect transition="in" filter="fade">
                                      <p:cBhvr>
                                        <p:cTn id="19" dur="500"/>
                                        <p:tgtEl>
                                          <p:spTgt spid="8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fade">
                                      <p:cBhvr>
                                        <p:cTn id="22" dur="500"/>
                                        <p:tgtEl>
                                          <p:spTgt spid="8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7"/>
                                        </p:tgtEl>
                                        <p:attrNameLst>
                                          <p:attrName>style.visibility</p:attrName>
                                        </p:attrNameLst>
                                      </p:cBhvr>
                                      <p:to>
                                        <p:strVal val="visible"/>
                                      </p:to>
                                    </p:set>
                                    <p:animEffect transition="in" filter="fade">
                                      <p:cBhvr>
                                        <p:cTn id="25" dur="500"/>
                                        <p:tgtEl>
                                          <p:spTgt spid="87"/>
                                        </p:tgtEl>
                                      </p:cBhvr>
                                    </p:animEffect>
                                  </p:childTnLst>
                                </p:cTn>
                              </p:par>
                              <p:par>
                                <p:cTn id="26" presetID="10" presetClass="entr" presetSubtype="0" fill="hold" nodeType="withEffect">
                                  <p:stCondLst>
                                    <p:cond delay="0"/>
                                  </p:stCondLst>
                                  <p:childTnLst>
                                    <p:set>
                                      <p:cBhvr>
                                        <p:cTn id="27" dur="1" fill="hold">
                                          <p:stCondLst>
                                            <p:cond delay="0"/>
                                          </p:stCondLst>
                                        </p:cTn>
                                        <p:tgtEl>
                                          <p:spTgt spid="88"/>
                                        </p:tgtEl>
                                        <p:attrNameLst>
                                          <p:attrName>style.visibility</p:attrName>
                                        </p:attrNameLst>
                                      </p:cBhvr>
                                      <p:to>
                                        <p:strVal val="visible"/>
                                      </p:to>
                                    </p:set>
                                    <p:animEffect transition="in" filter="fade">
                                      <p:cBhvr>
                                        <p:cTn id="28" dur="500"/>
                                        <p:tgtEl>
                                          <p:spTgt spid="8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8"/>
                                        </p:tgtEl>
                                        <p:attrNameLst>
                                          <p:attrName>style.visibility</p:attrName>
                                        </p:attrNameLst>
                                      </p:cBhvr>
                                      <p:to>
                                        <p:strVal val="visible"/>
                                      </p:to>
                                    </p:set>
                                    <p:animEffect transition="in" filter="fade">
                                      <p:cBhvr>
                                        <p:cTn id="31" dur="500"/>
                                        <p:tgtEl>
                                          <p:spTgt spid="98"/>
                                        </p:tgtEl>
                                      </p:cBhvr>
                                    </p:animEffect>
                                  </p:childTnLst>
                                </p:cTn>
                              </p:par>
                              <p:par>
                                <p:cTn id="32" presetID="10" presetClass="entr" presetSubtype="0" fill="hold" nodeType="with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fade">
                                      <p:cBhvr>
                                        <p:cTn id="34" dur="500"/>
                                        <p:tgtEl>
                                          <p:spTgt spid="99"/>
                                        </p:tgtEl>
                                      </p:cBhvr>
                                    </p:animEffect>
                                  </p:childTnLst>
                                </p:cTn>
                              </p:par>
                              <p:par>
                                <p:cTn id="35" presetID="10"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500"/>
                                        <p:tgtEl>
                                          <p:spTgt spid="6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1"/>
                                        </p:tgtEl>
                                        <p:attrNameLst>
                                          <p:attrName>style.visibility</p:attrName>
                                        </p:attrNameLst>
                                      </p:cBhvr>
                                      <p:to>
                                        <p:strVal val="visible"/>
                                      </p:to>
                                    </p:set>
                                    <p:animEffect transition="in" filter="fade">
                                      <p:cBhvr>
                                        <p:cTn id="40" dur="500"/>
                                        <p:tgtEl>
                                          <p:spTgt spid="7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fade">
                                      <p:cBhvr>
                                        <p:cTn id="46" dur="500"/>
                                        <p:tgtEl>
                                          <p:spTgt spid="73"/>
                                        </p:tgtEl>
                                      </p:cBhvr>
                                    </p:animEffect>
                                  </p:childTnLst>
                                </p:cTn>
                              </p:par>
                              <p:par>
                                <p:cTn id="47" presetID="10" presetClass="entr" presetSubtype="0" fill="hold" nodeType="with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fade">
                                      <p:cBhvr>
                                        <p:cTn id="49" dur="500"/>
                                        <p:tgtEl>
                                          <p:spTgt spid="74"/>
                                        </p:tgtEl>
                                      </p:cBhvr>
                                    </p:animEffect>
                                  </p:childTnLst>
                                </p:cTn>
                              </p:par>
                              <p:par>
                                <p:cTn id="50" presetID="10" presetClass="entr" presetSubtype="0" fill="hold" nodeType="withEffect">
                                  <p:stCondLst>
                                    <p:cond delay="0"/>
                                  </p:stCondLst>
                                  <p:childTnLst>
                                    <p:set>
                                      <p:cBhvr>
                                        <p:cTn id="51" dur="1" fill="hold">
                                          <p:stCondLst>
                                            <p:cond delay="0"/>
                                          </p:stCondLst>
                                        </p:cTn>
                                        <p:tgtEl>
                                          <p:spTgt spid="78"/>
                                        </p:tgtEl>
                                        <p:attrNameLst>
                                          <p:attrName>style.visibility</p:attrName>
                                        </p:attrNameLst>
                                      </p:cBhvr>
                                      <p:to>
                                        <p:strVal val="visible"/>
                                      </p:to>
                                    </p:set>
                                    <p:animEffect transition="in" filter="fade">
                                      <p:cBhvr>
                                        <p:cTn id="52" dur="500"/>
                                        <p:tgtEl>
                                          <p:spTgt spid="7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0"/>
                                        </p:tgtEl>
                                        <p:attrNameLst>
                                          <p:attrName>style.visibility</p:attrName>
                                        </p:attrNameLst>
                                      </p:cBhvr>
                                      <p:to>
                                        <p:strVal val="visible"/>
                                      </p:to>
                                    </p:set>
                                    <p:animEffect transition="in" filter="fade">
                                      <p:cBhvr>
                                        <p:cTn id="55" dur="500"/>
                                        <p:tgtEl>
                                          <p:spTgt spid="8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fade">
                                      <p:cBhvr>
                                        <p:cTn id="58" dur="500"/>
                                        <p:tgtEl>
                                          <p:spTgt spid="8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animEffect transition="in" filter="fade">
                                      <p:cBhvr>
                                        <p:cTn id="61" dur="500"/>
                                        <p:tgtEl>
                                          <p:spTgt spid="82"/>
                                        </p:tgtEl>
                                      </p:cBhvr>
                                    </p:animEffect>
                                  </p:childTnLst>
                                </p:cTn>
                              </p:par>
                              <p:par>
                                <p:cTn id="62" presetID="10" presetClass="entr" presetSubtype="0" fill="hold" nodeType="withEffect">
                                  <p:stCondLst>
                                    <p:cond delay="0"/>
                                  </p:stCondLst>
                                  <p:childTnLst>
                                    <p:set>
                                      <p:cBhvr>
                                        <p:cTn id="63" dur="1" fill="hold">
                                          <p:stCondLst>
                                            <p:cond delay="0"/>
                                          </p:stCondLst>
                                        </p:cTn>
                                        <p:tgtEl>
                                          <p:spTgt spid="93"/>
                                        </p:tgtEl>
                                        <p:attrNameLst>
                                          <p:attrName>style.visibility</p:attrName>
                                        </p:attrNameLst>
                                      </p:cBhvr>
                                      <p:to>
                                        <p:strVal val="visible"/>
                                      </p:to>
                                    </p:set>
                                    <p:animEffect transition="in" filter="fade">
                                      <p:cBhvr>
                                        <p:cTn id="64" dur="500"/>
                                        <p:tgtEl>
                                          <p:spTgt spid="9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00"/>
                                        </p:tgtEl>
                                        <p:attrNameLst>
                                          <p:attrName>style.visibility</p:attrName>
                                        </p:attrNameLst>
                                      </p:cBhvr>
                                      <p:to>
                                        <p:strVal val="visible"/>
                                      </p:to>
                                    </p:set>
                                    <p:animEffect transition="in" filter="fade">
                                      <p:cBhvr>
                                        <p:cTn id="67" dur="500"/>
                                        <p:tgtEl>
                                          <p:spTgt spid="100"/>
                                        </p:tgtEl>
                                      </p:cBhvr>
                                    </p:animEffect>
                                  </p:childTnLst>
                                </p:cTn>
                              </p:par>
                              <p:par>
                                <p:cTn id="68" presetID="10" presetClass="entr" presetSubtype="0" fill="hold" nodeType="withEffect">
                                  <p:stCondLst>
                                    <p:cond delay="0"/>
                                  </p:stCondLst>
                                  <p:childTnLst>
                                    <p:set>
                                      <p:cBhvr>
                                        <p:cTn id="69" dur="1" fill="hold">
                                          <p:stCondLst>
                                            <p:cond delay="0"/>
                                          </p:stCondLst>
                                        </p:cTn>
                                        <p:tgtEl>
                                          <p:spTgt spid="101"/>
                                        </p:tgtEl>
                                        <p:attrNameLst>
                                          <p:attrName>style.visibility</p:attrName>
                                        </p:attrNameLst>
                                      </p:cBhvr>
                                      <p:to>
                                        <p:strVal val="visible"/>
                                      </p:to>
                                    </p:set>
                                    <p:animEffect transition="in" filter="fade">
                                      <p:cBhvr>
                                        <p:cTn id="70" dur="500"/>
                                        <p:tgtEl>
                                          <p:spTgt spid="10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02"/>
                                        </p:tgtEl>
                                        <p:attrNameLst>
                                          <p:attrName>style.visibility</p:attrName>
                                        </p:attrNameLst>
                                      </p:cBhvr>
                                      <p:to>
                                        <p:strVal val="visible"/>
                                      </p:to>
                                    </p:set>
                                    <p:animEffect transition="in" filter="fade">
                                      <p:cBhvr>
                                        <p:cTn id="75" dur="500"/>
                                        <p:tgtEl>
                                          <p:spTgt spid="10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03"/>
                                        </p:tgtEl>
                                        <p:attrNameLst>
                                          <p:attrName>style.visibility</p:attrName>
                                        </p:attrNameLst>
                                      </p:cBhvr>
                                      <p:to>
                                        <p:strVal val="visible"/>
                                      </p:to>
                                    </p:set>
                                    <p:animEffect transition="in" filter="fade">
                                      <p:cBhvr>
                                        <p:cTn id="78" dur="500"/>
                                        <p:tgtEl>
                                          <p:spTgt spid="10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04"/>
                                        </p:tgtEl>
                                        <p:attrNameLst>
                                          <p:attrName>style.visibility</p:attrName>
                                        </p:attrNameLst>
                                      </p:cBhvr>
                                      <p:to>
                                        <p:strVal val="visible"/>
                                      </p:to>
                                    </p:set>
                                    <p:animEffect transition="in" filter="fade">
                                      <p:cBhvr>
                                        <p:cTn id="81" dur="500"/>
                                        <p:tgtEl>
                                          <p:spTgt spid="104"/>
                                        </p:tgtEl>
                                      </p:cBhvr>
                                    </p:animEffect>
                                  </p:childTnLst>
                                </p:cTn>
                              </p:par>
                              <p:par>
                                <p:cTn id="82" presetID="10" presetClass="entr" presetSubtype="0" fill="hold" nodeType="withEffect">
                                  <p:stCondLst>
                                    <p:cond delay="0"/>
                                  </p:stCondLst>
                                  <p:childTnLst>
                                    <p:set>
                                      <p:cBhvr>
                                        <p:cTn id="83" dur="1" fill="hold">
                                          <p:stCondLst>
                                            <p:cond delay="0"/>
                                          </p:stCondLst>
                                        </p:cTn>
                                        <p:tgtEl>
                                          <p:spTgt spid="105"/>
                                        </p:tgtEl>
                                        <p:attrNameLst>
                                          <p:attrName>style.visibility</p:attrName>
                                        </p:attrNameLst>
                                      </p:cBhvr>
                                      <p:to>
                                        <p:strVal val="visible"/>
                                      </p:to>
                                    </p:set>
                                    <p:animEffect transition="in" filter="fade">
                                      <p:cBhvr>
                                        <p:cTn id="84" dur="500"/>
                                        <p:tgtEl>
                                          <p:spTgt spid="10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06"/>
                                        </p:tgtEl>
                                        <p:attrNameLst>
                                          <p:attrName>style.visibility</p:attrName>
                                        </p:attrNameLst>
                                      </p:cBhvr>
                                      <p:to>
                                        <p:strVal val="visible"/>
                                      </p:to>
                                    </p:set>
                                    <p:animEffect transition="in" filter="fade">
                                      <p:cBhvr>
                                        <p:cTn id="87" dur="500"/>
                                        <p:tgtEl>
                                          <p:spTgt spid="10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07"/>
                                        </p:tgtEl>
                                        <p:attrNameLst>
                                          <p:attrName>style.visibility</p:attrName>
                                        </p:attrNameLst>
                                      </p:cBhvr>
                                      <p:to>
                                        <p:strVal val="visible"/>
                                      </p:to>
                                    </p:set>
                                    <p:animEffect transition="in" filter="fade">
                                      <p:cBhvr>
                                        <p:cTn id="90" dur="500"/>
                                        <p:tgtEl>
                                          <p:spTgt spid="10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08"/>
                                        </p:tgtEl>
                                        <p:attrNameLst>
                                          <p:attrName>style.visibility</p:attrName>
                                        </p:attrNameLst>
                                      </p:cBhvr>
                                      <p:to>
                                        <p:strVal val="visible"/>
                                      </p:to>
                                    </p:set>
                                    <p:animEffect transition="in" filter="fade">
                                      <p:cBhvr>
                                        <p:cTn id="93" dur="500"/>
                                        <p:tgtEl>
                                          <p:spTgt spid="10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09"/>
                                        </p:tgtEl>
                                        <p:attrNameLst>
                                          <p:attrName>style.visibility</p:attrName>
                                        </p:attrNameLst>
                                      </p:cBhvr>
                                      <p:to>
                                        <p:strVal val="visible"/>
                                      </p:to>
                                    </p:set>
                                    <p:animEffect transition="in" filter="fade">
                                      <p:cBhvr>
                                        <p:cTn id="96" dur="500"/>
                                        <p:tgtEl>
                                          <p:spTgt spid="109"/>
                                        </p:tgtEl>
                                      </p:cBhvr>
                                    </p:animEffect>
                                  </p:childTnLst>
                                </p:cTn>
                              </p:par>
                              <p:par>
                                <p:cTn id="97" presetID="10" presetClass="entr" presetSubtype="0" fill="hold" nodeType="withEffect">
                                  <p:stCondLst>
                                    <p:cond delay="0"/>
                                  </p:stCondLst>
                                  <p:childTnLst>
                                    <p:set>
                                      <p:cBhvr>
                                        <p:cTn id="98" dur="1" fill="hold">
                                          <p:stCondLst>
                                            <p:cond delay="0"/>
                                          </p:stCondLst>
                                        </p:cTn>
                                        <p:tgtEl>
                                          <p:spTgt spid="110"/>
                                        </p:tgtEl>
                                        <p:attrNameLst>
                                          <p:attrName>style.visibility</p:attrName>
                                        </p:attrNameLst>
                                      </p:cBhvr>
                                      <p:to>
                                        <p:strVal val="visible"/>
                                      </p:to>
                                    </p:set>
                                    <p:animEffect transition="in" filter="fade">
                                      <p:cBhvr>
                                        <p:cTn id="99" dur="500"/>
                                        <p:tgtEl>
                                          <p:spTgt spid="110"/>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111"/>
                                        </p:tgtEl>
                                        <p:attrNameLst>
                                          <p:attrName>style.visibility</p:attrName>
                                        </p:attrNameLst>
                                      </p:cBhvr>
                                      <p:to>
                                        <p:strVal val="visible"/>
                                      </p:to>
                                    </p:set>
                                    <p:animEffect transition="in" filter="fade">
                                      <p:cBhvr>
                                        <p:cTn id="102" dur="500"/>
                                        <p:tgtEl>
                                          <p:spTgt spid="11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12"/>
                                        </p:tgtEl>
                                        <p:attrNameLst>
                                          <p:attrName>style.visibility</p:attrName>
                                        </p:attrNameLst>
                                      </p:cBhvr>
                                      <p:to>
                                        <p:strVal val="visible"/>
                                      </p:to>
                                    </p:set>
                                    <p:animEffect transition="in" filter="fade">
                                      <p:cBhvr>
                                        <p:cTn id="105" dur="500"/>
                                        <p:tgtEl>
                                          <p:spTgt spid="11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13"/>
                                        </p:tgtEl>
                                        <p:attrNameLst>
                                          <p:attrName>style.visibility</p:attrName>
                                        </p:attrNameLst>
                                      </p:cBhvr>
                                      <p:to>
                                        <p:strVal val="visible"/>
                                      </p:to>
                                    </p:set>
                                    <p:animEffect transition="in" filter="fade">
                                      <p:cBhvr>
                                        <p:cTn id="108" dur="500"/>
                                        <p:tgtEl>
                                          <p:spTgt spid="11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14"/>
                                        </p:tgtEl>
                                        <p:attrNameLst>
                                          <p:attrName>style.visibility</p:attrName>
                                        </p:attrNameLst>
                                      </p:cBhvr>
                                      <p:to>
                                        <p:strVal val="visible"/>
                                      </p:to>
                                    </p:set>
                                    <p:animEffect transition="in" filter="fade">
                                      <p:cBhvr>
                                        <p:cTn id="111" dur="500"/>
                                        <p:tgtEl>
                                          <p:spTgt spid="114"/>
                                        </p:tgtEl>
                                      </p:cBhvr>
                                    </p:animEffect>
                                  </p:childTnLst>
                                </p:cTn>
                              </p:par>
                              <p:par>
                                <p:cTn id="112" presetID="10" presetClass="entr" presetSubtype="0" fill="hold" nodeType="withEffect">
                                  <p:stCondLst>
                                    <p:cond delay="0"/>
                                  </p:stCondLst>
                                  <p:childTnLst>
                                    <p:set>
                                      <p:cBhvr>
                                        <p:cTn id="113" dur="1" fill="hold">
                                          <p:stCondLst>
                                            <p:cond delay="0"/>
                                          </p:stCondLst>
                                        </p:cTn>
                                        <p:tgtEl>
                                          <p:spTgt spid="115"/>
                                        </p:tgtEl>
                                        <p:attrNameLst>
                                          <p:attrName>style.visibility</p:attrName>
                                        </p:attrNameLst>
                                      </p:cBhvr>
                                      <p:to>
                                        <p:strVal val="visible"/>
                                      </p:to>
                                    </p:set>
                                    <p:animEffect transition="in" filter="fade">
                                      <p:cBhvr>
                                        <p:cTn id="114" dur="500"/>
                                        <p:tgtEl>
                                          <p:spTgt spid="115"/>
                                        </p:tgtEl>
                                      </p:cBhvr>
                                    </p:animEffect>
                                  </p:childTnLst>
                                </p:cTn>
                              </p:par>
                              <p:par>
                                <p:cTn id="115" presetID="10" presetClass="entr" presetSubtype="0" fill="hold" nodeType="withEffect">
                                  <p:stCondLst>
                                    <p:cond delay="0"/>
                                  </p:stCondLst>
                                  <p:childTnLst>
                                    <p:set>
                                      <p:cBhvr>
                                        <p:cTn id="116" dur="1" fill="hold">
                                          <p:stCondLst>
                                            <p:cond delay="0"/>
                                          </p:stCondLst>
                                        </p:cTn>
                                        <p:tgtEl>
                                          <p:spTgt spid="117"/>
                                        </p:tgtEl>
                                        <p:attrNameLst>
                                          <p:attrName>style.visibility</p:attrName>
                                        </p:attrNameLst>
                                      </p:cBhvr>
                                      <p:to>
                                        <p:strVal val="visible"/>
                                      </p:to>
                                    </p:set>
                                    <p:animEffect transition="in" filter="fade">
                                      <p:cBhvr>
                                        <p:cTn id="117" dur="500"/>
                                        <p:tgtEl>
                                          <p:spTgt spid="117"/>
                                        </p:tgtEl>
                                      </p:cBhvr>
                                    </p:animEffect>
                                  </p:childTnLst>
                                </p:cTn>
                              </p:par>
                              <p:par>
                                <p:cTn id="118" presetID="10" presetClass="entr" presetSubtype="0" fill="hold" nodeType="withEffect">
                                  <p:stCondLst>
                                    <p:cond delay="0"/>
                                  </p:stCondLst>
                                  <p:childTnLst>
                                    <p:set>
                                      <p:cBhvr>
                                        <p:cTn id="119" dur="1" fill="hold">
                                          <p:stCondLst>
                                            <p:cond delay="0"/>
                                          </p:stCondLst>
                                        </p:cTn>
                                        <p:tgtEl>
                                          <p:spTgt spid="118"/>
                                        </p:tgtEl>
                                        <p:attrNameLst>
                                          <p:attrName>style.visibility</p:attrName>
                                        </p:attrNameLst>
                                      </p:cBhvr>
                                      <p:to>
                                        <p:strVal val="visible"/>
                                      </p:to>
                                    </p:set>
                                    <p:animEffect transition="in" filter="fade">
                                      <p:cBhvr>
                                        <p:cTn id="120" dur="500"/>
                                        <p:tgtEl>
                                          <p:spTgt spid="118"/>
                                        </p:tgtEl>
                                      </p:cBhvr>
                                    </p:animEffect>
                                  </p:childTnLst>
                                </p:cTn>
                              </p:par>
                              <p:par>
                                <p:cTn id="121" presetID="10" presetClass="entr" presetSubtype="0" fill="hold" nodeType="withEffect">
                                  <p:stCondLst>
                                    <p:cond delay="0"/>
                                  </p:stCondLst>
                                  <p:childTnLst>
                                    <p:set>
                                      <p:cBhvr>
                                        <p:cTn id="122" dur="1" fill="hold">
                                          <p:stCondLst>
                                            <p:cond delay="0"/>
                                          </p:stCondLst>
                                        </p:cTn>
                                        <p:tgtEl>
                                          <p:spTgt spid="121"/>
                                        </p:tgtEl>
                                        <p:attrNameLst>
                                          <p:attrName>style.visibility</p:attrName>
                                        </p:attrNameLst>
                                      </p:cBhvr>
                                      <p:to>
                                        <p:strVal val="visible"/>
                                      </p:to>
                                    </p:set>
                                    <p:animEffect transition="in" filter="fade">
                                      <p:cBhvr>
                                        <p:cTn id="123" dur="500"/>
                                        <p:tgtEl>
                                          <p:spTgt spid="121"/>
                                        </p:tgtEl>
                                      </p:cBhvr>
                                    </p:animEffect>
                                  </p:childTnLst>
                                </p:cTn>
                              </p:par>
                              <p:par>
                                <p:cTn id="124" presetID="10" presetClass="entr" presetSubtype="0" fill="hold" nodeType="withEffect">
                                  <p:stCondLst>
                                    <p:cond delay="0"/>
                                  </p:stCondLst>
                                  <p:childTnLst>
                                    <p:set>
                                      <p:cBhvr>
                                        <p:cTn id="125" dur="1" fill="hold">
                                          <p:stCondLst>
                                            <p:cond delay="0"/>
                                          </p:stCondLst>
                                        </p:cTn>
                                        <p:tgtEl>
                                          <p:spTgt spid="122"/>
                                        </p:tgtEl>
                                        <p:attrNameLst>
                                          <p:attrName>style.visibility</p:attrName>
                                        </p:attrNameLst>
                                      </p:cBhvr>
                                      <p:to>
                                        <p:strVal val="visible"/>
                                      </p:to>
                                    </p:set>
                                    <p:animEffect transition="in" filter="fade">
                                      <p:cBhvr>
                                        <p:cTn id="126" dur="500"/>
                                        <p:tgtEl>
                                          <p:spTgt spid="122"/>
                                        </p:tgtEl>
                                      </p:cBhvr>
                                    </p:animEffect>
                                  </p:childTnLst>
                                </p:cTn>
                              </p:par>
                              <p:par>
                                <p:cTn id="127" presetID="10" presetClass="entr" presetSubtype="0" fill="hold" nodeType="withEffect">
                                  <p:stCondLst>
                                    <p:cond delay="0"/>
                                  </p:stCondLst>
                                  <p:childTnLst>
                                    <p:set>
                                      <p:cBhvr>
                                        <p:cTn id="128" dur="1" fill="hold">
                                          <p:stCondLst>
                                            <p:cond delay="0"/>
                                          </p:stCondLst>
                                        </p:cTn>
                                        <p:tgtEl>
                                          <p:spTgt spid="123"/>
                                        </p:tgtEl>
                                        <p:attrNameLst>
                                          <p:attrName>style.visibility</p:attrName>
                                        </p:attrNameLst>
                                      </p:cBhvr>
                                      <p:to>
                                        <p:strVal val="visible"/>
                                      </p:to>
                                    </p:set>
                                    <p:animEffect transition="in" filter="fade">
                                      <p:cBhvr>
                                        <p:cTn id="129" dur="500"/>
                                        <p:tgtEl>
                                          <p:spTgt spid="123"/>
                                        </p:tgtEl>
                                      </p:cBhvr>
                                    </p:animEffect>
                                  </p:childTnLst>
                                </p:cTn>
                              </p:par>
                              <p:par>
                                <p:cTn id="130" presetID="10" presetClass="entr" presetSubtype="0" fill="hold" nodeType="withEffect">
                                  <p:stCondLst>
                                    <p:cond delay="0"/>
                                  </p:stCondLst>
                                  <p:childTnLst>
                                    <p:set>
                                      <p:cBhvr>
                                        <p:cTn id="131" dur="1" fill="hold">
                                          <p:stCondLst>
                                            <p:cond delay="0"/>
                                          </p:stCondLst>
                                        </p:cTn>
                                        <p:tgtEl>
                                          <p:spTgt spid="131"/>
                                        </p:tgtEl>
                                        <p:attrNameLst>
                                          <p:attrName>style.visibility</p:attrName>
                                        </p:attrNameLst>
                                      </p:cBhvr>
                                      <p:to>
                                        <p:strVal val="visible"/>
                                      </p:to>
                                    </p:set>
                                    <p:animEffect transition="in" filter="fade">
                                      <p:cBhvr>
                                        <p:cTn id="132" dur="500"/>
                                        <p:tgtEl>
                                          <p:spTgt spid="131"/>
                                        </p:tgtEl>
                                      </p:cBhvr>
                                    </p:animEffect>
                                  </p:childTnLst>
                                </p:cTn>
                              </p:par>
                              <p:par>
                                <p:cTn id="133" presetID="10" presetClass="entr" presetSubtype="0" fill="hold" nodeType="withEffect">
                                  <p:stCondLst>
                                    <p:cond delay="0"/>
                                  </p:stCondLst>
                                  <p:childTnLst>
                                    <p:set>
                                      <p:cBhvr>
                                        <p:cTn id="134" dur="1" fill="hold">
                                          <p:stCondLst>
                                            <p:cond delay="0"/>
                                          </p:stCondLst>
                                        </p:cTn>
                                        <p:tgtEl>
                                          <p:spTgt spid="132"/>
                                        </p:tgtEl>
                                        <p:attrNameLst>
                                          <p:attrName>style.visibility</p:attrName>
                                        </p:attrNameLst>
                                      </p:cBhvr>
                                      <p:to>
                                        <p:strVal val="visible"/>
                                      </p:to>
                                    </p:set>
                                    <p:animEffect transition="in" filter="fade">
                                      <p:cBhvr>
                                        <p:cTn id="135" dur="500"/>
                                        <p:tgtEl>
                                          <p:spTgt spid="132"/>
                                        </p:tgtEl>
                                      </p:cBhvr>
                                    </p:animEffect>
                                  </p:childTnLst>
                                </p:cTn>
                              </p:par>
                              <p:par>
                                <p:cTn id="136" presetID="10" presetClass="entr" presetSubtype="0" fill="hold" nodeType="withEffect">
                                  <p:stCondLst>
                                    <p:cond delay="0"/>
                                  </p:stCondLst>
                                  <p:childTnLst>
                                    <p:set>
                                      <p:cBhvr>
                                        <p:cTn id="137" dur="1" fill="hold">
                                          <p:stCondLst>
                                            <p:cond delay="0"/>
                                          </p:stCondLst>
                                        </p:cTn>
                                        <p:tgtEl>
                                          <p:spTgt spid="133"/>
                                        </p:tgtEl>
                                        <p:attrNameLst>
                                          <p:attrName>style.visibility</p:attrName>
                                        </p:attrNameLst>
                                      </p:cBhvr>
                                      <p:to>
                                        <p:strVal val="visible"/>
                                      </p:to>
                                    </p:set>
                                    <p:animEffect transition="in" filter="fade">
                                      <p:cBhvr>
                                        <p:cTn id="138" dur="500"/>
                                        <p:tgtEl>
                                          <p:spTgt spid="133"/>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grpId="0" nodeType="clickEffect">
                                  <p:stCondLst>
                                    <p:cond delay="0"/>
                                  </p:stCondLst>
                                  <p:childTnLst>
                                    <p:set>
                                      <p:cBhvr>
                                        <p:cTn id="142" dur="1" fill="hold">
                                          <p:stCondLst>
                                            <p:cond delay="0"/>
                                          </p:stCondLst>
                                        </p:cTn>
                                        <p:tgtEl>
                                          <p:spTgt spid="136"/>
                                        </p:tgtEl>
                                        <p:attrNameLst>
                                          <p:attrName>style.visibility</p:attrName>
                                        </p:attrNameLst>
                                      </p:cBhvr>
                                      <p:to>
                                        <p:strVal val="visible"/>
                                      </p:to>
                                    </p:set>
                                    <p:animEffect transition="in" filter="wipe(up)">
                                      <p:cBhvr>
                                        <p:cTn id="143" dur="500"/>
                                        <p:tgtEl>
                                          <p:spTgt spid="136"/>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35"/>
                                        </p:tgtEl>
                                        <p:attrNameLst>
                                          <p:attrName>style.visibility</p:attrName>
                                        </p:attrNameLst>
                                      </p:cBhvr>
                                      <p:to>
                                        <p:strVal val="visible"/>
                                      </p:to>
                                    </p:set>
                                    <p:animEffect transition="in" filter="fade">
                                      <p:cBhvr>
                                        <p:cTn id="146" dur="500"/>
                                        <p:tgtEl>
                                          <p:spTgt spid="135"/>
                                        </p:tgtEl>
                                      </p:cBhvr>
                                    </p:animEffect>
                                  </p:childTnLst>
                                </p:cTn>
                              </p:par>
                            </p:childTnLst>
                          </p:cTn>
                        </p:par>
                        <p:par>
                          <p:cTn id="147" fill="hold">
                            <p:stCondLst>
                              <p:cond delay="500"/>
                            </p:stCondLst>
                            <p:childTnLst>
                              <p:par>
                                <p:cTn id="148" presetID="10" presetClass="entr" presetSubtype="0" fill="hold" grpId="0" nodeType="afterEffect">
                                  <p:stCondLst>
                                    <p:cond delay="0"/>
                                  </p:stCondLst>
                                  <p:childTnLst>
                                    <p:set>
                                      <p:cBhvr>
                                        <p:cTn id="149" dur="1" fill="hold">
                                          <p:stCondLst>
                                            <p:cond delay="0"/>
                                          </p:stCondLst>
                                        </p:cTn>
                                        <p:tgtEl>
                                          <p:spTgt spid="58"/>
                                        </p:tgtEl>
                                        <p:attrNameLst>
                                          <p:attrName>style.visibility</p:attrName>
                                        </p:attrNameLst>
                                      </p:cBhvr>
                                      <p:to>
                                        <p:strVal val="visible"/>
                                      </p:to>
                                    </p:set>
                                    <p:animEffect transition="in" filter="fade">
                                      <p:cBhvr>
                                        <p:cTn id="150" dur="500"/>
                                        <p:tgtEl>
                                          <p:spTgt spid="58"/>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2" fill="hold" grpId="0" nodeType="clickEffect">
                                  <p:stCondLst>
                                    <p:cond delay="0"/>
                                  </p:stCondLst>
                                  <p:childTnLst>
                                    <p:set>
                                      <p:cBhvr>
                                        <p:cTn id="154" dur="1" fill="hold">
                                          <p:stCondLst>
                                            <p:cond delay="0"/>
                                          </p:stCondLst>
                                        </p:cTn>
                                        <p:tgtEl>
                                          <p:spTgt spid="137"/>
                                        </p:tgtEl>
                                        <p:attrNameLst>
                                          <p:attrName>style.visibility</p:attrName>
                                        </p:attrNameLst>
                                      </p:cBhvr>
                                      <p:to>
                                        <p:strVal val="visible"/>
                                      </p:to>
                                    </p:set>
                                    <p:animEffect transition="in" filter="wipe(right)">
                                      <p:cBhvr>
                                        <p:cTn id="155" dur="500"/>
                                        <p:tgtEl>
                                          <p:spTgt spid="137"/>
                                        </p:tgtEl>
                                      </p:cBhvr>
                                    </p:animEffect>
                                  </p:childTnLst>
                                </p:cTn>
                              </p:par>
                            </p:childTnLst>
                          </p:cTn>
                        </p:par>
                        <p:par>
                          <p:cTn id="156" fill="hold">
                            <p:stCondLst>
                              <p:cond delay="500"/>
                            </p:stCondLst>
                            <p:childTnLst>
                              <p:par>
                                <p:cTn id="157" presetID="10" presetClass="entr" presetSubtype="0" fill="hold" nodeType="afterEffect">
                                  <p:stCondLst>
                                    <p:cond delay="0"/>
                                  </p:stCondLst>
                                  <p:childTnLst>
                                    <p:set>
                                      <p:cBhvr>
                                        <p:cTn id="158" dur="1" fill="hold">
                                          <p:stCondLst>
                                            <p:cond delay="0"/>
                                          </p:stCondLst>
                                        </p:cTn>
                                        <p:tgtEl>
                                          <p:spTgt spid="59"/>
                                        </p:tgtEl>
                                        <p:attrNameLst>
                                          <p:attrName>style.visibility</p:attrName>
                                        </p:attrNameLst>
                                      </p:cBhvr>
                                      <p:to>
                                        <p:strVal val="visible"/>
                                      </p:to>
                                    </p:set>
                                    <p:animEffect transition="in" filter="fade">
                                      <p:cBhvr>
                                        <p:cTn id="159" dur="500"/>
                                        <p:tgtEl>
                                          <p:spTgt spid="59"/>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4" fill="hold" grpId="0" nodeType="clickEffect">
                                  <p:stCondLst>
                                    <p:cond delay="0"/>
                                  </p:stCondLst>
                                  <p:childTnLst>
                                    <p:set>
                                      <p:cBhvr>
                                        <p:cTn id="163" dur="1" fill="hold">
                                          <p:stCondLst>
                                            <p:cond delay="0"/>
                                          </p:stCondLst>
                                        </p:cTn>
                                        <p:tgtEl>
                                          <p:spTgt spid="139"/>
                                        </p:tgtEl>
                                        <p:attrNameLst>
                                          <p:attrName>style.visibility</p:attrName>
                                        </p:attrNameLst>
                                      </p:cBhvr>
                                      <p:to>
                                        <p:strVal val="visible"/>
                                      </p:to>
                                    </p:set>
                                    <p:animEffect transition="in" filter="wipe(down)">
                                      <p:cBhvr>
                                        <p:cTn id="164" dur="500"/>
                                        <p:tgtEl>
                                          <p:spTgt spid="139"/>
                                        </p:tgtEl>
                                      </p:cBhvr>
                                    </p:animEffect>
                                  </p:childTnLst>
                                </p:cTn>
                              </p:par>
                              <p:par>
                                <p:cTn id="165" presetID="22" presetClass="entr" presetSubtype="2" fill="hold" grpId="0" nodeType="withEffect">
                                  <p:stCondLst>
                                    <p:cond delay="0"/>
                                  </p:stCondLst>
                                  <p:childTnLst>
                                    <p:set>
                                      <p:cBhvr>
                                        <p:cTn id="166" dur="1" fill="hold">
                                          <p:stCondLst>
                                            <p:cond delay="0"/>
                                          </p:stCondLst>
                                        </p:cTn>
                                        <p:tgtEl>
                                          <p:spTgt spid="141"/>
                                        </p:tgtEl>
                                        <p:attrNameLst>
                                          <p:attrName>style.visibility</p:attrName>
                                        </p:attrNameLst>
                                      </p:cBhvr>
                                      <p:to>
                                        <p:strVal val="visible"/>
                                      </p:to>
                                    </p:set>
                                    <p:animEffect transition="in" filter="wipe(right)">
                                      <p:cBhvr>
                                        <p:cTn id="167" dur="500"/>
                                        <p:tgtEl>
                                          <p:spTgt spid="141"/>
                                        </p:tgtEl>
                                      </p:cBhvr>
                                    </p:animEffect>
                                  </p:childTnLst>
                                </p:cTn>
                              </p:par>
                            </p:childTnLst>
                          </p:cTn>
                        </p:par>
                        <p:par>
                          <p:cTn id="168" fill="hold">
                            <p:stCondLst>
                              <p:cond delay="500"/>
                            </p:stCondLst>
                            <p:childTnLst>
                              <p:par>
                                <p:cTn id="169" presetID="10" presetClass="entr" presetSubtype="0" fill="hold" grpId="0" nodeType="afterEffect">
                                  <p:stCondLst>
                                    <p:cond delay="0"/>
                                  </p:stCondLst>
                                  <p:childTnLst>
                                    <p:set>
                                      <p:cBhvr>
                                        <p:cTn id="170" dur="1" fill="hold">
                                          <p:stCondLst>
                                            <p:cond delay="0"/>
                                          </p:stCondLst>
                                        </p:cTn>
                                        <p:tgtEl>
                                          <p:spTgt spid="138"/>
                                        </p:tgtEl>
                                        <p:attrNameLst>
                                          <p:attrName>style.visibility</p:attrName>
                                        </p:attrNameLst>
                                      </p:cBhvr>
                                      <p:to>
                                        <p:strVal val="visible"/>
                                      </p:to>
                                    </p:set>
                                    <p:animEffect transition="in" filter="fade">
                                      <p:cBhvr>
                                        <p:cTn id="171" dur="500"/>
                                        <p:tgtEl>
                                          <p:spTgt spid="138"/>
                                        </p:tgtEl>
                                      </p:cBhvr>
                                    </p:animEffect>
                                  </p:childTnLst>
                                </p:cTn>
                              </p:par>
                            </p:childTnLst>
                          </p:cTn>
                        </p:par>
                        <p:par>
                          <p:cTn id="172" fill="hold">
                            <p:stCondLst>
                              <p:cond delay="1000"/>
                            </p:stCondLst>
                            <p:childTnLst>
                              <p:par>
                                <p:cTn id="173" presetID="10" presetClass="entr" presetSubtype="0" fill="hold" grpId="0" nodeType="afterEffect">
                                  <p:stCondLst>
                                    <p:cond delay="0"/>
                                  </p:stCondLst>
                                  <p:childTnLst>
                                    <p:set>
                                      <p:cBhvr>
                                        <p:cTn id="174" dur="1" fill="hold">
                                          <p:stCondLst>
                                            <p:cond delay="0"/>
                                          </p:stCondLst>
                                        </p:cTn>
                                        <p:tgtEl>
                                          <p:spTgt spid="116"/>
                                        </p:tgtEl>
                                        <p:attrNameLst>
                                          <p:attrName>style.visibility</p:attrName>
                                        </p:attrNameLst>
                                      </p:cBhvr>
                                      <p:to>
                                        <p:strVal val="visible"/>
                                      </p:to>
                                    </p:set>
                                    <p:animEffect transition="in" filter="fade">
                                      <p:cBhvr>
                                        <p:cTn id="175" dur="500"/>
                                        <p:tgtEl>
                                          <p:spTgt spid="116"/>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4" fill="hold" grpId="0" nodeType="clickEffect">
                                  <p:stCondLst>
                                    <p:cond delay="0"/>
                                  </p:stCondLst>
                                  <p:childTnLst>
                                    <p:set>
                                      <p:cBhvr>
                                        <p:cTn id="179" dur="1" fill="hold">
                                          <p:stCondLst>
                                            <p:cond delay="0"/>
                                          </p:stCondLst>
                                        </p:cTn>
                                        <p:tgtEl>
                                          <p:spTgt spid="140"/>
                                        </p:tgtEl>
                                        <p:attrNameLst>
                                          <p:attrName>style.visibility</p:attrName>
                                        </p:attrNameLst>
                                      </p:cBhvr>
                                      <p:to>
                                        <p:strVal val="visible"/>
                                      </p:to>
                                    </p:set>
                                    <p:animEffect transition="in" filter="wipe(down)">
                                      <p:cBhvr>
                                        <p:cTn id="180" dur="500"/>
                                        <p:tgtEl>
                                          <p:spTgt spid="140"/>
                                        </p:tgtEl>
                                      </p:cBhvr>
                                    </p:animEffect>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134"/>
                                        </p:tgtEl>
                                        <p:attrNameLst>
                                          <p:attrName>style.visibility</p:attrName>
                                        </p:attrNameLst>
                                      </p:cBhvr>
                                      <p:to>
                                        <p:strVal val="visible"/>
                                      </p:to>
                                    </p:set>
                                    <p:animEffect transition="in" filter="fade">
                                      <p:cBhvr>
                                        <p:cTn id="185" dur="500"/>
                                        <p:tgtEl>
                                          <p:spTgt spid="13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57"/>
                                        </p:tgtEl>
                                        <p:attrNameLst>
                                          <p:attrName>style.visibility</p:attrName>
                                        </p:attrNameLst>
                                      </p:cBhvr>
                                      <p:to>
                                        <p:strVal val="visible"/>
                                      </p:to>
                                    </p:set>
                                    <p:animEffect transition="in" filter="fade">
                                      <p:cBhvr>
                                        <p:cTn id="18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71" grpId="0" animBg="1"/>
      <p:bldP spid="72" grpId="0" animBg="1"/>
      <p:bldP spid="73" grpId="0" animBg="1"/>
      <p:bldP spid="79" grpId="0"/>
      <p:bldP spid="80" grpId="0"/>
      <p:bldP spid="81" grpId="0" animBg="1"/>
      <p:bldP spid="82" grpId="0" animBg="1"/>
      <p:bldP spid="83" grpId="0" animBg="1"/>
      <p:bldP spid="84" grpId="0" animBg="1"/>
      <p:bldP spid="85" grpId="0" animBg="1"/>
      <p:bldP spid="86" grpId="0" animBg="1"/>
      <p:bldP spid="87" grpId="0" animBg="1"/>
      <p:bldP spid="98" grpId="0"/>
      <p:bldP spid="100" grpId="0"/>
      <p:bldP spid="102" grpId="0" animBg="1"/>
      <p:bldP spid="103" grpId="0" animBg="1"/>
      <p:bldP spid="104" grpId="0" animBg="1"/>
      <p:bldP spid="106" grpId="0"/>
      <p:bldP spid="107" grpId="0"/>
      <p:bldP spid="108" grpId="0" animBg="1"/>
      <p:bldP spid="109" grpId="0" animBg="1"/>
      <p:bldP spid="111" grpId="0" animBg="1"/>
      <p:bldP spid="112" grpId="0" animBg="1"/>
      <p:bldP spid="113" grpId="0" animBg="1"/>
      <p:bldP spid="114" grpId="0" animBg="1"/>
      <p:bldP spid="116" grpId="0"/>
      <p:bldP spid="134" grpId="0"/>
      <p:bldP spid="135" grpId="0"/>
      <p:bldP spid="136" grpId="0" animBg="1"/>
      <p:bldP spid="137" grpId="0" animBg="1"/>
      <p:bldP spid="138" grpId="0" animBg="1"/>
      <p:bldP spid="139" grpId="0" animBg="1"/>
      <p:bldP spid="140" grpId="0" animBg="1"/>
      <p:bldP spid="1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990B2-5F0B-DD75-9A8D-D8D61765C80E}"/>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E684DFEE-3737-691A-A901-CE5A205FB4DB}"/>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BCA1F5CF-1015-A680-F368-D772070C0A86}"/>
              </a:ext>
            </a:extLst>
          </p:cNvPr>
          <p:cNvSpPr>
            <a:spLocks noGrp="1"/>
          </p:cNvSpPr>
          <p:nvPr>
            <p:ph type="sldNum" sz="quarter" idx="12"/>
          </p:nvPr>
        </p:nvSpPr>
        <p:spPr/>
        <p:txBody>
          <a:bodyPr/>
          <a:lstStyle/>
          <a:p>
            <a:fld id="{0C913308-F349-4B6D-A68A-DD1791B4A57B}" type="slidenum">
              <a:rPr lang="zh-CN" altLang="en-US" smtClean="0"/>
              <a:t>9</a:t>
            </a:fld>
            <a:endParaRPr lang="zh-CN" altLang="en-US"/>
          </a:p>
        </p:txBody>
      </p:sp>
      <p:sp>
        <p:nvSpPr>
          <p:cNvPr id="4" name="标题 4">
            <a:extLst>
              <a:ext uri="{FF2B5EF4-FFF2-40B4-BE49-F238E27FC236}">
                <a16:creationId xmlns:a16="http://schemas.microsoft.com/office/drawing/2014/main" id="{60695813-3099-E5BA-83C7-816DA8BE7C59}"/>
              </a:ext>
            </a:extLst>
          </p:cNvPr>
          <p:cNvSpPr txBox="1">
            <a:spLocks/>
          </p:cNvSpPr>
          <p:nvPr/>
        </p:nvSpPr>
        <p:spPr>
          <a:xfrm>
            <a:off x="480691" y="365126"/>
            <a:ext cx="10515600" cy="728030"/>
          </a:xfrm>
          <a:prstGeom prst="rect">
            <a:avLst/>
          </a:prstGeom>
        </p:spPr>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endParaRPr lang="zh-CN" altLang="en-US" dirty="0"/>
          </a:p>
        </p:txBody>
      </p:sp>
      <p:sp>
        <p:nvSpPr>
          <p:cNvPr id="5" name="object 75">
            <a:extLst>
              <a:ext uri="{FF2B5EF4-FFF2-40B4-BE49-F238E27FC236}">
                <a16:creationId xmlns:a16="http://schemas.microsoft.com/office/drawing/2014/main" id="{78E41270-3726-93D7-59D8-CB2F1515949E}"/>
              </a:ext>
            </a:extLst>
          </p:cNvPr>
          <p:cNvSpPr/>
          <p:nvPr/>
        </p:nvSpPr>
        <p:spPr>
          <a:xfrm>
            <a:off x="8551707" y="1923320"/>
            <a:ext cx="33655" cy="32384"/>
          </a:xfrm>
          <a:custGeom>
            <a:avLst/>
            <a:gdLst/>
            <a:ahLst/>
            <a:cxnLst/>
            <a:rect l="l" t="t" r="r" b="b"/>
            <a:pathLst>
              <a:path w="33654" h="32385">
                <a:moveTo>
                  <a:pt x="16785" y="0"/>
                </a:moveTo>
                <a:lnTo>
                  <a:pt x="10390" y="803"/>
                </a:lnTo>
                <a:lnTo>
                  <a:pt x="4796" y="4741"/>
                </a:lnTo>
                <a:lnTo>
                  <a:pt x="1599" y="9467"/>
                </a:lnTo>
                <a:lnTo>
                  <a:pt x="0" y="15785"/>
                </a:lnTo>
                <a:lnTo>
                  <a:pt x="1599" y="22100"/>
                </a:lnTo>
                <a:lnTo>
                  <a:pt x="4796" y="27623"/>
                </a:lnTo>
                <a:lnTo>
                  <a:pt x="10390" y="30781"/>
                </a:lnTo>
                <a:lnTo>
                  <a:pt x="16785" y="32359"/>
                </a:lnTo>
                <a:lnTo>
                  <a:pt x="23179" y="30781"/>
                </a:lnTo>
                <a:lnTo>
                  <a:pt x="28775" y="27624"/>
                </a:lnTo>
                <a:lnTo>
                  <a:pt x="32772" y="22100"/>
                </a:lnTo>
                <a:lnTo>
                  <a:pt x="33570" y="15785"/>
                </a:lnTo>
                <a:lnTo>
                  <a:pt x="32772" y="9468"/>
                </a:lnTo>
                <a:lnTo>
                  <a:pt x="28775" y="4741"/>
                </a:lnTo>
                <a:lnTo>
                  <a:pt x="23179" y="803"/>
                </a:lnTo>
                <a:lnTo>
                  <a:pt x="16785" y="0"/>
                </a:lnTo>
                <a:close/>
              </a:path>
            </a:pathLst>
          </a:custGeom>
          <a:solidFill>
            <a:srgbClr val="000000"/>
          </a:solidFill>
        </p:spPr>
        <p:txBody>
          <a:bodyPr wrap="square" lIns="0" tIns="0" rIns="0" bIns="0" rtlCol="0"/>
          <a:lstStyle/>
          <a:p>
            <a:endParaRPr/>
          </a:p>
        </p:txBody>
      </p:sp>
      <p:sp>
        <p:nvSpPr>
          <p:cNvPr id="15" name="object 76">
            <a:extLst>
              <a:ext uri="{FF2B5EF4-FFF2-40B4-BE49-F238E27FC236}">
                <a16:creationId xmlns:a16="http://schemas.microsoft.com/office/drawing/2014/main" id="{BB1A24C3-3250-64F0-E7A1-CCD78DA5958A}"/>
              </a:ext>
            </a:extLst>
          </p:cNvPr>
          <p:cNvSpPr/>
          <p:nvPr/>
        </p:nvSpPr>
        <p:spPr>
          <a:xfrm>
            <a:off x="8630040" y="1923320"/>
            <a:ext cx="33655" cy="32384"/>
          </a:xfrm>
          <a:custGeom>
            <a:avLst/>
            <a:gdLst/>
            <a:ahLst/>
            <a:cxnLst/>
            <a:rect l="l" t="t" r="r" b="b"/>
            <a:pathLst>
              <a:path w="33654" h="32385">
                <a:moveTo>
                  <a:pt x="16785" y="0"/>
                </a:moveTo>
                <a:lnTo>
                  <a:pt x="10390" y="803"/>
                </a:lnTo>
                <a:lnTo>
                  <a:pt x="5595" y="4741"/>
                </a:lnTo>
                <a:lnTo>
                  <a:pt x="1599" y="9467"/>
                </a:lnTo>
                <a:lnTo>
                  <a:pt x="0" y="15785"/>
                </a:lnTo>
                <a:lnTo>
                  <a:pt x="1599" y="22100"/>
                </a:lnTo>
                <a:lnTo>
                  <a:pt x="5595" y="27623"/>
                </a:lnTo>
                <a:lnTo>
                  <a:pt x="10390" y="30781"/>
                </a:lnTo>
                <a:lnTo>
                  <a:pt x="16785" y="32359"/>
                </a:lnTo>
                <a:lnTo>
                  <a:pt x="23979" y="30781"/>
                </a:lnTo>
                <a:lnTo>
                  <a:pt x="28775" y="27624"/>
                </a:lnTo>
                <a:lnTo>
                  <a:pt x="32772" y="22100"/>
                </a:lnTo>
                <a:lnTo>
                  <a:pt x="33571" y="15785"/>
                </a:lnTo>
                <a:lnTo>
                  <a:pt x="32772" y="9468"/>
                </a:lnTo>
                <a:lnTo>
                  <a:pt x="28775" y="4741"/>
                </a:lnTo>
                <a:lnTo>
                  <a:pt x="23979" y="803"/>
                </a:lnTo>
                <a:lnTo>
                  <a:pt x="16785" y="0"/>
                </a:lnTo>
                <a:close/>
              </a:path>
            </a:pathLst>
          </a:custGeom>
          <a:solidFill>
            <a:srgbClr val="000000"/>
          </a:solidFill>
        </p:spPr>
        <p:txBody>
          <a:bodyPr wrap="square" lIns="0" tIns="0" rIns="0" bIns="0" rtlCol="0"/>
          <a:lstStyle/>
          <a:p>
            <a:endParaRPr/>
          </a:p>
        </p:txBody>
      </p:sp>
      <p:sp>
        <p:nvSpPr>
          <p:cNvPr id="16" name="object 77">
            <a:extLst>
              <a:ext uri="{FF2B5EF4-FFF2-40B4-BE49-F238E27FC236}">
                <a16:creationId xmlns:a16="http://schemas.microsoft.com/office/drawing/2014/main" id="{EFF3DD1D-706C-4DAB-5501-B049755D482B}"/>
              </a:ext>
            </a:extLst>
          </p:cNvPr>
          <p:cNvSpPr/>
          <p:nvPr/>
        </p:nvSpPr>
        <p:spPr>
          <a:xfrm>
            <a:off x="8709167" y="1923320"/>
            <a:ext cx="33655" cy="32384"/>
          </a:xfrm>
          <a:custGeom>
            <a:avLst/>
            <a:gdLst/>
            <a:ahLst/>
            <a:cxnLst/>
            <a:rect l="l" t="t" r="r" b="b"/>
            <a:pathLst>
              <a:path w="33654" h="32385">
                <a:moveTo>
                  <a:pt x="16792" y="0"/>
                </a:moveTo>
                <a:lnTo>
                  <a:pt x="10395" y="803"/>
                </a:lnTo>
                <a:lnTo>
                  <a:pt x="4797" y="4741"/>
                </a:lnTo>
                <a:lnTo>
                  <a:pt x="799" y="9467"/>
                </a:lnTo>
                <a:lnTo>
                  <a:pt x="0" y="15785"/>
                </a:lnTo>
                <a:lnTo>
                  <a:pt x="799" y="22100"/>
                </a:lnTo>
                <a:lnTo>
                  <a:pt x="4797" y="27623"/>
                </a:lnTo>
                <a:lnTo>
                  <a:pt x="10395" y="30781"/>
                </a:lnTo>
                <a:lnTo>
                  <a:pt x="16792" y="32359"/>
                </a:lnTo>
                <a:lnTo>
                  <a:pt x="23189" y="30781"/>
                </a:lnTo>
                <a:lnTo>
                  <a:pt x="28786" y="27624"/>
                </a:lnTo>
                <a:lnTo>
                  <a:pt x="31985" y="22100"/>
                </a:lnTo>
                <a:lnTo>
                  <a:pt x="33568" y="15785"/>
                </a:lnTo>
                <a:lnTo>
                  <a:pt x="31985" y="9468"/>
                </a:lnTo>
                <a:lnTo>
                  <a:pt x="28786" y="4741"/>
                </a:lnTo>
                <a:lnTo>
                  <a:pt x="23189" y="803"/>
                </a:lnTo>
                <a:lnTo>
                  <a:pt x="16792" y="0"/>
                </a:lnTo>
                <a:close/>
              </a:path>
            </a:pathLst>
          </a:custGeom>
          <a:solidFill>
            <a:srgbClr val="000000"/>
          </a:solidFill>
        </p:spPr>
        <p:txBody>
          <a:bodyPr wrap="square" lIns="0" tIns="0" rIns="0" bIns="0" rtlCol="0"/>
          <a:lstStyle/>
          <a:p>
            <a:endParaRPr/>
          </a:p>
        </p:txBody>
      </p:sp>
      <p:pic>
        <p:nvPicPr>
          <p:cNvPr id="17" name="object 79">
            <a:extLst>
              <a:ext uri="{FF2B5EF4-FFF2-40B4-BE49-F238E27FC236}">
                <a16:creationId xmlns:a16="http://schemas.microsoft.com/office/drawing/2014/main" id="{7F6A63BF-A708-07B1-649A-8F31F8712B6B}"/>
              </a:ext>
            </a:extLst>
          </p:cNvPr>
          <p:cNvPicPr/>
          <p:nvPr/>
        </p:nvPicPr>
        <p:blipFill>
          <a:blip r:embed="rId2" cstate="print">
            <a:extLst>
              <a:ext uri="{28A0092B-C50C-407E-A947-70E740481C1C}">
                <a14:useLocalDpi xmlns:a14="http://schemas.microsoft.com/office/drawing/2010/main" val="0"/>
              </a:ext>
            </a:extLst>
          </a:blip>
          <a:srcRect/>
          <a:stretch/>
        </p:blipFill>
        <p:spPr>
          <a:xfrm>
            <a:off x="1990344" y="1456181"/>
            <a:ext cx="960119" cy="960119"/>
          </a:xfrm>
          <a:prstGeom prst="rect">
            <a:avLst/>
          </a:prstGeom>
        </p:spPr>
      </p:pic>
      <p:pic>
        <p:nvPicPr>
          <p:cNvPr id="18" name="object 80">
            <a:extLst>
              <a:ext uri="{FF2B5EF4-FFF2-40B4-BE49-F238E27FC236}">
                <a16:creationId xmlns:a16="http://schemas.microsoft.com/office/drawing/2014/main" id="{2935D7CF-5EF5-7239-EB4B-7FA69E8700C9}"/>
              </a:ext>
            </a:extLst>
          </p:cNvPr>
          <p:cNvPicPr/>
          <p:nvPr/>
        </p:nvPicPr>
        <p:blipFill>
          <a:blip r:embed="rId3" cstate="print">
            <a:extLst>
              <a:ext uri="{28A0092B-C50C-407E-A947-70E740481C1C}">
                <a14:useLocalDpi xmlns:a14="http://schemas.microsoft.com/office/drawing/2010/main" val="0"/>
              </a:ext>
            </a:extLst>
          </a:blip>
          <a:srcRect/>
          <a:stretch/>
        </p:blipFill>
        <p:spPr>
          <a:xfrm>
            <a:off x="9151619" y="1455419"/>
            <a:ext cx="961643" cy="961643"/>
          </a:xfrm>
          <a:prstGeom prst="rect">
            <a:avLst/>
          </a:prstGeom>
        </p:spPr>
      </p:pic>
      <p:sp>
        <p:nvSpPr>
          <p:cNvPr id="19" name="object 81">
            <a:extLst>
              <a:ext uri="{FF2B5EF4-FFF2-40B4-BE49-F238E27FC236}">
                <a16:creationId xmlns:a16="http://schemas.microsoft.com/office/drawing/2014/main" id="{6FE368C3-4A6C-48C2-2B84-41079FADCE45}"/>
              </a:ext>
            </a:extLst>
          </p:cNvPr>
          <p:cNvSpPr txBox="1"/>
          <p:nvPr/>
        </p:nvSpPr>
        <p:spPr>
          <a:xfrm>
            <a:off x="1257427" y="1771269"/>
            <a:ext cx="505459" cy="330835"/>
          </a:xfrm>
          <a:prstGeom prst="rect">
            <a:avLst/>
          </a:prstGeom>
        </p:spPr>
        <p:txBody>
          <a:bodyPr vert="horz" wrap="square" lIns="0" tIns="13335" rIns="0" bIns="0" rtlCol="0">
            <a:spAutoFit/>
          </a:bodyPr>
          <a:lstStyle/>
          <a:p>
            <a:pPr marL="12700">
              <a:lnSpc>
                <a:spcPct val="100000"/>
              </a:lnSpc>
              <a:spcBef>
                <a:spcPts val="105"/>
              </a:spcBef>
            </a:pPr>
            <a:r>
              <a:rPr sz="2000" spc="-20" dirty="0">
                <a:latin typeface="Calibri"/>
                <a:cs typeface="Calibri"/>
              </a:rPr>
              <a:t>Data</a:t>
            </a:r>
            <a:endParaRPr sz="2000">
              <a:latin typeface="Calibri"/>
              <a:cs typeface="Calibri"/>
            </a:endParaRPr>
          </a:p>
        </p:txBody>
      </p:sp>
      <p:sp>
        <p:nvSpPr>
          <p:cNvPr id="20" name="object 82">
            <a:extLst>
              <a:ext uri="{FF2B5EF4-FFF2-40B4-BE49-F238E27FC236}">
                <a16:creationId xmlns:a16="http://schemas.microsoft.com/office/drawing/2014/main" id="{9C4F8D83-5E13-1EE6-C781-29B979984AA9}"/>
              </a:ext>
            </a:extLst>
          </p:cNvPr>
          <p:cNvSpPr txBox="1"/>
          <p:nvPr/>
        </p:nvSpPr>
        <p:spPr>
          <a:xfrm>
            <a:off x="10359643" y="1771269"/>
            <a:ext cx="608330"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libri"/>
                <a:cs typeface="Calibri"/>
              </a:rPr>
              <a:t>Noise</a:t>
            </a:r>
            <a:endParaRPr sz="2000">
              <a:latin typeface="Calibri"/>
              <a:cs typeface="Calibri"/>
            </a:endParaRPr>
          </a:p>
        </p:txBody>
      </p:sp>
      <p:sp>
        <p:nvSpPr>
          <p:cNvPr id="21" name="object 83">
            <a:extLst>
              <a:ext uri="{FF2B5EF4-FFF2-40B4-BE49-F238E27FC236}">
                <a16:creationId xmlns:a16="http://schemas.microsoft.com/office/drawing/2014/main" id="{C804B7DA-516F-25A5-24CF-E0C49A047498}"/>
              </a:ext>
            </a:extLst>
          </p:cNvPr>
          <p:cNvSpPr/>
          <p:nvPr/>
        </p:nvSpPr>
        <p:spPr>
          <a:xfrm>
            <a:off x="5278373" y="1885442"/>
            <a:ext cx="1572895" cy="104775"/>
          </a:xfrm>
          <a:custGeom>
            <a:avLst/>
            <a:gdLst/>
            <a:ahLst/>
            <a:cxnLst/>
            <a:rect l="l" t="t" r="r" b="b"/>
            <a:pathLst>
              <a:path w="1572895" h="104775">
                <a:moveTo>
                  <a:pt x="1467739" y="0"/>
                </a:moveTo>
                <a:lnTo>
                  <a:pt x="1467739" y="104775"/>
                </a:lnTo>
                <a:lnTo>
                  <a:pt x="1537504" y="69850"/>
                </a:lnTo>
                <a:lnTo>
                  <a:pt x="1485137" y="69850"/>
                </a:lnTo>
                <a:lnTo>
                  <a:pt x="1485137" y="34925"/>
                </a:lnTo>
                <a:lnTo>
                  <a:pt x="1537673" y="34925"/>
                </a:lnTo>
                <a:lnTo>
                  <a:pt x="1467739" y="0"/>
                </a:lnTo>
                <a:close/>
              </a:path>
              <a:path w="1572895" h="104775">
                <a:moveTo>
                  <a:pt x="1467739" y="34925"/>
                </a:moveTo>
                <a:lnTo>
                  <a:pt x="0" y="34925"/>
                </a:lnTo>
                <a:lnTo>
                  <a:pt x="0" y="69850"/>
                </a:lnTo>
                <a:lnTo>
                  <a:pt x="1467739" y="69850"/>
                </a:lnTo>
                <a:lnTo>
                  <a:pt x="1467739" y="34925"/>
                </a:lnTo>
                <a:close/>
              </a:path>
              <a:path w="1572895" h="104775">
                <a:moveTo>
                  <a:pt x="1537673" y="34925"/>
                </a:moveTo>
                <a:lnTo>
                  <a:pt x="1485137" y="34925"/>
                </a:lnTo>
                <a:lnTo>
                  <a:pt x="1485137" y="69850"/>
                </a:lnTo>
                <a:lnTo>
                  <a:pt x="1537504" y="69850"/>
                </a:lnTo>
                <a:lnTo>
                  <a:pt x="1572514" y="52324"/>
                </a:lnTo>
                <a:lnTo>
                  <a:pt x="1537673" y="34925"/>
                </a:lnTo>
                <a:close/>
              </a:path>
            </a:pathLst>
          </a:custGeom>
          <a:solidFill>
            <a:srgbClr val="6F2F9F"/>
          </a:solidFill>
        </p:spPr>
        <p:txBody>
          <a:bodyPr wrap="square" lIns="0" tIns="0" rIns="0" bIns="0" rtlCol="0"/>
          <a:lstStyle/>
          <a:p>
            <a:endParaRPr/>
          </a:p>
        </p:txBody>
      </p:sp>
      <p:sp>
        <p:nvSpPr>
          <p:cNvPr id="22" name="object 84">
            <a:extLst>
              <a:ext uri="{FF2B5EF4-FFF2-40B4-BE49-F238E27FC236}">
                <a16:creationId xmlns:a16="http://schemas.microsoft.com/office/drawing/2014/main" id="{CDF5DA5F-6F63-C073-184B-9F0FB40958B2}"/>
              </a:ext>
            </a:extLst>
          </p:cNvPr>
          <p:cNvSpPr/>
          <p:nvPr/>
        </p:nvSpPr>
        <p:spPr>
          <a:xfrm>
            <a:off x="8811006" y="1885314"/>
            <a:ext cx="257175" cy="104775"/>
          </a:xfrm>
          <a:custGeom>
            <a:avLst/>
            <a:gdLst/>
            <a:ahLst/>
            <a:cxnLst/>
            <a:rect l="l" t="t" r="r" b="b"/>
            <a:pathLst>
              <a:path w="257175" h="104775">
                <a:moveTo>
                  <a:pt x="152146" y="0"/>
                </a:moveTo>
                <a:lnTo>
                  <a:pt x="152146" y="104775"/>
                </a:lnTo>
                <a:lnTo>
                  <a:pt x="221826" y="69976"/>
                </a:lnTo>
                <a:lnTo>
                  <a:pt x="169672" y="69976"/>
                </a:lnTo>
                <a:lnTo>
                  <a:pt x="169672" y="35051"/>
                </a:lnTo>
                <a:lnTo>
                  <a:pt x="222165" y="35051"/>
                </a:lnTo>
                <a:lnTo>
                  <a:pt x="152146" y="0"/>
                </a:lnTo>
                <a:close/>
              </a:path>
              <a:path w="257175" h="104775">
                <a:moveTo>
                  <a:pt x="152146" y="35051"/>
                </a:moveTo>
                <a:lnTo>
                  <a:pt x="0" y="35051"/>
                </a:lnTo>
                <a:lnTo>
                  <a:pt x="0" y="69976"/>
                </a:lnTo>
                <a:lnTo>
                  <a:pt x="152146" y="69976"/>
                </a:lnTo>
                <a:lnTo>
                  <a:pt x="152146" y="35051"/>
                </a:lnTo>
                <a:close/>
              </a:path>
              <a:path w="257175" h="104775">
                <a:moveTo>
                  <a:pt x="222165" y="35051"/>
                </a:moveTo>
                <a:lnTo>
                  <a:pt x="169672" y="35051"/>
                </a:lnTo>
                <a:lnTo>
                  <a:pt x="169672" y="69976"/>
                </a:lnTo>
                <a:lnTo>
                  <a:pt x="221826" y="69976"/>
                </a:lnTo>
                <a:lnTo>
                  <a:pt x="256921" y="52450"/>
                </a:lnTo>
                <a:lnTo>
                  <a:pt x="222165" y="35051"/>
                </a:lnTo>
                <a:close/>
              </a:path>
            </a:pathLst>
          </a:custGeom>
          <a:solidFill>
            <a:srgbClr val="6F2F9F"/>
          </a:solidFill>
        </p:spPr>
        <p:txBody>
          <a:bodyPr wrap="square" lIns="0" tIns="0" rIns="0" bIns="0" rtlCol="0"/>
          <a:lstStyle/>
          <a:p>
            <a:endParaRPr/>
          </a:p>
        </p:txBody>
      </p:sp>
      <p:sp>
        <p:nvSpPr>
          <p:cNvPr id="23" name="object 85">
            <a:extLst>
              <a:ext uri="{FF2B5EF4-FFF2-40B4-BE49-F238E27FC236}">
                <a16:creationId xmlns:a16="http://schemas.microsoft.com/office/drawing/2014/main" id="{B1F17E13-5C89-675F-5DFB-49C3347F4BCD}"/>
              </a:ext>
            </a:extLst>
          </p:cNvPr>
          <p:cNvSpPr/>
          <p:nvPr/>
        </p:nvSpPr>
        <p:spPr>
          <a:xfrm>
            <a:off x="8245602" y="1937766"/>
            <a:ext cx="246379" cy="0"/>
          </a:xfrm>
          <a:custGeom>
            <a:avLst/>
            <a:gdLst/>
            <a:ahLst/>
            <a:cxnLst/>
            <a:rect l="l" t="t" r="r" b="b"/>
            <a:pathLst>
              <a:path w="246379">
                <a:moveTo>
                  <a:pt x="0" y="0"/>
                </a:moveTo>
                <a:lnTo>
                  <a:pt x="245872" y="0"/>
                </a:lnTo>
              </a:path>
            </a:pathLst>
          </a:custGeom>
          <a:ln w="34925">
            <a:solidFill>
              <a:srgbClr val="6F2F9F"/>
            </a:solidFill>
          </a:ln>
        </p:spPr>
        <p:txBody>
          <a:bodyPr wrap="square" lIns="0" tIns="0" rIns="0" bIns="0" rtlCol="0"/>
          <a:lstStyle/>
          <a:p>
            <a:endParaRPr/>
          </a:p>
        </p:txBody>
      </p:sp>
      <p:sp>
        <p:nvSpPr>
          <p:cNvPr id="24" name="object 86">
            <a:extLst>
              <a:ext uri="{FF2B5EF4-FFF2-40B4-BE49-F238E27FC236}">
                <a16:creationId xmlns:a16="http://schemas.microsoft.com/office/drawing/2014/main" id="{2B636E78-780E-4532-046A-B3D279A7D779}"/>
              </a:ext>
            </a:extLst>
          </p:cNvPr>
          <p:cNvSpPr/>
          <p:nvPr/>
        </p:nvSpPr>
        <p:spPr>
          <a:xfrm>
            <a:off x="3333531" y="1923320"/>
            <a:ext cx="33655" cy="32384"/>
          </a:xfrm>
          <a:custGeom>
            <a:avLst/>
            <a:gdLst/>
            <a:ahLst/>
            <a:cxnLst/>
            <a:rect l="l" t="t" r="r" b="b"/>
            <a:pathLst>
              <a:path w="33654" h="32385">
                <a:moveTo>
                  <a:pt x="16785" y="0"/>
                </a:moveTo>
                <a:lnTo>
                  <a:pt x="10390" y="803"/>
                </a:lnTo>
                <a:lnTo>
                  <a:pt x="4796" y="4741"/>
                </a:lnTo>
                <a:lnTo>
                  <a:pt x="1599" y="9467"/>
                </a:lnTo>
                <a:lnTo>
                  <a:pt x="0" y="15785"/>
                </a:lnTo>
                <a:lnTo>
                  <a:pt x="1599" y="22100"/>
                </a:lnTo>
                <a:lnTo>
                  <a:pt x="4796" y="27623"/>
                </a:lnTo>
                <a:lnTo>
                  <a:pt x="10390" y="30781"/>
                </a:lnTo>
                <a:lnTo>
                  <a:pt x="16785" y="32359"/>
                </a:lnTo>
                <a:lnTo>
                  <a:pt x="23179" y="30781"/>
                </a:lnTo>
                <a:lnTo>
                  <a:pt x="28775" y="27624"/>
                </a:lnTo>
                <a:lnTo>
                  <a:pt x="32772" y="22100"/>
                </a:lnTo>
                <a:lnTo>
                  <a:pt x="33570" y="15785"/>
                </a:lnTo>
                <a:lnTo>
                  <a:pt x="32772" y="9468"/>
                </a:lnTo>
                <a:lnTo>
                  <a:pt x="28775" y="4741"/>
                </a:lnTo>
                <a:lnTo>
                  <a:pt x="23179" y="803"/>
                </a:lnTo>
                <a:lnTo>
                  <a:pt x="16785" y="0"/>
                </a:lnTo>
                <a:close/>
              </a:path>
            </a:pathLst>
          </a:custGeom>
          <a:solidFill>
            <a:srgbClr val="000000"/>
          </a:solidFill>
        </p:spPr>
        <p:txBody>
          <a:bodyPr wrap="square" lIns="0" tIns="0" rIns="0" bIns="0" rtlCol="0"/>
          <a:lstStyle/>
          <a:p>
            <a:endParaRPr/>
          </a:p>
        </p:txBody>
      </p:sp>
      <p:sp>
        <p:nvSpPr>
          <p:cNvPr id="25" name="object 87">
            <a:extLst>
              <a:ext uri="{FF2B5EF4-FFF2-40B4-BE49-F238E27FC236}">
                <a16:creationId xmlns:a16="http://schemas.microsoft.com/office/drawing/2014/main" id="{32A628A5-486C-C45D-7FC3-7C31F29C2502}"/>
              </a:ext>
            </a:extLst>
          </p:cNvPr>
          <p:cNvSpPr/>
          <p:nvPr/>
        </p:nvSpPr>
        <p:spPr>
          <a:xfrm>
            <a:off x="3411864" y="1923320"/>
            <a:ext cx="33655" cy="32384"/>
          </a:xfrm>
          <a:custGeom>
            <a:avLst/>
            <a:gdLst/>
            <a:ahLst/>
            <a:cxnLst/>
            <a:rect l="l" t="t" r="r" b="b"/>
            <a:pathLst>
              <a:path w="33654" h="32385">
                <a:moveTo>
                  <a:pt x="16785" y="0"/>
                </a:moveTo>
                <a:lnTo>
                  <a:pt x="10390" y="803"/>
                </a:lnTo>
                <a:lnTo>
                  <a:pt x="5595" y="4741"/>
                </a:lnTo>
                <a:lnTo>
                  <a:pt x="1599" y="9467"/>
                </a:lnTo>
                <a:lnTo>
                  <a:pt x="0" y="15785"/>
                </a:lnTo>
                <a:lnTo>
                  <a:pt x="1599" y="22100"/>
                </a:lnTo>
                <a:lnTo>
                  <a:pt x="5595" y="27623"/>
                </a:lnTo>
                <a:lnTo>
                  <a:pt x="10390" y="30781"/>
                </a:lnTo>
                <a:lnTo>
                  <a:pt x="16785" y="32359"/>
                </a:lnTo>
                <a:lnTo>
                  <a:pt x="23979" y="30781"/>
                </a:lnTo>
                <a:lnTo>
                  <a:pt x="28775" y="27624"/>
                </a:lnTo>
                <a:lnTo>
                  <a:pt x="32772" y="22100"/>
                </a:lnTo>
                <a:lnTo>
                  <a:pt x="33571" y="15785"/>
                </a:lnTo>
                <a:lnTo>
                  <a:pt x="32772" y="9468"/>
                </a:lnTo>
                <a:lnTo>
                  <a:pt x="28775" y="4741"/>
                </a:lnTo>
                <a:lnTo>
                  <a:pt x="23979" y="803"/>
                </a:lnTo>
                <a:lnTo>
                  <a:pt x="16785" y="0"/>
                </a:lnTo>
                <a:close/>
              </a:path>
            </a:pathLst>
          </a:custGeom>
          <a:solidFill>
            <a:srgbClr val="000000"/>
          </a:solidFill>
        </p:spPr>
        <p:txBody>
          <a:bodyPr wrap="square" lIns="0" tIns="0" rIns="0" bIns="0" rtlCol="0"/>
          <a:lstStyle/>
          <a:p>
            <a:endParaRPr/>
          </a:p>
        </p:txBody>
      </p:sp>
      <p:sp>
        <p:nvSpPr>
          <p:cNvPr id="26" name="object 88">
            <a:extLst>
              <a:ext uri="{FF2B5EF4-FFF2-40B4-BE49-F238E27FC236}">
                <a16:creationId xmlns:a16="http://schemas.microsoft.com/office/drawing/2014/main" id="{0274CA9D-819B-A4B9-EBE2-F36626604F65}"/>
              </a:ext>
            </a:extLst>
          </p:cNvPr>
          <p:cNvSpPr/>
          <p:nvPr/>
        </p:nvSpPr>
        <p:spPr>
          <a:xfrm>
            <a:off x="3490991" y="1923320"/>
            <a:ext cx="33655" cy="32384"/>
          </a:xfrm>
          <a:custGeom>
            <a:avLst/>
            <a:gdLst/>
            <a:ahLst/>
            <a:cxnLst/>
            <a:rect l="l" t="t" r="r" b="b"/>
            <a:pathLst>
              <a:path w="33654" h="32385">
                <a:moveTo>
                  <a:pt x="16792" y="0"/>
                </a:moveTo>
                <a:lnTo>
                  <a:pt x="10395" y="803"/>
                </a:lnTo>
                <a:lnTo>
                  <a:pt x="4797" y="4741"/>
                </a:lnTo>
                <a:lnTo>
                  <a:pt x="799" y="9467"/>
                </a:lnTo>
                <a:lnTo>
                  <a:pt x="0" y="15785"/>
                </a:lnTo>
                <a:lnTo>
                  <a:pt x="799" y="22100"/>
                </a:lnTo>
                <a:lnTo>
                  <a:pt x="4797" y="27623"/>
                </a:lnTo>
                <a:lnTo>
                  <a:pt x="10395" y="30781"/>
                </a:lnTo>
                <a:lnTo>
                  <a:pt x="16792" y="32359"/>
                </a:lnTo>
                <a:lnTo>
                  <a:pt x="23189" y="30781"/>
                </a:lnTo>
                <a:lnTo>
                  <a:pt x="28786" y="27624"/>
                </a:lnTo>
                <a:lnTo>
                  <a:pt x="31985" y="22100"/>
                </a:lnTo>
                <a:lnTo>
                  <a:pt x="33568" y="15785"/>
                </a:lnTo>
                <a:lnTo>
                  <a:pt x="31985" y="9468"/>
                </a:lnTo>
                <a:lnTo>
                  <a:pt x="28786" y="4741"/>
                </a:lnTo>
                <a:lnTo>
                  <a:pt x="23189" y="803"/>
                </a:lnTo>
                <a:lnTo>
                  <a:pt x="16792" y="0"/>
                </a:lnTo>
                <a:close/>
              </a:path>
            </a:pathLst>
          </a:custGeom>
          <a:solidFill>
            <a:srgbClr val="000000"/>
          </a:solidFill>
        </p:spPr>
        <p:txBody>
          <a:bodyPr wrap="square" lIns="0" tIns="0" rIns="0" bIns="0" rtlCol="0"/>
          <a:lstStyle/>
          <a:p>
            <a:endParaRPr/>
          </a:p>
        </p:txBody>
      </p:sp>
      <p:sp>
        <p:nvSpPr>
          <p:cNvPr id="27" name="object 89">
            <a:extLst>
              <a:ext uri="{FF2B5EF4-FFF2-40B4-BE49-F238E27FC236}">
                <a16:creationId xmlns:a16="http://schemas.microsoft.com/office/drawing/2014/main" id="{5E828458-12DE-DB93-1927-9F954A14B4EC}"/>
              </a:ext>
            </a:extLst>
          </p:cNvPr>
          <p:cNvSpPr/>
          <p:nvPr/>
        </p:nvSpPr>
        <p:spPr>
          <a:xfrm>
            <a:off x="3592829" y="1885314"/>
            <a:ext cx="257175" cy="104775"/>
          </a:xfrm>
          <a:custGeom>
            <a:avLst/>
            <a:gdLst/>
            <a:ahLst/>
            <a:cxnLst/>
            <a:rect l="l" t="t" r="r" b="b"/>
            <a:pathLst>
              <a:path w="257175" h="104775">
                <a:moveTo>
                  <a:pt x="152146" y="0"/>
                </a:moveTo>
                <a:lnTo>
                  <a:pt x="152146" y="104775"/>
                </a:lnTo>
                <a:lnTo>
                  <a:pt x="221826" y="69976"/>
                </a:lnTo>
                <a:lnTo>
                  <a:pt x="169672" y="69976"/>
                </a:lnTo>
                <a:lnTo>
                  <a:pt x="169672" y="35051"/>
                </a:lnTo>
                <a:lnTo>
                  <a:pt x="222165" y="35051"/>
                </a:lnTo>
                <a:lnTo>
                  <a:pt x="152146" y="0"/>
                </a:lnTo>
                <a:close/>
              </a:path>
              <a:path w="257175" h="104775">
                <a:moveTo>
                  <a:pt x="152146" y="35051"/>
                </a:moveTo>
                <a:lnTo>
                  <a:pt x="0" y="35051"/>
                </a:lnTo>
                <a:lnTo>
                  <a:pt x="0" y="69976"/>
                </a:lnTo>
                <a:lnTo>
                  <a:pt x="152146" y="69976"/>
                </a:lnTo>
                <a:lnTo>
                  <a:pt x="152146" y="35051"/>
                </a:lnTo>
                <a:close/>
              </a:path>
              <a:path w="257175" h="104775">
                <a:moveTo>
                  <a:pt x="222165" y="35051"/>
                </a:moveTo>
                <a:lnTo>
                  <a:pt x="169672" y="35051"/>
                </a:lnTo>
                <a:lnTo>
                  <a:pt x="169672" y="69976"/>
                </a:lnTo>
                <a:lnTo>
                  <a:pt x="221826" y="69976"/>
                </a:lnTo>
                <a:lnTo>
                  <a:pt x="256921" y="52450"/>
                </a:lnTo>
                <a:lnTo>
                  <a:pt x="222165" y="35051"/>
                </a:lnTo>
                <a:close/>
              </a:path>
            </a:pathLst>
          </a:custGeom>
          <a:solidFill>
            <a:srgbClr val="6F2F9F"/>
          </a:solidFill>
        </p:spPr>
        <p:txBody>
          <a:bodyPr wrap="square" lIns="0" tIns="0" rIns="0" bIns="0" rtlCol="0"/>
          <a:lstStyle/>
          <a:p>
            <a:endParaRPr/>
          </a:p>
        </p:txBody>
      </p:sp>
      <p:sp>
        <p:nvSpPr>
          <p:cNvPr id="28" name="object 90">
            <a:extLst>
              <a:ext uri="{FF2B5EF4-FFF2-40B4-BE49-F238E27FC236}">
                <a16:creationId xmlns:a16="http://schemas.microsoft.com/office/drawing/2014/main" id="{820BED15-AF6A-E8D7-C579-AFA4BD30A515}"/>
              </a:ext>
            </a:extLst>
          </p:cNvPr>
          <p:cNvSpPr/>
          <p:nvPr/>
        </p:nvSpPr>
        <p:spPr>
          <a:xfrm>
            <a:off x="3027426" y="1937766"/>
            <a:ext cx="246379" cy="0"/>
          </a:xfrm>
          <a:custGeom>
            <a:avLst/>
            <a:gdLst/>
            <a:ahLst/>
            <a:cxnLst/>
            <a:rect l="l" t="t" r="r" b="b"/>
            <a:pathLst>
              <a:path w="246379">
                <a:moveTo>
                  <a:pt x="0" y="0"/>
                </a:moveTo>
                <a:lnTo>
                  <a:pt x="245872" y="0"/>
                </a:lnTo>
              </a:path>
            </a:pathLst>
          </a:custGeom>
          <a:ln w="34925">
            <a:solidFill>
              <a:srgbClr val="6F2F9F"/>
            </a:solidFill>
          </a:ln>
        </p:spPr>
        <p:txBody>
          <a:bodyPr wrap="square" lIns="0" tIns="0" rIns="0" bIns="0" rtlCol="0"/>
          <a:lstStyle/>
          <a:p>
            <a:endParaRPr/>
          </a:p>
        </p:txBody>
      </p:sp>
      <p:grpSp>
        <p:nvGrpSpPr>
          <p:cNvPr id="29" name="object 97">
            <a:extLst>
              <a:ext uri="{FF2B5EF4-FFF2-40B4-BE49-F238E27FC236}">
                <a16:creationId xmlns:a16="http://schemas.microsoft.com/office/drawing/2014/main" id="{5689B682-3B47-FC35-6F95-2DDDA79215F9}"/>
              </a:ext>
            </a:extLst>
          </p:cNvPr>
          <p:cNvGrpSpPr/>
          <p:nvPr/>
        </p:nvGrpSpPr>
        <p:grpSpPr>
          <a:xfrm>
            <a:off x="3137916" y="1168908"/>
            <a:ext cx="586740" cy="581025"/>
            <a:chOff x="3137916" y="1168908"/>
            <a:chExt cx="586740" cy="581025"/>
          </a:xfrm>
        </p:grpSpPr>
        <p:pic>
          <p:nvPicPr>
            <p:cNvPr id="30" name="object 98">
              <a:extLst>
                <a:ext uri="{FF2B5EF4-FFF2-40B4-BE49-F238E27FC236}">
                  <a16:creationId xmlns:a16="http://schemas.microsoft.com/office/drawing/2014/main" id="{23116C02-0C0C-5D3B-EE72-E65FDEB0FE29}"/>
                </a:ext>
              </a:extLst>
            </p:cNvPr>
            <p:cNvPicPr/>
            <p:nvPr/>
          </p:nvPicPr>
          <p:blipFill>
            <a:blip r:embed="rId4" cstate="print"/>
            <a:stretch>
              <a:fillRect/>
            </a:stretch>
          </p:blipFill>
          <p:spPr>
            <a:xfrm>
              <a:off x="3141934" y="1170849"/>
              <a:ext cx="574683" cy="570664"/>
            </a:xfrm>
            <a:prstGeom prst="rect">
              <a:avLst/>
            </a:prstGeom>
          </p:spPr>
        </p:pic>
        <p:sp>
          <p:nvSpPr>
            <p:cNvPr id="31" name="object 99">
              <a:extLst>
                <a:ext uri="{FF2B5EF4-FFF2-40B4-BE49-F238E27FC236}">
                  <a16:creationId xmlns:a16="http://schemas.microsoft.com/office/drawing/2014/main" id="{BFCC7840-548F-906C-1504-3E3A4BBEDDAE}"/>
                </a:ext>
              </a:extLst>
            </p:cNvPr>
            <p:cNvSpPr/>
            <p:nvPr/>
          </p:nvSpPr>
          <p:spPr>
            <a:xfrm>
              <a:off x="3137916" y="1168908"/>
              <a:ext cx="586740" cy="581025"/>
            </a:xfrm>
            <a:custGeom>
              <a:avLst/>
              <a:gdLst/>
              <a:ahLst/>
              <a:cxnLst/>
              <a:rect l="l" t="t" r="r" b="b"/>
              <a:pathLst>
                <a:path w="586739" h="581025">
                  <a:moveTo>
                    <a:pt x="586740" y="0"/>
                  </a:moveTo>
                  <a:lnTo>
                    <a:pt x="0" y="0"/>
                  </a:lnTo>
                  <a:lnTo>
                    <a:pt x="0" y="580644"/>
                  </a:lnTo>
                  <a:lnTo>
                    <a:pt x="586740" y="580644"/>
                  </a:lnTo>
                  <a:lnTo>
                    <a:pt x="586740" y="0"/>
                  </a:lnTo>
                  <a:close/>
                </a:path>
              </a:pathLst>
            </a:custGeom>
            <a:solidFill>
              <a:srgbClr val="FFFFFF">
                <a:alpha val="45097"/>
              </a:srgbClr>
            </a:solidFill>
          </p:spPr>
          <p:txBody>
            <a:bodyPr wrap="square" lIns="0" tIns="0" rIns="0" bIns="0" rtlCol="0"/>
            <a:lstStyle/>
            <a:p>
              <a:endParaRPr/>
            </a:p>
          </p:txBody>
        </p:sp>
        <p:sp>
          <p:nvSpPr>
            <p:cNvPr id="32" name="object 100">
              <a:extLst>
                <a:ext uri="{FF2B5EF4-FFF2-40B4-BE49-F238E27FC236}">
                  <a16:creationId xmlns:a16="http://schemas.microsoft.com/office/drawing/2014/main" id="{A4D7D159-56D4-CE35-0927-B5DCBC1C8F72}"/>
                </a:ext>
              </a:extLst>
            </p:cNvPr>
            <p:cNvSpPr/>
            <p:nvPr/>
          </p:nvSpPr>
          <p:spPr>
            <a:xfrm>
              <a:off x="3191256" y="1278635"/>
              <a:ext cx="500380" cy="339090"/>
            </a:xfrm>
            <a:custGeom>
              <a:avLst/>
              <a:gdLst/>
              <a:ahLst/>
              <a:cxnLst/>
              <a:rect l="l" t="t" r="r" b="b"/>
              <a:pathLst>
                <a:path w="500379" h="339090">
                  <a:moveTo>
                    <a:pt x="500126" y="272796"/>
                  </a:moveTo>
                  <a:lnTo>
                    <a:pt x="487426" y="266446"/>
                  </a:lnTo>
                  <a:lnTo>
                    <a:pt x="449326" y="247396"/>
                  </a:lnTo>
                  <a:lnTo>
                    <a:pt x="449326" y="266446"/>
                  </a:lnTo>
                  <a:lnTo>
                    <a:pt x="236474" y="266446"/>
                  </a:lnTo>
                  <a:lnTo>
                    <a:pt x="236474" y="50800"/>
                  </a:lnTo>
                  <a:lnTo>
                    <a:pt x="255524" y="50800"/>
                  </a:lnTo>
                  <a:lnTo>
                    <a:pt x="249174" y="38100"/>
                  </a:lnTo>
                  <a:lnTo>
                    <a:pt x="230124" y="0"/>
                  </a:lnTo>
                  <a:lnTo>
                    <a:pt x="204724" y="50800"/>
                  </a:lnTo>
                  <a:lnTo>
                    <a:pt x="223774" y="50800"/>
                  </a:lnTo>
                  <a:lnTo>
                    <a:pt x="223774" y="266446"/>
                  </a:lnTo>
                  <a:lnTo>
                    <a:pt x="0" y="266446"/>
                  </a:lnTo>
                  <a:lnTo>
                    <a:pt x="0" y="279146"/>
                  </a:lnTo>
                  <a:lnTo>
                    <a:pt x="223774" y="279146"/>
                  </a:lnTo>
                  <a:lnTo>
                    <a:pt x="223774" y="338709"/>
                  </a:lnTo>
                  <a:lnTo>
                    <a:pt x="236474" y="338709"/>
                  </a:lnTo>
                  <a:lnTo>
                    <a:pt x="236474" y="279146"/>
                  </a:lnTo>
                  <a:lnTo>
                    <a:pt x="449326" y="279146"/>
                  </a:lnTo>
                  <a:lnTo>
                    <a:pt x="449326" y="298196"/>
                  </a:lnTo>
                  <a:lnTo>
                    <a:pt x="487426" y="279146"/>
                  </a:lnTo>
                  <a:lnTo>
                    <a:pt x="500126" y="272796"/>
                  </a:lnTo>
                  <a:close/>
                </a:path>
              </a:pathLst>
            </a:custGeom>
            <a:solidFill>
              <a:srgbClr val="000000"/>
            </a:solidFill>
          </p:spPr>
          <p:txBody>
            <a:bodyPr wrap="square" lIns="0" tIns="0" rIns="0" bIns="0" rtlCol="0"/>
            <a:lstStyle/>
            <a:p>
              <a:endParaRPr/>
            </a:p>
          </p:txBody>
        </p:sp>
        <p:sp>
          <p:nvSpPr>
            <p:cNvPr id="33" name="object 101">
              <a:extLst>
                <a:ext uri="{FF2B5EF4-FFF2-40B4-BE49-F238E27FC236}">
                  <a16:creationId xmlns:a16="http://schemas.microsoft.com/office/drawing/2014/main" id="{FF3A5976-8F3C-BF55-F7D3-1B947ECFEE3C}"/>
                </a:ext>
              </a:extLst>
            </p:cNvPr>
            <p:cNvSpPr/>
            <p:nvPr/>
          </p:nvSpPr>
          <p:spPr>
            <a:xfrm>
              <a:off x="3262884" y="1363980"/>
              <a:ext cx="317500" cy="163195"/>
            </a:xfrm>
            <a:custGeom>
              <a:avLst/>
              <a:gdLst/>
              <a:ahLst/>
              <a:cxnLst/>
              <a:rect l="l" t="t" r="r" b="b"/>
              <a:pathLst>
                <a:path w="317500" h="163194">
                  <a:moveTo>
                    <a:pt x="0" y="163068"/>
                  </a:moveTo>
                  <a:lnTo>
                    <a:pt x="52555" y="141684"/>
                  </a:lnTo>
                  <a:lnTo>
                    <a:pt x="86562" y="108881"/>
                  </a:lnTo>
                  <a:lnTo>
                    <a:pt x="108172" y="71485"/>
                  </a:lnTo>
                  <a:lnTo>
                    <a:pt x="123538" y="36321"/>
                  </a:lnTo>
                  <a:lnTo>
                    <a:pt x="138812" y="10218"/>
                  </a:lnTo>
                  <a:lnTo>
                    <a:pt x="160146" y="0"/>
                  </a:lnTo>
                  <a:lnTo>
                    <a:pt x="181087" y="10182"/>
                  </a:lnTo>
                  <a:lnTo>
                    <a:pt x="195420" y="36209"/>
                  </a:lnTo>
                  <a:lnTo>
                    <a:pt x="209661" y="71294"/>
                  </a:lnTo>
                  <a:lnTo>
                    <a:pt x="230326" y="108655"/>
                  </a:lnTo>
                  <a:lnTo>
                    <a:pt x="263931" y="141507"/>
                  </a:lnTo>
                  <a:lnTo>
                    <a:pt x="316991" y="163068"/>
                  </a:lnTo>
                </a:path>
              </a:pathLst>
            </a:custGeom>
            <a:ln w="9524">
              <a:solidFill>
                <a:srgbClr val="C00000"/>
              </a:solidFill>
            </a:ln>
          </p:spPr>
          <p:txBody>
            <a:bodyPr wrap="square" lIns="0" tIns="0" rIns="0" bIns="0" rtlCol="0"/>
            <a:lstStyle/>
            <a:p>
              <a:endParaRPr/>
            </a:p>
          </p:txBody>
        </p:sp>
      </p:grpSp>
      <p:grpSp>
        <p:nvGrpSpPr>
          <p:cNvPr id="34" name="object 102">
            <a:extLst>
              <a:ext uri="{FF2B5EF4-FFF2-40B4-BE49-F238E27FC236}">
                <a16:creationId xmlns:a16="http://schemas.microsoft.com/office/drawing/2014/main" id="{70C4530B-EA5D-456C-0CA4-4959DA13E0C7}"/>
              </a:ext>
            </a:extLst>
          </p:cNvPr>
          <p:cNvGrpSpPr/>
          <p:nvPr/>
        </p:nvGrpSpPr>
        <p:grpSpPr>
          <a:xfrm>
            <a:off x="8377428" y="1168908"/>
            <a:ext cx="586740" cy="581025"/>
            <a:chOff x="8377428" y="1168908"/>
            <a:chExt cx="586740" cy="581025"/>
          </a:xfrm>
        </p:grpSpPr>
        <p:pic>
          <p:nvPicPr>
            <p:cNvPr id="35" name="object 103">
              <a:extLst>
                <a:ext uri="{FF2B5EF4-FFF2-40B4-BE49-F238E27FC236}">
                  <a16:creationId xmlns:a16="http://schemas.microsoft.com/office/drawing/2014/main" id="{6F10E4BE-3613-EE8E-F209-BE53D66A29B1}"/>
                </a:ext>
              </a:extLst>
            </p:cNvPr>
            <p:cNvPicPr/>
            <p:nvPr/>
          </p:nvPicPr>
          <p:blipFill>
            <a:blip r:embed="rId4" cstate="print"/>
            <a:stretch>
              <a:fillRect/>
            </a:stretch>
          </p:blipFill>
          <p:spPr>
            <a:xfrm>
              <a:off x="8381446" y="1170849"/>
              <a:ext cx="574683" cy="570664"/>
            </a:xfrm>
            <a:prstGeom prst="rect">
              <a:avLst/>
            </a:prstGeom>
          </p:spPr>
        </p:pic>
        <p:sp>
          <p:nvSpPr>
            <p:cNvPr id="36" name="object 104">
              <a:extLst>
                <a:ext uri="{FF2B5EF4-FFF2-40B4-BE49-F238E27FC236}">
                  <a16:creationId xmlns:a16="http://schemas.microsoft.com/office/drawing/2014/main" id="{0D3ED975-793D-2B57-8214-D30A4248F001}"/>
                </a:ext>
              </a:extLst>
            </p:cNvPr>
            <p:cNvSpPr/>
            <p:nvPr/>
          </p:nvSpPr>
          <p:spPr>
            <a:xfrm>
              <a:off x="8377428" y="1168908"/>
              <a:ext cx="586740" cy="581025"/>
            </a:xfrm>
            <a:custGeom>
              <a:avLst/>
              <a:gdLst/>
              <a:ahLst/>
              <a:cxnLst/>
              <a:rect l="l" t="t" r="r" b="b"/>
              <a:pathLst>
                <a:path w="586740" h="581025">
                  <a:moveTo>
                    <a:pt x="586740" y="0"/>
                  </a:moveTo>
                  <a:lnTo>
                    <a:pt x="0" y="0"/>
                  </a:lnTo>
                  <a:lnTo>
                    <a:pt x="0" y="580644"/>
                  </a:lnTo>
                  <a:lnTo>
                    <a:pt x="586740" y="580644"/>
                  </a:lnTo>
                  <a:lnTo>
                    <a:pt x="586740" y="0"/>
                  </a:lnTo>
                  <a:close/>
                </a:path>
              </a:pathLst>
            </a:custGeom>
            <a:solidFill>
              <a:srgbClr val="FFFFFF">
                <a:alpha val="45097"/>
              </a:srgbClr>
            </a:solidFill>
          </p:spPr>
          <p:txBody>
            <a:bodyPr wrap="square" lIns="0" tIns="0" rIns="0" bIns="0" rtlCol="0"/>
            <a:lstStyle/>
            <a:p>
              <a:endParaRPr/>
            </a:p>
          </p:txBody>
        </p:sp>
        <p:sp>
          <p:nvSpPr>
            <p:cNvPr id="37" name="object 105">
              <a:extLst>
                <a:ext uri="{FF2B5EF4-FFF2-40B4-BE49-F238E27FC236}">
                  <a16:creationId xmlns:a16="http://schemas.microsoft.com/office/drawing/2014/main" id="{622B774E-0E0B-252A-58F3-CF94CF704E9F}"/>
                </a:ext>
              </a:extLst>
            </p:cNvPr>
            <p:cNvSpPr/>
            <p:nvPr/>
          </p:nvSpPr>
          <p:spPr>
            <a:xfrm>
              <a:off x="8430768" y="1278635"/>
              <a:ext cx="500380" cy="339090"/>
            </a:xfrm>
            <a:custGeom>
              <a:avLst/>
              <a:gdLst/>
              <a:ahLst/>
              <a:cxnLst/>
              <a:rect l="l" t="t" r="r" b="b"/>
              <a:pathLst>
                <a:path w="500379" h="339090">
                  <a:moveTo>
                    <a:pt x="499999" y="272796"/>
                  </a:moveTo>
                  <a:lnTo>
                    <a:pt x="487324" y="266446"/>
                  </a:lnTo>
                  <a:lnTo>
                    <a:pt x="449326" y="247396"/>
                  </a:lnTo>
                  <a:lnTo>
                    <a:pt x="449326" y="266446"/>
                  </a:lnTo>
                  <a:lnTo>
                    <a:pt x="236474" y="266446"/>
                  </a:lnTo>
                  <a:lnTo>
                    <a:pt x="236474" y="50800"/>
                  </a:lnTo>
                  <a:lnTo>
                    <a:pt x="255524" y="50800"/>
                  </a:lnTo>
                  <a:lnTo>
                    <a:pt x="249174" y="38100"/>
                  </a:lnTo>
                  <a:lnTo>
                    <a:pt x="230124" y="0"/>
                  </a:lnTo>
                  <a:lnTo>
                    <a:pt x="204724" y="50800"/>
                  </a:lnTo>
                  <a:lnTo>
                    <a:pt x="223774" y="50800"/>
                  </a:lnTo>
                  <a:lnTo>
                    <a:pt x="223774" y="266446"/>
                  </a:lnTo>
                  <a:lnTo>
                    <a:pt x="0" y="266446"/>
                  </a:lnTo>
                  <a:lnTo>
                    <a:pt x="0" y="279146"/>
                  </a:lnTo>
                  <a:lnTo>
                    <a:pt x="223774" y="279146"/>
                  </a:lnTo>
                  <a:lnTo>
                    <a:pt x="223774" y="338709"/>
                  </a:lnTo>
                  <a:lnTo>
                    <a:pt x="236474" y="338709"/>
                  </a:lnTo>
                  <a:lnTo>
                    <a:pt x="236474" y="279146"/>
                  </a:lnTo>
                  <a:lnTo>
                    <a:pt x="449326" y="279146"/>
                  </a:lnTo>
                  <a:lnTo>
                    <a:pt x="449326" y="298196"/>
                  </a:lnTo>
                  <a:lnTo>
                    <a:pt x="487324" y="279146"/>
                  </a:lnTo>
                  <a:lnTo>
                    <a:pt x="499999" y="272796"/>
                  </a:lnTo>
                  <a:close/>
                </a:path>
              </a:pathLst>
            </a:custGeom>
            <a:solidFill>
              <a:srgbClr val="000000"/>
            </a:solidFill>
          </p:spPr>
          <p:txBody>
            <a:bodyPr wrap="square" lIns="0" tIns="0" rIns="0" bIns="0" rtlCol="0"/>
            <a:lstStyle/>
            <a:p>
              <a:endParaRPr/>
            </a:p>
          </p:txBody>
        </p:sp>
        <p:sp>
          <p:nvSpPr>
            <p:cNvPr id="38" name="object 106">
              <a:extLst>
                <a:ext uri="{FF2B5EF4-FFF2-40B4-BE49-F238E27FC236}">
                  <a16:creationId xmlns:a16="http://schemas.microsoft.com/office/drawing/2014/main" id="{3FF236B7-1144-E2C1-CBF2-82F71A1315FD}"/>
                </a:ext>
              </a:extLst>
            </p:cNvPr>
            <p:cNvSpPr/>
            <p:nvPr/>
          </p:nvSpPr>
          <p:spPr>
            <a:xfrm>
              <a:off x="8500872" y="1363980"/>
              <a:ext cx="318770" cy="163195"/>
            </a:xfrm>
            <a:custGeom>
              <a:avLst/>
              <a:gdLst/>
              <a:ahLst/>
              <a:cxnLst/>
              <a:rect l="l" t="t" r="r" b="b"/>
              <a:pathLst>
                <a:path w="318770" h="163194">
                  <a:moveTo>
                    <a:pt x="0" y="163068"/>
                  </a:moveTo>
                  <a:lnTo>
                    <a:pt x="52814" y="141684"/>
                  </a:lnTo>
                  <a:lnTo>
                    <a:pt x="86985" y="108881"/>
                  </a:lnTo>
                  <a:lnTo>
                    <a:pt x="108696" y="71485"/>
                  </a:lnTo>
                  <a:lnTo>
                    <a:pt x="124130" y="36321"/>
                  </a:lnTo>
                  <a:lnTo>
                    <a:pt x="139473" y="10218"/>
                  </a:lnTo>
                  <a:lnTo>
                    <a:pt x="160908" y="0"/>
                  </a:lnTo>
                  <a:lnTo>
                    <a:pt x="181949" y="10182"/>
                  </a:lnTo>
                  <a:lnTo>
                    <a:pt x="196351" y="36209"/>
                  </a:lnTo>
                  <a:lnTo>
                    <a:pt x="210661" y="71294"/>
                  </a:lnTo>
                  <a:lnTo>
                    <a:pt x="231426" y="108655"/>
                  </a:lnTo>
                  <a:lnTo>
                    <a:pt x="265195" y="141507"/>
                  </a:lnTo>
                  <a:lnTo>
                    <a:pt x="318516" y="163068"/>
                  </a:lnTo>
                </a:path>
              </a:pathLst>
            </a:custGeom>
            <a:ln w="9525">
              <a:solidFill>
                <a:srgbClr val="C00000"/>
              </a:solidFill>
            </a:ln>
          </p:spPr>
          <p:txBody>
            <a:bodyPr wrap="square" lIns="0" tIns="0" rIns="0" bIns="0" rtlCol="0"/>
            <a:lstStyle/>
            <a:p>
              <a:endParaRPr/>
            </a:p>
          </p:txBody>
        </p:sp>
      </p:grpSp>
      <p:sp>
        <p:nvSpPr>
          <p:cNvPr id="39" name="object 107">
            <a:extLst>
              <a:ext uri="{FF2B5EF4-FFF2-40B4-BE49-F238E27FC236}">
                <a16:creationId xmlns:a16="http://schemas.microsoft.com/office/drawing/2014/main" id="{ECBA0A38-9E57-05AE-9FDE-8E46C6D14C1C}"/>
              </a:ext>
            </a:extLst>
          </p:cNvPr>
          <p:cNvSpPr txBox="1"/>
          <p:nvPr/>
        </p:nvSpPr>
        <p:spPr>
          <a:xfrm>
            <a:off x="3325114" y="1955419"/>
            <a:ext cx="1955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Microsoft YaHei"/>
                <a:cs typeface="Microsoft YaHei"/>
              </a:rPr>
              <a:t>+</a:t>
            </a:r>
            <a:endParaRPr sz="1800">
              <a:latin typeface="Microsoft YaHei"/>
              <a:cs typeface="Microsoft YaHei"/>
            </a:endParaRPr>
          </a:p>
        </p:txBody>
      </p:sp>
      <p:pic>
        <p:nvPicPr>
          <p:cNvPr id="40" name="object 108">
            <a:extLst>
              <a:ext uri="{FF2B5EF4-FFF2-40B4-BE49-F238E27FC236}">
                <a16:creationId xmlns:a16="http://schemas.microsoft.com/office/drawing/2014/main" id="{14E4062F-DA06-AC79-B29D-28B7AE0C23ED}"/>
              </a:ext>
            </a:extLst>
          </p:cNvPr>
          <p:cNvPicPr/>
          <p:nvPr/>
        </p:nvPicPr>
        <p:blipFill>
          <a:blip r:embed="rId5" cstate="print"/>
          <a:stretch>
            <a:fillRect/>
          </a:stretch>
        </p:blipFill>
        <p:spPr>
          <a:xfrm>
            <a:off x="3315970" y="2014473"/>
            <a:ext cx="213867" cy="213867"/>
          </a:xfrm>
          <a:prstGeom prst="rect">
            <a:avLst/>
          </a:prstGeom>
        </p:spPr>
      </p:pic>
      <p:sp>
        <p:nvSpPr>
          <p:cNvPr id="41" name="object 109">
            <a:extLst>
              <a:ext uri="{FF2B5EF4-FFF2-40B4-BE49-F238E27FC236}">
                <a16:creationId xmlns:a16="http://schemas.microsoft.com/office/drawing/2014/main" id="{B10D6129-D792-09DA-5EDB-009F93E092A3}"/>
              </a:ext>
            </a:extLst>
          </p:cNvPr>
          <p:cNvSpPr txBox="1"/>
          <p:nvPr/>
        </p:nvSpPr>
        <p:spPr>
          <a:xfrm>
            <a:off x="8561323" y="1955419"/>
            <a:ext cx="1955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Microsoft YaHei"/>
                <a:cs typeface="Microsoft YaHei"/>
              </a:rPr>
              <a:t>+</a:t>
            </a:r>
            <a:endParaRPr sz="1800">
              <a:latin typeface="Microsoft YaHei"/>
              <a:cs typeface="Microsoft YaHei"/>
            </a:endParaRPr>
          </a:p>
        </p:txBody>
      </p:sp>
      <p:pic>
        <p:nvPicPr>
          <p:cNvPr id="42" name="object 110">
            <a:extLst>
              <a:ext uri="{FF2B5EF4-FFF2-40B4-BE49-F238E27FC236}">
                <a16:creationId xmlns:a16="http://schemas.microsoft.com/office/drawing/2014/main" id="{E451E83A-0056-7072-B812-4FE6A69BB3E0}"/>
              </a:ext>
            </a:extLst>
          </p:cNvPr>
          <p:cNvPicPr/>
          <p:nvPr/>
        </p:nvPicPr>
        <p:blipFill>
          <a:blip r:embed="rId5" cstate="print"/>
          <a:stretch>
            <a:fillRect/>
          </a:stretch>
        </p:blipFill>
        <p:spPr>
          <a:xfrm>
            <a:off x="8550909" y="2014473"/>
            <a:ext cx="213868" cy="213867"/>
          </a:xfrm>
          <a:prstGeom prst="rect">
            <a:avLst/>
          </a:prstGeom>
        </p:spPr>
      </p:pic>
      <p:sp>
        <p:nvSpPr>
          <p:cNvPr id="43" name="object 140">
            <a:extLst>
              <a:ext uri="{FF2B5EF4-FFF2-40B4-BE49-F238E27FC236}">
                <a16:creationId xmlns:a16="http://schemas.microsoft.com/office/drawing/2014/main" id="{44C2E424-10A5-6A89-06EA-2B7ECE96C11D}"/>
              </a:ext>
            </a:extLst>
          </p:cNvPr>
          <p:cNvSpPr txBox="1"/>
          <p:nvPr/>
        </p:nvSpPr>
        <p:spPr>
          <a:xfrm>
            <a:off x="5115305" y="2020061"/>
            <a:ext cx="188785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Microsoft YaHei"/>
                <a:cs typeface="Microsoft YaHei"/>
              </a:rPr>
              <a:t>Gauss</a:t>
            </a:r>
            <a:r>
              <a:rPr sz="1600" b="1" spc="-40" dirty="0">
                <a:latin typeface="Microsoft YaHei"/>
                <a:cs typeface="Microsoft YaHei"/>
              </a:rPr>
              <a:t> </a:t>
            </a:r>
            <a:r>
              <a:rPr sz="1600" b="1" spc="-10" dirty="0">
                <a:latin typeface="Microsoft YaHei"/>
                <a:cs typeface="Microsoft YaHei"/>
              </a:rPr>
              <a:t>distribution</a:t>
            </a:r>
            <a:endParaRPr sz="1600" dirty="0">
              <a:latin typeface="Microsoft YaHei"/>
              <a:cs typeface="Microsoft YaHei"/>
            </a:endParaRPr>
          </a:p>
        </p:txBody>
      </p:sp>
      <p:sp>
        <p:nvSpPr>
          <p:cNvPr id="44" name="object 146">
            <a:extLst>
              <a:ext uri="{FF2B5EF4-FFF2-40B4-BE49-F238E27FC236}">
                <a16:creationId xmlns:a16="http://schemas.microsoft.com/office/drawing/2014/main" id="{49D9F2F2-AD74-32F5-D7AB-7F0613A75A2C}"/>
              </a:ext>
            </a:extLst>
          </p:cNvPr>
          <p:cNvSpPr txBox="1"/>
          <p:nvPr/>
        </p:nvSpPr>
        <p:spPr>
          <a:xfrm>
            <a:off x="5943980" y="2919221"/>
            <a:ext cx="19558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Microsoft YaHei"/>
                <a:cs typeface="Microsoft YaHei"/>
              </a:rPr>
              <a:t>+</a:t>
            </a:r>
            <a:endParaRPr sz="1800" dirty="0">
              <a:latin typeface="Microsoft YaHei"/>
              <a:cs typeface="Microsoft YaHei"/>
            </a:endParaRPr>
          </a:p>
        </p:txBody>
      </p:sp>
      <p:pic>
        <p:nvPicPr>
          <p:cNvPr id="45" name="object 111">
            <a:extLst>
              <a:ext uri="{FF2B5EF4-FFF2-40B4-BE49-F238E27FC236}">
                <a16:creationId xmlns:a16="http://schemas.microsoft.com/office/drawing/2014/main" id="{04123689-BBB3-6F13-CDF5-7FDD97127D8B}"/>
              </a:ext>
            </a:extLst>
          </p:cNvPr>
          <p:cNvPicPr/>
          <p:nvPr/>
        </p:nvPicPr>
        <p:blipFill>
          <a:blip r:embed="rId6" cstate="print">
            <a:extLst>
              <a:ext uri="{28A0092B-C50C-407E-A947-70E740481C1C}">
                <a14:useLocalDpi xmlns:a14="http://schemas.microsoft.com/office/drawing/2010/main" val="0"/>
              </a:ext>
            </a:extLst>
          </a:blip>
          <a:srcRect/>
          <a:stretch/>
        </p:blipFill>
        <p:spPr>
          <a:xfrm>
            <a:off x="3189732" y="3515106"/>
            <a:ext cx="960119" cy="960119"/>
          </a:xfrm>
          <a:prstGeom prst="rect">
            <a:avLst/>
          </a:prstGeom>
        </p:spPr>
      </p:pic>
      <p:sp>
        <p:nvSpPr>
          <p:cNvPr id="46" name="object 112">
            <a:extLst>
              <a:ext uri="{FF2B5EF4-FFF2-40B4-BE49-F238E27FC236}">
                <a16:creationId xmlns:a16="http://schemas.microsoft.com/office/drawing/2014/main" id="{CE073E79-474C-594C-09F8-9E5EACC88BDD}"/>
              </a:ext>
            </a:extLst>
          </p:cNvPr>
          <p:cNvSpPr/>
          <p:nvPr/>
        </p:nvSpPr>
        <p:spPr>
          <a:xfrm>
            <a:off x="4375086" y="3958297"/>
            <a:ext cx="156845" cy="52705"/>
          </a:xfrm>
          <a:custGeom>
            <a:avLst/>
            <a:gdLst/>
            <a:ahLst/>
            <a:cxnLst/>
            <a:rect l="l" t="t" r="r" b="b"/>
            <a:pathLst>
              <a:path w="156845" h="52704">
                <a:moveTo>
                  <a:pt x="156413" y="46139"/>
                </a:moveTo>
                <a:lnTo>
                  <a:pt x="154533" y="44272"/>
                </a:lnTo>
                <a:lnTo>
                  <a:pt x="4191" y="44272"/>
                </a:lnTo>
                <a:lnTo>
                  <a:pt x="1879" y="44272"/>
                </a:lnTo>
                <a:lnTo>
                  <a:pt x="0" y="46139"/>
                </a:lnTo>
                <a:lnTo>
                  <a:pt x="0" y="50774"/>
                </a:lnTo>
                <a:lnTo>
                  <a:pt x="1879" y="52654"/>
                </a:lnTo>
                <a:lnTo>
                  <a:pt x="154533" y="52654"/>
                </a:lnTo>
                <a:lnTo>
                  <a:pt x="156413" y="50774"/>
                </a:lnTo>
                <a:lnTo>
                  <a:pt x="156413" y="46139"/>
                </a:lnTo>
                <a:close/>
              </a:path>
              <a:path w="156845" h="52704">
                <a:moveTo>
                  <a:pt x="156413" y="1879"/>
                </a:moveTo>
                <a:lnTo>
                  <a:pt x="154533" y="0"/>
                </a:lnTo>
                <a:lnTo>
                  <a:pt x="4191" y="0"/>
                </a:lnTo>
                <a:lnTo>
                  <a:pt x="1879" y="0"/>
                </a:lnTo>
                <a:lnTo>
                  <a:pt x="0" y="1879"/>
                </a:lnTo>
                <a:lnTo>
                  <a:pt x="0" y="6502"/>
                </a:lnTo>
                <a:lnTo>
                  <a:pt x="1879" y="8369"/>
                </a:lnTo>
                <a:lnTo>
                  <a:pt x="154533" y="8369"/>
                </a:lnTo>
                <a:lnTo>
                  <a:pt x="156413" y="6502"/>
                </a:lnTo>
                <a:lnTo>
                  <a:pt x="156413" y="1879"/>
                </a:lnTo>
                <a:close/>
              </a:path>
            </a:pathLst>
          </a:custGeom>
          <a:solidFill>
            <a:srgbClr val="000000"/>
          </a:solidFill>
        </p:spPr>
        <p:txBody>
          <a:bodyPr wrap="square" lIns="0" tIns="0" rIns="0" bIns="0" rtlCol="0"/>
          <a:lstStyle/>
          <a:p>
            <a:endParaRPr/>
          </a:p>
        </p:txBody>
      </p:sp>
      <p:pic>
        <p:nvPicPr>
          <p:cNvPr id="47" name="object 116">
            <a:extLst>
              <a:ext uri="{FF2B5EF4-FFF2-40B4-BE49-F238E27FC236}">
                <a16:creationId xmlns:a16="http://schemas.microsoft.com/office/drawing/2014/main" id="{65D16731-F84E-EAC7-5192-424E9C1B802E}"/>
              </a:ext>
            </a:extLst>
          </p:cNvPr>
          <p:cNvPicPr/>
          <p:nvPr/>
        </p:nvPicPr>
        <p:blipFill>
          <a:blip r:embed="rId7" cstate="print">
            <a:extLst>
              <a:ext uri="{28A0092B-C50C-407E-A947-70E740481C1C}">
                <a14:useLocalDpi xmlns:a14="http://schemas.microsoft.com/office/drawing/2010/main" val="0"/>
              </a:ext>
            </a:extLst>
          </a:blip>
          <a:srcRect/>
          <a:stretch/>
        </p:blipFill>
        <p:spPr>
          <a:xfrm>
            <a:off x="5254752" y="3519676"/>
            <a:ext cx="960120" cy="960120"/>
          </a:xfrm>
          <a:prstGeom prst="rect">
            <a:avLst/>
          </a:prstGeom>
        </p:spPr>
      </p:pic>
      <p:sp>
        <p:nvSpPr>
          <p:cNvPr id="48" name="object 117">
            <a:extLst>
              <a:ext uri="{FF2B5EF4-FFF2-40B4-BE49-F238E27FC236}">
                <a16:creationId xmlns:a16="http://schemas.microsoft.com/office/drawing/2014/main" id="{06F59F04-AE5B-C721-233D-B24265C0523E}"/>
              </a:ext>
            </a:extLst>
          </p:cNvPr>
          <p:cNvSpPr/>
          <p:nvPr/>
        </p:nvSpPr>
        <p:spPr>
          <a:xfrm>
            <a:off x="6339522" y="3906837"/>
            <a:ext cx="156845" cy="156210"/>
          </a:xfrm>
          <a:custGeom>
            <a:avLst/>
            <a:gdLst/>
            <a:ahLst/>
            <a:cxnLst/>
            <a:rect l="l" t="t" r="r" b="b"/>
            <a:pathLst>
              <a:path w="156845" h="156210">
                <a:moveTo>
                  <a:pt x="156413" y="75476"/>
                </a:moveTo>
                <a:lnTo>
                  <a:pt x="154533" y="73596"/>
                </a:lnTo>
                <a:lnTo>
                  <a:pt x="82689" y="73596"/>
                </a:lnTo>
                <a:lnTo>
                  <a:pt x="82689" y="4191"/>
                </a:lnTo>
                <a:lnTo>
                  <a:pt x="82689" y="1879"/>
                </a:lnTo>
                <a:lnTo>
                  <a:pt x="80810" y="0"/>
                </a:lnTo>
                <a:lnTo>
                  <a:pt x="76187" y="0"/>
                </a:lnTo>
                <a:lnTo>
                  <a:pt x="74307" y="1879"/>
                </a:lnTo>
                <a:lnTo>
                  <a:pt x="74307" y="73596"/>
                </a:lnTo>
                <a:lnTo>
                  <a:pt x="4191" y="73596"/>
                </a:lnTo>
                <a:lnTo>
                  <a:pt x="1879" y="73596"/>
                </a:lnTo>
                <a:lnTo>
                  <a:pt x="0" y="75476"/>
                </a:lnTo>
                <a:lnTo>
                  <a:pt x="0" y="80098"/>
                </a:lnTo>
                <a:lnTo>
                  <a:pt x="1879" y="81965"/>
                </a:lnTo>
                <a:lnTo>
                  <a:pt x="74307" y="81965"/>
                </a:lnTo>
                <a:lnTo>
                  <a:pt x="74307" y="154292"/>
                </a:lnTo>
                <a:lnTo>
                  <a:pt x="76187" y="156159"/>
                </a:lnTo>
                <a:lnTo>
                  <a:pt x="80822" y="156159"/>
                </a:lnTo>
                <a:lnTo>
                  <a:pt x="82689" y="154292"/>
                </a:lnTo>
                <a:lnTo>
                  <a:pt x="82689" y="81965"/>
                </a:lnTo>
                <a:lnTo>
                  <a:pt x="154533" y="81965"/>
                </a:lnTo>
                <a:lnTo>
                  <a:pt x="156413" y="80098"/>
                </a:lnTo>
                <a:lnTo>
                  <a:pt x="156413" y="75476"/>
                </a:lnTo>
                <a:close/>
              </a:path>
            </a:pathLst>
          </a:custGeom>
          <a:solidFill>
            <a:srgbClr val="000000"/>
          </a:solidFill>
        </p:spPr>
        <p:txBody>
          <a:bodyPr wrap="square" lIns="0" tIns="0" rIns="0" bIns="0" rtlCol="0"/>
          <a:lstStyle/>
          <a:p>
            <a:endParaRPr/>
          </a:p>
        </p:txBody>
      </p:sp>
      <p:grpSp>
        <p:nvGrpSpPr>
          <p:cNvPr id="49" name="object 118">
            <a:extLst>
              <a:ext uri="{FF2B5EF4-FFF2-40B4-BE49-F238E27FC236}">
                <a16:creationId xmlns:a16="http://schemas.microsoft.com/office/drawing/2014/main" id="{22EF6546-A252-4C58-EAFF-E9D2CDEC9A13}"/>
              </a:ext>
            </a:extLst>
          </p:cNvPr>
          <p:cNvGrpSpPr/>
          <p:nvPr/>
        </p:nvGrpSpPr>
        <p:grpSpPr>
          <a:xfrm>
            <a:off x="7623337" y="3526535"/>
            <a:ext cx="962025" cy="949960"/>
            <a:chOff x="7536180" y="3526535"/>
            <a:chExt cx="962025" cy="949960"/>
          </a:xfrm>
        </p:grpSpPr>
        <p:pic>
          <p:nvPicPr>
            <p:cNvPr id="50" name="object 119">
              <a:extLst>
                <a:ext uri="{FF2B5EF4-FFF2-40B4-BE49-F238E27FC236}">
                  <a16:creationId xmlns:a16="http://schemas.microsoft.com/office/drawing/2014/main" id="{B15E21BA-2254-A2DA-63F0-98485E8D7903}"/>
                </a:ext>
              </a:extLst>
            </p:cNvPr>
            <p:cNvPicPr/>
            <p:nvPr/>
          </p:nvPicPr>
          <p:blipFill>
            <a:blip r:embed="rId4" cstate="print"/>
            <a:stretch>
              <a:fillRect/>
            </a:stretch>
          </p:blipFill>
          <p:spPr>
            <a:xfrm>
              <a:off x="7542766" y="3527517"/>
              <a:ext cx="941884" cy="935297"/>
            </a:xfrm>
            <a:prstGeom prst="rect">
              <a:avLst/>
            </a:prstGeom>
          </p:spPr>
        </p:pic>
        <p:sp>
          <p:nvSpPr>
            <p:cNvPr id="51" name="object 120">
              <a:extLst>
                <a:ext uri="{FF2B5EF4-FFF2-40B4-BE49-F238E27FC236}">
                  <a16:creationId xmlns:a16="http://schemas.microsoft.com/office/drawing/2014/main" id="{1A826A90-5E95-260C-DB0F-26A3B55577A9}"/>
                </a:ext>
              </a:extLst>
            </p:cNvPr>
            <p:cNvSpPr/>
            <p:nvPr/>
          </p:nvSpPr>
          <p:spPr>
            <a:xfrm>
              <a:off x="7536180" y="3526535"/>
              <a:ext cx="962025" cy="949960"/>
            </a:xfrm>
            <a:custGeom>
              <a:avLst/>
              <a:gdLst/>
              <a:ahLst/>
              <a:cxnLst/>
              <a:rect l="l" t="t" r="r" b="b"/>
              <a:pathLst>
                <a:path w="962025" h="949960">
                  <a:moveTo>
                    <a:pt x="961644" y="0"/>
                  </a:moveTo>
                  <a:lnTo>
                    <a:pt x="0" y="0"/>
                  </a:lnTo>
                  <a:lnTo>
                    <a:pt x="0" y="949451"/>
                  </a:lnTo>
                  <a:lnTo>
                    <a:pt x="961644" y="949451"/>
                  </a:lnTo>
                  <a:lnTo>
                    <a:pt x="961644" y="0"/>
                  </a:lnTo>
                  <a:close/>
                </a:path>
              </a:pathLst>
            </a:custGeom>
            <a:solidFill>
              <a:srgbClr val="FFFFFF">
                <a:alpha val="45097"/>
              </a:srgbClr>
            </a:solidFill>
          </p:spPr>
          <p:txBody>
            <a:bodyPr wrap="square" lIns="0" tIns="0" rIns="0" bIns="0" rtlCol="0"/>
            <a:lstStyle/>
            <a:p>
              <a:endParaRPr/>
            </a:p>
          </p:txBody>
        </p:sp>
        <p:sp>
          <p:nvSpPr>
            <p:cNvPr id="52" name="object 121">
              <a:extLst>
                <a:ext uri="{FF2B5EF4-FFF2-40B4-BE49-F238E27FC236}">
                  <a16:creationId xmlns:a16="http://schemas.microsoft.com/office/drawing/2014/main" id="{40BA610F-3BAD-B6F5-76BF-06F37443EA6D}"/>
                </a:ext>
              </a:extLst>
            </p:cNvPr>
            <p:cNvSpPr/>
            <p:nvPr/>
          </p:nvSpPr>
          <p:spPr>
            <a:xfrm>
              <a:off x="7624572" y="3704843"/>
              <a:ext cx="819150" cy="554990"/>
            </a:xfrm>
            <a:custGeom>
              <a:avLst/>
              <a:gdLst/>
              <a:ahLst/>
              <a:cxnLst/>
              <a:rect l="l" t="t" r="r" b="b"/>
              <a:pathLst>
                <a:path w="819150" h="554989">
                  <a:moveTo>
                    <a:pt x="818642" y="446532"/>
                  </a:moveTo>
                  <a:lnTo>
                    <a:pt x="805942" y="440182"/>
                  </a:lnTo>
                  <a:lnTo>
                    <a:pt x="767842" y="421132"/>
                  </a:lnTo>
                  <a:lnTo>
                    <a:pt x="767842" y="440182"/>
                  </a:lnTo>
                  <a:lnTo>
                    <a:pt x="381254" y="440182"/>
                  </a:lnTo>
                  <a:lnTo>
                    <a:pt x="381254" y="50800"/>
                  </a:lnTo>
                  <a:lnTo>
                    <a:pt x="400304" y="50800"/>
                  </a:lnTo>
                  <a:lnTo>
                    <a:pt x="393954" y="38100"/>
                  </a:lnTo>
                  <a:lnTo>
                    <a:pt x="374904" y="0"/>
                  </a:lnTo>
                  <a:lnTo>
                    <a:pt x="349504" y="50800"/>
                  </a:lnTo>
                  <a:lnTo>
                    <a:pt x="368554" y="50800"/>
                  </a:lnTo>
                  <a:lnTo>
                    <a:pt x="368554" y="440182"/>
                  </a:lnTo>
                  <a:lnTo>
                    <a:pt x="0" y="440182"/>
                  </a:lnTo>
                  <a:lnTo>
                    <a:pt x="0" y="452882"/>
                  </a:lnTo>
                  <a:lnTo>
                    <a:pt x="368554" y="452882"/>
                  </a:lnTo>
                  <a:lnTo>
                    <a:pt x="368554" y="554482"/>
                  </a:lnTo>
                  <a:lnTo>
                    <a:pt x="381254" y="554482"/>
                  </a:lnTo>
                  <a:lnTo>
                    <a:pt x="381254" y="452882"/>
                  </a:lnTo>
                  <a:lnTo>
                    <a:pt x="767842" y="452882"/>
                  </a:lnTo>
                  <a:lnTo>
                    <a:pt x="767842" y="471932"/>
                  </a:lnTo>
                  <a:lnTo>
                    <a:pt x="805942" y="452882"/>
                  </a:lnTo>
                  <a:lnTo>
                    <a:pt x="818642" y="446532"/>
                  </a:lnTo>
                  <a:close/>
                </a:path>
              </a:pathLst>
            </a:custGeom>
            <a:solidFill>
              <a:srgbClr val="000000"/>
            </a:solidFill>
          </p:spPr>
          <p:txBody>
            <a:bodyPr wrap="square" lIns="0" tIns="0" rIns="0" bIns="0" rtlCol="0"/>
            <a:lstStyle/>
            <a:p>
              <a:endParaRPr/>
            </a:p>
          </p:txBody>
        </p:sp>
        <p:sp>
          <p:nvSpPr>
            <p:cNvPr id="53" name="object 122">
              <a:extLst>
                <a:ext uri="{FF2B5EF4-FFF2-40B4-BE49-F238E27FC236}">
                  <a16:creationId xmlns:a16="http://schemas.microsoft.com/office/drawing/2014/main" id="{2914AD37-CC53-991B-C928-6D8F6DBF8720}"/>
                </a:ext>
              </a:extLst>
            </p:cNvPr>
            <p:cNvSpPr/>
            <p:nvPr/>
          </p:nvSpPr>
          <p:spPr>
            <a:xfrm>
              <a:off x="7740396" y="3843527"/>
              <a:ext cx="520065" cy="268605"/>
            </a:xfrm>
            <a:custGeom>
              <a:avLst/>
              <a:gdLst/>
              <a:ahLst/>
              <a:cxnLst/>
              <a:rect l="l" t="t" r="r" b="b"/>
              <a:pathLst>
                <a:path w="520065" h="268604">
                  <a:moveTo>
                    <a:pt x="0" y="268224"/>
                  </a:moveTo>
                  <a:lnTo>
                    <a:pt x="55905" y="250004"/>
                  </a:lnTo>
                  <a:lnTo>
                    <a:pt x="99417" y="223406"/>
                  </a:lnTo>
                  <a:lnTo>
                    <a:pt x="132714" y="190853"/>
                  </a:lnTo>
                  <a:lnTo>
                    <a:pt x="157973" y="154771"/>
                  </a:lnTo>
                  <a:lnTo>
                    <a:pt x="177371" y="117586"/>
                  </a:lnTo>
                  <a:lnTo>
                    <a:pt x="193084" y="81722"/>
                  </a:lnTo>
                  <a:lnTo>
                    <a:pt x="207290" y="49607"/>
                  </a:lnTo>
                  <a:lnTo>
                    <a:pt x="222166" y="23664"/>
                  </a:lnTo>
                  <a:lnTo>
                    <a:pt x="239889" y="6320"/>
                  </a:lnTo>
                  <a:lnTo>
                    <a:pt x="262635" y="0"/>
                  </a:lnTo>
                  <a:lnTo>
                    <a:pt x="285130" y="6296"/>
                  </a:lnTo>
                  <a:lnTo>
                    <a:pt x="302182" y="23579"/>
                  </a:lnTo>
                  <a:lnTo>
                    <a:pt x="316102" y="49439"/>
                  </a:lnTo>
                  <a:lnTo>
                    <a:pt x="329196" y="81466"/>
                  </a:lnTo>
                  <a:lnTo>
                    <a:pt x="343773" y="117252"/>
                  </a:lnTo>
                  <a:lnTo>
                    <a:pt x="362141" y="154387"/>
                  </a:lnTo>
                  <a:lnTo>
                    <a:pt x="386607" y="190461"/>
                  </a:lnTo>
                  <a:lnTo>
                    <a:pt x="419482" y="223064"/>
                  </a:lnTo>
                  <a:lnTo>
                    <a:pt x="463071" y="249788"/>
                  </a:lnTo>
                  <a:lnTo>
                    <a:pt x="519683" y="268224"/>
                  </a:lnTo>
                </a:path>
              </a:pathLst>
            </a:custGeom>
            <a:ln w="9524">
              <a:solidFill>
                <a:srgbClr val="C00000"/>
              </a:solidFill>
            </a:ln>
          </p:spPr>
          <p:txBody>
            <a:bodyPr wrap="square" lIns="0" tIns="0" rIns="0" bIns="0" rtlCol="0"/>
            <a:lstStyle/>
            <a:p>
              <a:endParaRPr/>
            </a:p>
          </p:txBody>
        </p:sp>
      </p:grpSp>
      <p:sp>
        <p:nvSpPr>
          <p:cNvPr id="54" name="object 141">
            <a:extLst>
              <a:ext uri="{FF2B5EF4-FFF2-40B4-BE49-F238E27FC236}">
                <a16:creationId xmlns:a16="http://schemas.microsoft.com/office/drawing/2014/main" id="{848DE3A6-C83D-F01B-0BF4-2A70A57D5C7A}"/>
              </a:ext>
            </a:extLst>
          </p:cNvPr>
          <p:cNvSpPr txBox="1"/>
          <p:nvPr/>
        </p:nvSpPr>
        <p:spPr>
          <a:xfrm>
            <a:off x="6110707" y="5941872"/>
            <a:ext cx="55245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1F4E79"/>
                </a:solidFill>
                <a:latin typeface="Calibri"/>
                <a:cs typeface="Calibri"/>
              </a:rPr>
              <a:t>mean</a:t>
            </a:r>
            <a:endParaRPr sz="1800" dirty="0">
              <a:latin typeface="Calibri"/>
              <a:cs typeface="Calibri"/>
            </a:endParaRPr>
          </a:p>
        </p:txBody>
      </p:sp>
      <p:sp>
        <p:nvSpPr>
          <p:cNvPr id="55" name="object 142">
            <a:extLst>
              <a:ext uri="{FF2B5EF4-FFF2-40B4-BE49-F238E27FC236}">
                <a16:creationId xmlns:a16="http://schemas.microsoft.com/office/drawing/2014/main" id="{8836A50D-864B-2F4D-DE4D-AE15EDCC502C}"/>
              </a:ext>
            </a:extLst>
          </p:cNvPr>
          <p:cNvSpPr txBox="1"/>
          <p:nvPr/>
        </p:nvSpPr>
        <p:spPr>
          <a:xfrm>
            <a:off x="7146500" y="5928461"/>
            <a:ext cx="80772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F4E79"/>
                </a:solidFill>
                <a:latin typeface="Calibri"/>
                <a:cs typeface="Calibri"/>
              </a:rPr>
              <a:t>variance</a:t>
            </a:r>
            <a:endParaRPr sz="1800" dirty="0">
              <a:latin typeface="Calibri"/>
              <a:cs typeface="Calibri"/>
            </a:endParaRPr>
          </a:p>
        </p:txBody>
      </p:sp>
      <p:sp>
        <p:nvSpPr>
          <p:cNvPr id="56" name="object 147">
            <a:extLst>
              <a:ext uri="{FF2B5EF4-FFF2-40B4-BE49-F238E27FC236}">
                <a16:creationId xmlns:a16="http://schemas.microsoft.com/office/drawing/2014/main" id="{CB93FE5A-2B4D-8892-1816-CF33EBEC63EA}"/>
              </a:ext>
            </a:extLst>
          </p:cNvPr>
          <p:cNvSpPr txBox="1"/>
          <p:nvPr/>
        </p:nvSpPr>
        <p:spPr>
          <a:xfrm>
            <a:off x="3127248" y="4536947"/>
            <a:ext cx="1087120" cy="340360"/>
          </a:xfrm>
          <a:prstGeom prst="rect">
            <a:avLst/>
          </a:prstGeom>
          <a:solidFill>
            <a:srgbClr val="006FC0">
              <a:alpha val="10195"/>
            </a:srgbClr>
          </a:solidFill>
        </p:spPr>
        <p:txBody>
          <a:bodyPr vert="horz" wrap="square" lIns="0" tIns="33019" rIns="0" bIns="0" rtlCol="0">
            <a:spAutoFit/>
          </a:bodyPr>
          <a:lstStyle/>
          <a:p>
            <a:pPr marL="144780">
              <a:lnSpc>
                <a:spcPct val="100000"/>
              </a:lnSpc>
              <a:spcBef>
                <a:spcPts val="259"/>
              </a:spcBef>
            </a:pPr>
            <a:r>
              <a:rPr sz="1600" b="1" spc="-10" dirty="0">
                <a:solidFill>
                  <a:srgbClr val="2D75B6"/>
                </a:solidFill>
                <a:latin typeface="Yu Gothic UI"/>
                <a:cs typeface="Yu Gothic UI"/>
              </a:rPr>
              <a:t>gaussian</a:t>
            </a:r>
            <a:endParaRPr sz="1600" dirty="0">
              <a:latin typeface="Yu Gothic UI"/>
              <a:cs typeface="Yu Gothic UI"/>
            </a:endParaRPr>
          </a:p>
        </p:txBody>
      </p:sp>
      <p:sp>
        <p:nvSpPr>
          <p:cNvPr id="57" name="object 177">
            <a:extLst>
              <a:ext uri="{FF2B5EF4-FFF2-40B4-BE49-F238E27FC236}">
                <a16:creationId xmlns:a16="http://schemas.microsoft.com/office/drawing/2014/main" id="{AA0AC316-756B-0C00-7420-8C655CAB7ECA}"/>
              </a:ext>
            </a:extLst>
          </p:cNvPr>
          <p:cNvSpPr txBox="1"/>
          <p:nvPr/>
        </p:nvSpPr>
        <p:spPr>
          <a:xfrm>
            <a:off x="5501766" y="4466335"/>
            <a:ext cx="498475"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Calibri"/>
                <a:cs typeface="Calibri"/>
              </a:rPr>
              <a:t>signal</a:t>
            </a:r>
            <a:endParaRPr sz="1600">
              <a:latin typeface="Calibri"/>
              <a:cs typeface="Calibri"/>
            </a:endParaRPr>
          </a:p>
        </p:txBody>
      </p:sp>
      <p:sp>
        <p:nvSpPr>
          <p:cNvPr id="58" name="object 178">
            <a:extLst>
              <a:ext uri="{FF2B5EF4-FFF2-40B4-BE49-F238E27FC236}">
                <a16:creationId xmlns:a16="http://schemas.microsoft.com/office/drawing/2014/main" id="{C923086C-1B7C-53D1-1543-00CF3C766638}"/>
              </a:ext>
            </a:extLst>
          </p:cNvPr>
          <p:cNvSpPr txBox="1"/>
          <p:nvPr/>
        </p:nvSpPr>
        <p:spPr>
          <a:xfrm>
            <a:off x="7767319" y="4466335"/>
            <a:ext cx="466725"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Calibri"/>
                <a:cs typeface="Calibri"/>
              </a:rPr>
              <a:t>noise</a:t>
            </a:r>
            <a:endParaRPr sz="1600">
              <a:latin typeface="Calibri"/>
              <a:cs typeface="Calibri"/>
            </a:endParaRPr>
          </a:p>
        </p:txBody>
      </p:sp>
      <p:pic>
        <p:nvPicPr>
          <p:cNvPr id="59" name="object 79">
            <a:extLst>
              <a:ext uri="{FF2B5EF4-FFF2-40B4-BE49-F238E27FC236}">
                <a16:creationId xmlns:a16="http://schemas.microsoft.com/office/drawing/2014/main" id="{DEA3A53D-A99B-DBAB-D8D8-AEE3C111935C}"/>
              </a:ext>
            </a:extLst>
          </p:cNvPr>
          <p:cNvPicPr/>
          <p:nvPr/>
        </p:nvPicPr>
        <p:blipFill>
          <a:blip r:embed="rId6" cstate="print">
            <a:extLst>
              <a:ext uri="{28A0092B-C50C-407E-A947-70E740481C1C}">
                <a14:useLocalDpi xmlns:a14="http://schemas.microsoft.com/office/drawing/2010/main" val="0"/>
              </a:ext>
            </a:extLst>
          </a:blip>
          <a:srcRect/>
          <a:stretch/>
        </p:blipFill>
        <p:spPr>
          <a:xfrm>
            <a:off x="7215822" y="1466816"/>
            <a:ext cx="960119" cy="960119"/>
          </a:xfrm>
          <a:prstGeom prst="rect">
            <a:avLst/>
          </a:prstGeom>
        </p:spPr>
      </p:pic>
      <p:pic>
        <p:nvPicPr>
          <p:cNvPr id="60" name="object 79">
            <a:extLst>
              <a:ext uri="{FF2B5EF4-FFF2-40B4-BE49-F238E27FC236}">
                <a16:creationId xmlns:a16="http://schemas.microsoft.com/office/drawing/2014/main" id="{33C44B60-50B3-85B0-8804-44D944533277}"/>
              </a:ext>
            </a:extLst>
          </p:cNvPr>
          <p:cNvPicPr/>
          <p:nvPr/>
        </p:nvPicPr>
        <p:blipFill>
          <a:blip r:embed="rId7" cstate="print">
            <a:extLst>
              <a:ext uri="{28A0092B-C50C-407E-A947-70E740481C1C}">
                <a14:useLocalDpi xmlns:a14="http://schemas.microsoft.com/office/drawing/2010/main" val="0"/>
              </a:ext>
            </a:extLst>
          </a:blip>
          <a:srcRect/>
          <a:stretch/>
        </p:blipFill>
        <p:spPr>
          <a:xfrm>
            <a:off x="3934365" y="1456181"/>
            <a:ext cx="960119" cy="960119"/>
          </a:xfrm>
          <a:prstGeom prst="rect">
            <a:avLst/>
          </a:prstGeom>
        </p:spPr>
      </p:pic>
      <p:grpSp>
        <p:nvGrpSpPr>
          <p:cNvPr id="61" name="object 97">
            <a:extLst>
              <a:ext uri="{FF2B5EF4-FFF2-40B4-BE49-F238E27FC236}">
                <a16:creationId xmlns:a16="http://schemas.microsoft.com/office/drawing/2014/main" id="{DB4803F1-5559-3B93-BEF0-6DC6AC69C6E1}"/>
              </a:ext>
            </a:extLst>
          </p:cNvPr>
          <p:cNvGrpSpPr/>
          <p:nvPr/>
        </p:nvGrpSpPr>
        <p:grpSpPr>
          <a:xfrm>
            <a:off x="5819323" y="2312454"/>
            <a:ext cx="417600" cy="419305"/>
            <a:chOff x="3121440" y="1179020"/>
            <a:chExt cx="586740" cy="588469"/>
          </a:xfrm>
        </p:grpSpPr>
        <p:pic>
          <p:nvPicPr>
            <p:cNvPr id="62" name="object 98">
              <a:extLst>
                <a:ext uri="{FF2B5EF4-FFF2-40B4-BE49-F238E27FC236}">
                  <a16:creationId xmlns:a16="http://schemas.microsoft.com/office/drawing/2014/main" id="{2682774C-3DCC-90CE-8F4C-E77E62B95873}"/>
                </a:ext>
              </a:extLst>
            </p:cNvPr>
            <p:cNvPicPr/>
            <p:nvPr/>
          </p:nvPicPr>
          <p:blipFill>
            <a:blip r:embed="rId4" cstate="print"/>
            <a:stretch>
              <a:fillRect/>
            </a:stretch>
          </p:blipFill>
          <p:spPr>
            <a:xfrm>
              <a:off x="3125356" y="1179020"/>
              <a:ext cx="574682" cy="570662"/>
            </a:xfrm>
            <a:prstGeom prst="rect">
              <a:avLst/>
            </a:prstGeom>
          </p:spPr>
        </p:pic>
        <p:sp>
          <p:nvSpPr>
            <p:cNvPr id="63" name="object 99">
              <a:extLst>
                <a:ext uri="{FF2B5EF4-FFF2-40B4-BE49-F238E27FC236}">
                  <a16:creationId xmlns:a16="http://schemas.microsoft.com/office/drawing/2014/main" id="{4A4E339E-3846-6189-405B-380089D2CB39}"/>
                </a:ext>
              </a:extLst>
            </p:cNvPr>
            <p:cNvSpPr/>
            <p:nvPr/>
          </p:nvSpPr>
          <p:spPr>
            <a:xfrm>
              <a:off x="3121440" y="1186465"/>
              <a:ext cx="586740" cy="581024"/>
            </a:xfrm>
            <a:custGeom>
              <a:avLst/>
              <a:gdLst/>
              <a:ahLst/>
              <a:cxnLst/>
              <a:rect l="l" t="t" r="r" b="b"/>
              <a:pathLst>
                <a:path w="586739" h="581025">
                  <a:moveTo>
                    <a:pt x="586740" y="0"/>
                  </a:moveTo>
                  <a:lnTo>
                    <a:pt x="0" y="0"/>
                  </a:lnTo>
                  <a:lnTo>
                    <a:pt x="0" y="580644"/>
                  </a:lnTo>
                  <a:lnTo>
                    <a:pt x="586740" y="580644"/>
                  </a:lnTo>
                  <a:lnTo>
                    <a:pt x="586740" y="0"/>
                  </a:lnTo>
                  <a:close/>
                </a:path>
              </a:pathLst>
            </a:custGeom>
            <a:solidFill>
              <a:srgbClr val="FFFFFF">
                <a:alpha val="45097"/>
              </a:srgbClr>
            </a:solidFill>
          </p:spPr>
          <p:txBody>
            <a:bodyPr wrap="square" lIns="0" tIns="0" rIns="0" bIns="0" rtlCol="0"/>
            <a:lstStyle/>
            <a:p>
              <a:endParaRPr/>
            </a:p>
          </p:txBody>
        </p:sp>
        <p:sp>
          <p:nvSpPr>
            <p:cNvPr id="64" name="object 100">
              <a:extLst>
                <a:ext uri="{FF2B5EF4-FFF2-40B4-BE49-F238E27FC236}">
                  <a16:creationId xmlns:a16="http://schemas.microsoft.com/office/drawing/2014/main" id="{45503314-DB45-9BF2-B2B3-33F0F82D2C10}"/>
                </a:ext>
              </a:extLst>
            </p:cNvPr>
            <p:cNvSpPr/>
            <p:nvPr/>
          </p:nvSpPr>
          <p:spPr>
            <a:xfrm>
              <a:off x="3191256" y="1278635"/>
              <a:ext cx="500380" cy="339090"/>
            </a:xfrm>
            <a:custGeom>
              <a:avLst/>
              <a:gdLst/>
              <a:ahLst/>
              <a:cxnLst/>
              <a:rect l="l" t="t" r="r" b="b"/>
              <a:pathLst>
                <a:path w="500379" h="339090">
                  <a:moveTo>
                    <a:pt x="500126" y="272796"/>
                  </a:moveTo>
                  <a:lnTo>
                    <a:pt x="487426" y="266446"/>
                  </a:lnTo>
                  <a:lnTo>
                    <a:pt x="449326" y="247396"/>
                  </a:lnTo>
                  <a:lnTo>
                    <a:pt x="449326" y="266446"/>
                  </a:lnTo>
                  <a:lnTo>
                    <a:pt x="236474" y="266446"/>
                  </a:lnTo>
                  <a:lnTo>
                    <a:pt x="236474" y="50800"/>
                  </a:lnTo>
                  <a:lnTo>
                    <a:pt x="255524" y="50800"/>
                  </a:lnTo>
                  <a:lnTo>
                    <a:pt x="249174" y="38100"/>
                  </a:lnTo>
                  <a:lnTo>
                    <a:pt x="230124" y="0"/>
                  </a:lnTo>
                  <a:lnTo>
                    <a:pt x="204724" y="50800"/>
                  </a:lnTo>
                  <a:lnTo>
                    <a:pt x="223774" y="50800"/>
                  </a:lnTo>
                  <a:lnTo>
                    <a:pt x="223774" y="266446"/>
                  </a:lnTo>
                  <a:lnTo>
                    <a:pt x="0" y="266446"/>
                  </a:lnTo>
                  <a:lnTo>
                    <a:pt x="0" y="279146"/>
                  </a:lnTo>
                  <a:lnTo>
                    <a:pt x="223774" y="279146"/>
                  </a:lnTo>
                  <a:lnTo>
                    <a:pt x="223774" y="338709"/>
                  </a:lnTo>
                  <a:lnTo>
                    <a:pt x="236474" y="338709"/>
                  </a:lnTo>
                  <a:lnTo>
                    <a:pt x="236474" y="279146"/>
                  </a:lnTo>
                  <a:lnTo>
                    <a:pt x="449326" y="279146"/>
                  </a:lnTo>
                  <a:lnTo>
                    <a:pt x="449326" y="298196"/>
                  </a:lnTo>
                  <a:lnTo>
                    <a:pt x="487426" y="279146"/>
                  </a:lnTo>
                  <a:lnTo>
                    <a:pt x="500126" y="272796"/>
                  </a:lnTo>
                  <a:close/>
                </a:path>
              </a:pathLst>
            </a:custGeom>
            <a:solidFill>
              <a:srgbClr val="000000"/>
            </a:solidFill>
          </p:spPr>
          <p:txBody>
            <a:bodyPr wrap="square" lIns="0" tIns="0" rIns="0" bIns="0" rtlCol="0"/>
            <a:lstStyle/>
            <a:p>
              <a:endParaRPr/>
            </a:p>
          </p:txBody>
        </p:sp>
        <p:sp>
          <p:nvSpPr>
            <p:cNvPr id="65" name="object 101">
              <a:extLst>
                <a:ext uri="{FF2B5EF4-FFF2-40B4-BE49-F238E27FC236}">
                  <a16:creationId xmlns:a16="http://schemas.microsoft.com/office/drawing/2014/main" id="{A279E826-A17D-876D-B31E-427B0D8F14A3}"/>
                </a:ext>
              </a:extLst>
            </p:cNvPr>
            <p:cNvSpPr/>
            <p:nvPr/>
          </p:nvSpPr>
          <p:spPr>
            <a:xfrm>
              <a:off x="3262883" y="1363979"/>
              <a:ext cx="317500" cy="163195"/>
            </a:xfrm>
            <a:custGeom>
              <a:avLst/>
              <a:gdLst/>
              <a:ahLst/>
              <a:cxnLst/>
              <a:rect l="l" t="t" r="r" b="b"/>
              <a:pathLst>
                <a:path w="317500" h="163194">
                  <a:moveTo>
                    <a:pt x="0" y="163068"/>
                  </a:moveTo>
                  <a:lnTo>
                    <a:pt x="52555" y="141684"/>
                  </a:lnTo>
                  <a:lnTo>
                    <a:pt x="86562" y="108881"/>
                  </a:lnTo>
                  <a:lnTo>
                    <a:pt x="108172" y="71485"/>
                  </a:lnTo>
                  <a:lnTo>
                    <a:pt x="123538" y="36321"/>
                  </a:lnTo>
                  <a:lnTo>
                    <a:pt x="138812" y="10218"/>
                  </a:lnTo>
                  <a:lnTo>
                    <a:pt x="160146" y="0"/>
                  </a:lnTo>
                  <a:lnTo>
                    <a:pt x="181087" y="10182"/>
                  </a:lnTo>
                  <a:lnTo>
                    <a:pt x="195420" y="36209"/>
                  </a:lnTo>
                  <a:lnTo>
                    <a:pt x="209661" y="71294"/>
                  </a:lnTo>
                  <a:lnTo>
                    <a:pt x="230326" y="108655"/>
                  </a:lnTo>
                  <a:lnTo>
                    <a:pt x="263931" y="141507"/>
                  </a:lnTo>
                  <a:lnTo>
                    <a:pt x="316991" y="163068"/>
                  </a:lnTo>
                </a:path>
              </a:pathLst>
            </a:custGeom>
            <a:ln w="9524">
              <a:solidFill>
                <a:srgbClr val="C00000"/>
              </a:solidFill>
            </a:ln>
          </p:spPr>
          <p:txBody>
            <a:bodyPr wrap="square" lIns="0" tIns="0" rIns="0" bIns="0" rtlCol="0"/>
            <a:lstStyle/>
            <a:p>
              <a:endParaRPr/>
            </a:p>
          </p:txBody>
        </p:sp>
      </p:grp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54BFAF9C-2134-72F8-CDB9-A70AC52805AC}"/>
                  </a:ext>
                </a:extLst>
              </p:cNvPr>
              <p:cNvSpPr txBox="1"/>
              <p:nvPr/>
            </p:nvSpPr>
            <p:spPr>
              <a:xfrm>
                <a:off x="2335034" y="2399964"/>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oMath>
                  </m:oMathPara>
                </a14:m>
                <a:endParaRPr lang="zh-CN" altLang="en-US" dirty="0"/>
              </a:p>
            </p:txBody>
          </p:sp>
        </mc:Choice>
        <mc:Fallback xmlns="">
          <p:sp>
            <p:nvSpPr>
              <p:cNvPr id="66" name="文本框 65">
                <a:extLst>
                  <a:ext uri="{FF2B5EF4-FFF2-40B4-BE49-F238E27FC236}">
                    <a16:creationId xmlns:a16="http://schemas.microsoft.com/office/drawing/2014/main" id="{54BFAF9C-2134-72F8-CDB9-A70AC52805AC}"/>
                  </a:ext>
                </a:extLst>
              </p:cNvPr>
              <p:cNvSpPr txBox="1">
                <a:spLocks noRot="1" noChangeAspect="1" noMove="1" noResize="1" noEditPoints="1" noAdjustHandles="1" noChangeArrowheads="1" noChangeShapeType="1" noTextEdit="1"/>
              </p:cNvSpPr>
              <p:nvPr/>
            </p:nvSpPr>
            <p:spPr>
              <a:xfrm>
                <a:off x="2335034" y="2399964"/>
                <a:ext cx="291042" cy="276999"/>
              </a:xfrm>
              <a:prstGeom prst="rect">
                <a:avLst/>
              </a:prstGeom>
              <a:blipFill>
                <a:blip r:embed="rId8"/>
                <a:stretch>
                  <a:fillRect l="-25000" r="-25000" b="-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C61F69AE-2A38-1463-86E9-98B47A7AB0FF}"/>
                  </a:ext>
                </a:extLst>
              </p:cNvPr>
              <p:cNvSpPr txBox="1"/>
              <p:nvPr/>
            </p:nvSpPr>
            <p:spPr>
              <a:xfrm>
                <a:off x="4270595" y="2399964"/>
                <a:ext cx="4208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r>
                            <a:rPr lang="en-US" altLang="zh-CN" i="1">
                              <a:latin typeface="Cambria Math" panose="02040503050406030204" pitchFamily="18" charset="0"/>
                            </a:rPr>
                            <m:t>−</m:t>
                          </m:r>
                          <m:r>
                            <a:rPr lang="en-US" altLang="zh-CN" b="0" i="1" smtClean="0">
                              <a:latin typeface="Cambria Math" panose="02040503050406030204" pitchFamily="18" charset="0"/>
                            </a:rPr>
                            <m:t>1</m:t>
                          </m:r>
                        </m:sub>
                      </m:sSub>
                    </m:oMath>
                  </m:oMathPara>
                </a14:m>
                <a:endParaRPr lang="zh-CN" altLang="en-US" dirty="0"/>
              </a:p>
            </p:txBody>
          </p:sp>
        </mc:Choice>
        <mc:Fallback xmlns="">
          <p:sp>
            <p:nvSpPr>
              <p:cNvPr id="67" name="文本框 66">
                <a:extLst>
                  <a:ext uri="{FF2B5EF4-FFF2-40B4-BE49-F238E27FC236}">
                    <a16:creationId xmlns:a16="http://schemas.microsoft.com/office/drawing/2014/main" id="{C61F69AE-2A38-1463-86E9-98B47A7AB0FF}"/>
                  </a:ext>
                </a:extLst>
              </p:cNvPr>
              <p:cNvSpPr txBox="1">
                <a:spLocks noRot="1" noChangeAspect="1" noMove="1" noResize="1" noEditPoints="1" noAdjustHandles="1" noChangeArrowheads="1" noChangeShapeType="1" noTextEdit="1"/>
              </p:cNvSpPr>
              <p:nvPr/>
            </p:nvSpPr>
            <p:spPr>
              <a:xfrm>
                <a:off x="4270595" y="2399964"/>
                <a:ext cx="420884" cy="276999"/>
              </a:xfrm>
              <a:prstGeom prst="rect">
                <a:avLst/>
              </a:prstGeom>
              <a:blipFill>
                <a:blip r:embed="rId9"/>
                <a:stretch>
                  <a:fillRect l="-18841" r="-49275" b="-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A87FB09B-F660-436B-1927-1707F166D972}"/>
                  </a:ext>
                </a:extLst>
              </p:cNvPr>
              <p:cNvSpPr txBox="1"/>
              <p:nvPr/>
            </p:nvSpPr>
            <p:spPr>
              <a:xfrm>
                <a:off x="7550360" y="2348755"/>
                <a:ext cx="2714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oMath>
                  </m:oMathPara>
                </a14:m>
                <a:endParaRPr lang="zh-CN" altLang="en-US" dirty="0"/>
              </a:p>
            </p:txBody>
          </p:sp>
        </mc:Choice>
        <mc:Fallback xmlns="">
          <p:sp>
            <p:nvSpPr>
              <p:cNvPr id="68" name="文本框 67">
                <a:extLst>
                  <a:ext uri="{FF2B5EF4-FFF2-40B4-BE49-F238E27FC236}">
                    <a16:creationId xmlns:a16="http://schemas.microsoft.com/office/drawing/2014/main" id="{A87FB09B-F660-436B-1927-1707F166D972}"/>
                  </a:ext>
                </a:extLst>
              </p:cNvPr>
              <p:cNvSpPr txBox="1">
                <a:spLocks noRot="1" noChangeAspect="1" noMove="1" noResize="1" noEditPoints="1" noAdjustHandles="1" noChangeArrowheads="1" noChangeShapeType="1" noTextEdit="1"/>
              </p:cNvSpPr>
              <p:nvPr/>
            </p:nvSpPr>
            <p:spPr>
              <a:xfrm>
                <a:off x="7550360" y="2348755"/>
                <a:ext cx="271485" cy="276999"/>
              </a:xfrm>
              <a:prstGeom prst="rect">
                <a:avLst/>
              </a:prstGeom>
              <a:blipFill>
                <a:blip r:embed="rId10"/>
                <a:stretch>
                  <a:fillRect l="-29545" r="-25000" b="-5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ED734C82-414C-980B-9D6F-8B06D45AEDD6}"/>
                  </a:ext>
                </a:extLst>
              </p:cNvPr>
              <p:cNvSpPr txBox="1"/>
              <p:nvPr/>
            </p:nvSpPr>
            <p:spPr>
              <a:xfrm>
                <a:off x="9602006" y="2399964"/>
                <a:ext cx="3107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m:oMathPara>
                </a14:m>
                <a:endParaRPr lang="zh-CN" altLang="en-US" dirty="0"/>
              </a:p>
            </p:txBody>
          </p:sp>
        </mc:Choice>
        <mc:Fallback xmlns="">
          <p:sp>
            <p:nvSpPr>
              <p:cNvPr id="69" name="文本框 68">
                <a:extLst>
                  <a:ext uri="{FF2B5EF4-FFF2-40B4-BE49-F238E27FC236}">
                    <a16:creationId xmlns:a16="http://schemas.microsoft.com/office/drawing/2014/main" id="{ED734C82-414C-980B-9D6F-8B06D45AEDD6}"/>
                  </a:ext>
                </a:extLst>
              </p:cNvPr>
              <p:cNvSpPr txBox="1">
                <a:spLocks noRot="1" noChangeAspect="1" noMove="1" noResize="1" noEditPoints="1" noAdjustHandles="1" noChangeArrowheads="1" noChangeShapeType="1" noTextEdit="1"/>
              </p:cNvSpPr>
              <p:nvPr/>
            </p:nvSpPr>
            <p:spPr>
              <a:xfrm>
                <a:off x="9602006" y="2399964"/>
                <a:ext cx="310726" cy="276999"/>
              </a:xfrm>
              <a:prstGeom prst="rect">
                <a:avLst/>
              </a:prstGeom>
              <a:blipFill>
                <a:blip r:embed="rId11"/>
                <a:stretch>
                  <a:fillRect l="-23529" r="-23529" b="-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7F06AE65-C265-DF9F-B724-6C601D922CA1}"/>
                  </a:ext>
                </a:extLst>
              </p:cNvPr>
              <p:cNvSpPr txBox="1"/>
              <p:nvPr/>
            </p:nvSpPr>
            <p:spPr>
              <a:xfrm>
                <a:off x="5487468" y="1484100"/>
                <a:ext cx="121706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𝑞</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𝑡</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oMath>
                  </m:oMathPara>
                </a14:m>
                <a:endParaRPr lang="zh-CN" altLang="en-US" sz="2000" dirty="0"/>
              </a:p>
            </p:txBody>
          </p:sp>
        </mc:Choice>
        <mc:Fallback xmlns="">
          <p:sp>
            <p:nvSpPr>
              <p:cNvPr id="70" name="文本框 69">
                <a:extLst>
                  <a:ext uri="{FF2B5EF4-FFF2-40B4-BE49-F238E27FC236}">
                    <a16:creationId xmlns:a16="http://schemas.microsoft.com/office/drawing/2014/main" id="{7F06AE65-C265-DF9F-B724-6C601D922CA1}"/>
                  </a:ext>
                </a:extLst>
              </p:cNvPr>
              <p:cNvSpPr txBox="1">
                <a:spLocks noRot="1" noChangeAspect="1" noMove="1" noResize="1" noEditPoints="1" noAdjustHandles="1" noChangeArrowheads="1" noChangeShapeType="1" noTextEdit="1"/>
              </p:cNvSpPr>
              <p:nvPr/>
            </p:nvSpPr>
            <p:spPr>
              <a:xfrm>
                <a:off x="5487468" y="1484100"/>
                <a:ext cx="1217064" cy="307777"/>
              </a:xfrm>
              <a:prstGeom prst="rect">
                <a:avLst/>
              </a:prstGeom>
              <a:blipFill>
                <a:blip r:embed="rId12"/>
                <a:stretch>
                  <a:fillRect l="-4000" r="-6500" b="-37255"/>
                </a:stretch>
              </a:blipFill>
            </p:spPr>
            <p:txBody>
              <a:bodyPr/>
              <a:lstStyle/>
              <a:p>
                <a:r>
                  <a:rPr lang="zh-CN" altLang="en-US">
                    <a:noFill/>
                  </a:rPr>
                  <a:t> </a:t>
                </a:r>
              </a:p>
            </p:txBody>
          </p:sp>
        </mc:Fallback>
      </mc:AlternateContent>
      <p:sp>
        <p:nvSpPr>
          <p:cNvPr id="71" name="椭圆 70">
            <a:extLst>
              <a:ext uri="{FF2B5EF4-FFF2-40B4-BE49-F238E27FC236}">
                <a16:creationId xmlns:a16="http://schemas.microsoft.com/office/drawing/2014/main" id="{99F22840-4581-DF38-0217-BF796095F6B7}"/>
              </a:ext>
            </a:extLst>
          </p:cNvPr>
          <p:cNvSpPr/>
          <p:nvPr/>
        </p:nvSpPr>
        <p:spPr>
          <a:xfrm>
            <a:off x="5943980" y="2982023"/>
            <a:ext cx="195580" cy="195580"/>
          </a:xfrm>
          <a:prstGeom prst="ellipse">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72" name="箭头: 下 71">
            <a:extLst>
              <a:ext uri="{FF2B5EF4-FFF2-40B4-BE49-F238E27FC236}">
                <a16:creationId xmlns:a16="http://schemas.microsoft.com/office/drawing/2014/main" id="{B743DAE5-A2AB-EF48-B413-E4C392CADF93}"/>
              </a:ext>
            </a:extLst>
          </p:cNvPr>
          <p:cNvSpPr/>
          <p:nvPr/>
        </p:nvSpPr>
        <p:spPr>
          <a:xfrm>
            <a:off x="6013484" y="2720590"/>
            <a:ext cx="71838" cy="262157"/>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下 72">
            <a:extLst>
              <a:ext uri="{FF2B5EF4-FFF2-40B4-BE49-F238E27FC236}">
                <a16:creationId xmlns:a16="http://schemas.microsoft.com/office/drawing/2014/main" id="{63A8749E-2A89-D5AF-B494-99D9AA481FEB}"/>
              </a:ext>
            </a:extLst>
          </p:cNvPr>
          <p:cNvSpPr/>
          <p:nvPr/>
        </p:nvSpPr>
        <p:spPr>
          <a:xfrm rot="16200000" flipH="1">
            <a:off x="5158210" y="2355195"/>
            <a:ext cx="76048" cy="1476109"/>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D06D8018-0884-F072-FA2D-B83D03E6838D}"/>
              </a:ext>
            </a:extLst>
          </p:cNvPr>
          <p:cNvSpPr/>
          <p:nvPr/>
        </p:nvSpPr>
        <p:spPr>
          <a:xfrm>
            <a:off x="4458177" y="2690507"/>
            <a:ext cx="45719" cy="418782"/>
          </a:xfrm>
          <a:prstGeom prst="rect">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D12CFE66-8858-3CAC-593F-883EDE824DCC}"/>
                  </a:ext>
                </a:extLst>
              </p:cNvPr>
              <p:cNvSpPr txBox="1"/>
              <p:nvPr/>
            </p:nvSpPr>
            <p:spPr>
              <a:xfrm>
                <a:off x="4622049" y="3749260"/>
                <a:ext cx="540789" cy="3398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zh-CN" altLang="en-US" sz="2200" i="1" smtClean="0">
                              <a:latin typeface="Cambria Math" panose="02040503050406030204" pitchFamily="18" charset="0"/>
                            </a:rPr>
                          </m:ctrlPr>
                        </m:radPr>
                        <m:deg/>
                        <m:e>
                          <m:sSub>
                            <m:sSubPr>
                              <m:ctrlPr>
                                <a:rPr lang="en-US" altLang="zh-CN" sz="2200" i="1" smtClean="0">
                                  <a:latin typeface="Cambria Math" panose="02040503050406030204" pitchFamily="18" charset="0"/>
                                </a:rPr>
                              </m:ctrlPr>
                            </m:sSubPr>
                            <m:e>
                              <m:r>
                                <a:rPr lang="zh-CN" altLang="en-US" sz="2200" i="1" smtClean="0">
                                  <a:latin typeface="Cambria Math" panose="02040503050406030204" pitchFamily="18" charset="0"/>
                                </a:rPr>
                                <m:t>𝛼</m:t>
                              </m:r>
                            </m:e>
                            <m:sub>
                              <m:r>
                                <a:rPr lang="en-US" altLang="zh-CN" sz="2200" b="0" i="1" smtClean="0">
                                  <a:latin typeface="Cambria Math" panose="02040503050406030204" pitchFamily="18" charset="0"/>
                                </a:rPr>
                                <m:t>𝑡</m:t>
                              </m:r>
                            </m:sub>
                          </m:sSub>
                        </m:e>
                      </m:rad>
                    </m:oMath>
                  </m:oMathPara>
                </a14:m>
                <a:endParaRPr lang="zh-CN" altLang="en-US" sz="2200" dirty="0"/>
              </a:p>
            </p:txBody>
          </p:sp>
        </mc:Choice>
        <mc:Fallback xmlns="">
          <p:sp>
            <p:nvSpPr>
              <p:cNvPr id="75" name="文本框 74">
                <a:extLst>
                  <a:ext uri="{FF2B5EF4-FFF2-40B4-BE49-F238E27FC236}">
                    <a16:creationId xmlns:a16="http://schemas.microsoft.com/office/drawing/2014/main" id="{D12CFE66-8858-3CAC-593F-883EDE824DCC}"/>
                  </a:ext>
                </a:extLst>
              </p:cNvPr>
              <p:cNvSpPr txBox="1">
                <a:spLocks noRot="1" noChangeAspect="1" noMove="1" noResize="1" noEditPoints="1" noAdjustHandles="1" noChangeArrowheads="1" noChangeShapeType="1" noTextEdit="1"/>
              </p:cNvSpPr>
              <p:nvPr/>
            </p:nvSpPr>
            <p:spPr>
              <a:xfrm>
                <a:off x="4622049" y="3749260"/>
                <a:ext cx="540789" cy="339837"/>
              </a:xfrm>
              <a:prstGeom prst="rect">
                <a:avLst/>
              </a:prstGeom>
              <a:blipFill>
                <a:blip r:embed="rId13"/>
                <a:stretch>
                  <a:fillRect r="-2247" b="-14286"/>
                </a:stretch>
              </a:blipFill>
            </p:spPr>
            <p:txBody>
              <a:bodyPr/>
              <a:lstStyle/>
              <a:p>
                <a:r>
                  <a:rPr lang="zh-CN" altLang="en-US">
                    <a:noFill/>
                  </a:rPr>
                  <a:t> </a:t>
                </a:r>
              </a:p>
            </p:txBody>
          </p:sp>
        </mc:Fallback>
      </mc:AlternateContent>
      <p:sp>
        <p:nvSpPr>
          <p:cNvPr id="76" name="箭头: 下 75">
            <a:extLst>
              <a:ext uri="{FF2B5EF4-FFF2-40B4-BE49-F238E27FC236}">
                <a16:creationId xmlns:a16="http://schemas.microsoft.com/office/drawing/2014/main" id="{78D888A0-4252-83BA-1587-7D1D2F68784F}"/>
              </a:ext>
            </a:extLst>
          </p:cNvPr>
          <p:cNvSpPr/>
          <p:nvPr/>
        </p:nvSpPr>
        <p:spPr>
          <a:xfrm rot="10800000">
            <a:off x="7636680" y="2625754"/>
            <a:ext cx="71838" cy="487816"/>
          </a:xfrm>
          <a:prstGeom prst="downArrow">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矩形 76">
            <a:extLst>
              <a:ext uri="{FF2B5EF4-FFF2-40B4-BE49-F238E27FC236}">
                <a16:creationId xmlns:a16="http://schemas.microsoft.com/office/drawing/2014/main" id="{5C319E49-6711-F52A-58F6-B88A12C41DFE}"/>
              </a:ext>
            </a:extLst>
          </p:cNvPr>
          <p:cNvSpPr/>
          <p:nvPr/>
        </p:nvSpPr>
        <p:spPr>
          <a:xfrm>
            <a:off x="6149251" y="3070499"/>
            <a:ext cx="1532132" cy="45719"/>
          </a:xfrm>
          <a:prstGeom prst="rect">
            <a:avLst/>
          </a:prstGeom>
          <a:solidFill>
            <a:srgbClr val="006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75B44DAB-4D15-2664-54C9-494905830603}"/>
                  </a:ext>
                </a:extLst>
              </p:cNvPr>
              <p:cNvSpPr txBox="1"/>
              <p:nvPr/>
            </p:nvSpPr>
            <p:spPr>
              <a:xfrm>
                <a:off x="6231127" y="2321561"/>
                <a:ext cx="863570"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zh-CN" altLang="en-US" i="1" smtClean="0">
                              <a:latin typeface="Cambria Math" panose="02040503050406030204" pitchFamily="18" charset="0"/>
                            </a:rPr>
                          </m:ctrlPr>
                        </m:radPr>
                        <m:deg/>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1−</m:t>
                              </m:r>
                              <m:r>
                                <a:rPr lang="zh-CN" altLang="en-US" i="1" smtClean="0">
                                  <a:latin typeface="Cambria Math" panose="02040503050406030204" pitchFamily="18" charset="0"/>
                                </a:rPr>
                                <m:t>𝛼</m:t>
                              </m:r>
                            </m:e>
                            <m:sub>
                              <m:r>
                                <a:rPr lang="en-US" altLang="zh-CN" b="0" i="1" smtClean="0">
                                  <a:latin typeface="Cambria Math" panose="02040503050406030204" pitchFamily="18" charset="0"/>
                                </a:rPr>
                                <m:t>𝑡</m:t>
                              </m:r>
                            </m:sub>
                          </m:sSub>
                        </m:e>
                      </m:rad>
                    </m:oMath>
                  </m:oMathPara>
                </a14:m>
                <a:endParaRPr lang="zh-CN" altLang="en-US" dirty="0"/>
              </a:p>
            </p:txBody>
          </p:sp>
        </mc:Choice>
        <mc:Fallback xmlns="">
          <p:sp>
            <p:nvSpPr>
              <p:cNvPr id="78" name="文本框 77">
                <a:extLst>
                  <a:ext uri="{FF2B5EF4-FFF2-40B4-BE49-F238E27FC236}">
                    <a16:creationId xmlns:a16="http://schemas.microsoft.com/office/drawing/2014/main" id="{75B44DAB-4D15-2664-54C9-494905830603}"/>
                  </a:ext>
                </a:extLst>
              </p:cNvPr>
              <p:cNvSpPr txBox="1">
                <a:spLocks noRot="1" noChangeAspect="1" noMove="1" noResize="1" noEditPoints="1" noAdjustHandles="1" noChangeArrowheads="1" noChangeShapeType="1" noTextEdit="1"/>
              </p:cNvSpPr>
              <p:nvPr/>
            </p:nvSpPr>
            <p:spPr>
              <a:xfrm>
                <a:off x="6231127" y="2321561"/>
                <a:ext cx="863570" cy="335413"/>
              </a:xfrm>
              <a:prstGeom prst="rect">
                <a:avLst/>
              </a:prstGeom>
              <a:blipFill>
                <a:blip r:embed="rId14"/>
                <a:stretch>
                  <a:fillRect r="-22535" b="-3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99E31046-C35A-C93E-7686-35CBD420913E}"/>
                  </a:ext>
                </a:extLst>
              </p:cNvPr>
              <p:cNvSpPr txBox="1"/>
              <p:nvPr/>
            </p:nvSpPr>
            <p:spPr>
              <a:xfrm>
                <a:off x="6514293" y="3749260"/>
                <a:ext cx="1055930" cy="4099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zh-CN" altLang="en-US" sz="2200" i="1" smtClean="0">
                              <a:latin typeface="Cambria Math" panose="02040503050406030204" pitchFamily="18" charset="0"/>
                            </a:rPr>
                          </m:ctrlPr>
                        </m:radPr>
                        <m:deg/>
                        <m:e>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1−</m:t>
                              </m:r>
                              <m:r>
                                <a:rPr lang="zh-CN" altLang="en-US" sz="2200" i="1" smtClean="0">
                                  <a:latin typeface="Cambria Math" panose="02040503050406030204" pitchFamily="18" charset="0"/>
                                </a:rPr>
                                <m:t>𝛼</m:t>
                              </m:r>
                            </m:e>
                            <m:sub>
                              <m:r>
                                <a:rPr lang="en-US" altLang="zh-CN" sz="2200" b="0" i="1" smtClean="0">
                                  <a:latin typeface="Cambria Math" panose="02040503050406030204" pitchFamily="18" charset="0"/>
                                </a:rPr>
                                <m:t>𝑡</m:t>
                              </m:r>
                            </m:sub>
                          </m:sSub>
                        </m:e>
                      </m:rad>
                    </m:oMath>
                  </m:oMathPara>
                </a14:m>
                <a:endParaRPr lang="zh-CN" altLang="en-US" sz="2200" dirty="0"/>
              </a:p>
            </p:txBody>
          </p:sp>
        </mc:Choice>
        <mc:Fallback xmlns="">
          <p:sp>
            <p:nvSpPr>
              <p:cNvPr id="79" name="文本框 78">
                <a:extLst>
                  <a:ext uri="{FF2B5EF4-FFF2-40B4-BE49-F238E27FC236}">
                    <a16:creationId xmlns:a16="http://schemas.microsoft.com/office/drawing/2014/main" id="{99E31046-C35A-C93E-7686-35CBD420913E}"/>
                  </a:ext>
                </a:extLst>
              </p:cNvPr>
              <p:cNvSpPr txBox="1">
                <a:spLocks noRot="1" noChangeAspect="1" noMove="1" noResize="1" noEditPoints="1" noAdjustHandles="1" noChangeArrowheads="1" noChangeShapeType="1" noTextEdit="1"/>
              </p:cNvSpPr>
              <p:nvPr/>
            </p:nvSpPr>
            <p:spPr>
              <a:xfrm>
                <a:off x="6514293" y="3749260"/>
                <a:ext cx="1055930" cy="409984"/>
              </a:xfrm>
              <a:prstGeom prst="rect">
                <a:avLst/>
              </a:prstGeom>
              <a:blipFill>
                <a:blip r:embed="rId15"/>
                <a:stretch>
                  <a:fillRect/>
                </a:stretch>
              </a:blipFill>
            </p:spPr>
            <p:txBody>
              <a:bodyPr/>
              <a:lstStyle/>
              <a:p>
                <a:r>
                  <a:rPr lang="zh-CN" altLang="en-US">
                    <a:noFill/>
                  </a:rPr>
                  <a:t> </a:t>
                </a:r>
              </a:p>
            </p:txBody>
          </p:sp>
        </mc:Fallback>
      </mc:AlternateContent>
      <p:sp>
        <p:nvSpPr>
          <p:cNvPr id="80" name="矩形: 圆角 79">
            <a:extLst>
              <a:ext uri="{FF2B5EF4-FFF2-40B4-BE49-F238E27FC236}">
                <a16:creationId xmlns:a16="http://schemas.microsoft.com/office/drawing/2014/main" id="{76035D68-E1B7-32C3-0324-F1010DC6AB87}"/>
              </a:ext>
            </a:extLst>
          </p:cNvPr>
          <p:cNvSpPr/>
          <p:nvPr/>
        </p:nvSpPr>
        <p:spPr>
          <a:xfrm>
            <a:off x="509727" y="3468880"/>
            <a:ext cx="2274570" cy="2573274"/>
          </a:xfrm>
          <a:prstGeom prst="roundRect">
            <a:avLst/>
          </a:prstGeom>
          <a:ln>
            <a:solidFill>
              <a:schemeClr val="accent1">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B7CA958D-077E-6DED-2F7E-C81A619C6726}"/>
                  </a:ext>
                </a:extLst>
              </p:cNvPr>
              <p:cNvSpPr txBox="1"/>
              <p:nvPr/>
            </p:nvSpPr>
            <p:spPr>
              <a:xfrm>
                <a:off x="890024" y="3749260"/>
                <a:ext cx="1736052"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𝓏</m:t>
                      </m:r>
                      <m:r>
                        <a:rPr lang="en-US" altLang="zh-CN" b="0" i="1" smtClean="0">
                          <a:latin typeface="Cambria Math" panose="02040503050406030204" pitchFamily="18" charset="0"/>
                        </a:rPr>
                        <m:t> ~ </m:t>
                      </m:r>
                      <m:r>
                        <a:rPr lang="zh-CN" altLang="en-US" b="0" i="1" smtClean="0">
                          <a:latin typeface="Cambria Math" panose="02040503050406030204" pitchFamily="18" charset="0"/>
                        </a:rPr>
                        <m:t>𝒩</m:t>
                      </m:r>
                      <m:r>
                        <a:rPr lang="en-US" altLang="zh-CN" b="0" i="1" smtClean="0">
                          <a:latin typeface="Cambria Math" panose="02040503050406030204" pitchFamily="18" charset="0"/>
                        </a:rPr>
                        <m:t>(</m:t>
                      </m:r>
                      <m:r>
                        <a:rPr lang="zh-CN" altLang="en-US" b="0" i="1" smtClean="0">
                          <a:latin typeface="Cambria Math" panose="02040503050406030204" pitchFamily="18" charset="0"/>
                        </a:rPr>
                        <m:t>𝜇</m:t>
                      </m:r>
                      <m:r>
                        <a:rPr lang="en-US" altLang="zh-CN" b="0" i="1" smtClean="0">
                          <a:latin typeface="Cambria Math" panose="02040503050406030204" pitchFamily="18" charset="0"/>
                        </a:rPr>
                        <m:t>, </m:t>
                      </m:r>
                      <m:r>
                        <a:rPr lang="zh-CN" altLang="en-US" b="0" i="1" smtClean="0">
                          <a:latin typeface="Cambria Math" panose="02040503050406030204" pitchFamily="18" charset="0"/>
                        </a:rPr>
                        <m:t>𝜎</m:t>
                      </m:r>
                      <m:r>
                        <a:rPr lang="en-US" altLang="zh-CN" b="0" i="1" baseline="30000" smtClean="0">
                          <a:latin typeface="Cambria Math" panose="02040503050406030204" pitchFamily="18" charset="0"/>
                        </a:rPr>
                        <m:t>2</m:t>
                      </m:r>
                      <m:r>
                        <a:rPr lang="en-US" altLang="zh-CN" b="0" i="1" smtClean="0">
                          <a:latin typeface="Cambria Math" panose="02040503050406030204" pitchFamily="18" charset="0"/>
                        </a:rPr>
                        <m:t>)</m:t>
                      </m:r>
                    </m:oMath>
                  </m:oMathPara>
                </a14:m>
                <a:endParaRPr lang="zh-CN" altLang="en-US" dirty="0"/>
              </a:p>
            </p:txBody>
          </p:sp>
        </mc:Choice>
        <mc:Fallback xmlns="">
          <p:sp>
            <p:nvSpPr>
              <p:cNvPr id="81" name="文本框 80">
                <a:extLst>
                  <a:ext uri="{FF2B5EF4-FFF2-40B4-BE49-F238E27FC236}">
                    <a16:creationId xmlns:a16="http://schemas.microsoft.com/office/drawing/2014/main" id="{B7CA958D-077E-6DED-2F7E-C81A619C6726}"/>
                  </a:ext>
                </a:extLst>
              </p:cNvPr>
              <p:cNvSpPr txBox="1">
                <a:spLocks noRot="1" noChangeAspect="1" noMove="1" noResize="1" noEditPoints="1" noAdjustHandles="1" noChangeArrowheads="1" noChangeShapeType="1" noTextEdit="1"/>
              </p:cNvSpPr>
              <p:nvPr/>
            </p:nvSpPr>
            <p:spPr>
              <a:xfrm>
                <a:off x="890024" y="3749260"/>
                <a:ext cx="1736052" cy="369332"/>
              </a:xfrm>
              <a:prstGeom prst="rect">
                <a:avLst/>
              </a:prstGeom>
              <a:blipFill>
                <a:blip r:embed="rId16"/>
                <a:stretch>
                  <a:fillRect l="-5614" r="-3860" b="-491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F314CF67-98B9-1EAA-D222-DB210AD9508E}"/>
                  </a:ext>
                </a:extLst>
              </p:cNvPr>
              <p:cNvSpPr txBox="1"/>
              <p:nvPr/>
            </p:nvSpPr>
            <p:spPr>
              <a:xfrm>
                <a:off x="876899" y="4258154"/>
                <a:ext cx="1736052" cy="47442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zh-CN" altLang="en-US" i="1">
                              <a:latin typeface="Cambria Math" panose="02040503050406030204" pitchFamily="18" charset="0"/>
                            </a:rPr>
                            <m:t>𝓏</m:t>
                          </m:r>
                          <m:r>
                            <a:rPr lang="en-US" altLang="zh-CN" i="1">
                              <a:latin typeface="Cambria Math" panose="02040503050406030204" pitchFamily="18" charset="0"/>
                            </a:rPr>
                            <m:t>−</m:t>
                          </m:r>
                          <m:r>
                            <a:rPr lang="zh-CN" altLang="en-US" i="1">
                              <a:latin typeface="Cambria Math" panose="02040503050406030204" pitchFamily="18" charset="0"/>
                            </a:rPr>
                            <m:t>𝜇</m:t>
                          </m:r>
                          <m:r>
                            <m:rPr>
                              <m:nor/>
                            </m:rPr>
                            <a:rPr lang="zh-CN" altLang="en-US" dirty="0"/>
                            <m:t> </m:t>
                          </m:r>
                        </m:num>
                        <m:den>
                          <m:r>
                            <a:rPr lang="zh-CN" altLang="en-US" i="1" smtClean="0">
                              <a:latin typeface="Cambria Math" panose="02040503050406030204" pitchFamily="18" charset="0"/>
                            </a:rPr>
                            <m:t>𝜎</m:t>
                          </m:r>
                        </m:den>
                      </m:f>
                      <m:r>
                        <a:rPr lang="en-US" altLang="zh-CN" b="0" i="1" smtClean="0">
                          <a:latin typeface="Cambria Math" panose="02040503050406030204" pitchFamily="18" charset="0"/>
                        </a:rPr>
                        <m:t> ~ </m:t>
                      </m:r>
                      <m:r>
                        <a:rPr lang="zh-CN" altLang="en-US" i="1">
                          <a:latin typeface="Cambria Math" panose="02040503050406030204" pitchFamily="18" charset="0"/>
                        </a:rPr>
                        <m:t>𝒩</m:t>
                      </m:r>
                      <m:r>
                        <a:rPr lang="en-US" altLang="zh-CN" i="1">
                          <a:latin typeface="Cambria Math" panose="02040503050406030204" pitchFamily="18" charset="0"/>
                        </a:rPr>
                        <m:t>(</m:t>
                      </m:r>
                      <m:r>
                        <a:rPr lang="en-US" altLang="zh-CN" b="0" i="1" smtClean="0">
                          <a:latin typeface="Cambria Math" panose="02040503050406030204" pitchFamily="18" charset="0"/>
                        </a:rPr>
                        <m:t>0, 1</m:t>
                      </m:r>
                      <m:r>
                        <a:rPr lang="en-US" altLang="zh-CN" i="1">
                          <a:latin typeface="Cambria Math" panose="02040503050406030204" pitchFamily="18" charset="0"/>
                        </a:rPr>
                        <m:t>)</m:t>
                      </m:r>
                    </m:oMath>
                  </m:oMathPara>
                </a14:m>
                <a:endParaRPr lang="zh-CN" altLang="en-US" dirty="0"/>
              </a:p>
            </p:txBody>
          </p:sp>
        </mc:Choice>
        <mc:Fallback xmlns="">
          <p:sp>
            <p:nvSpPr>
              <p:cNvPr id="82" name="文本框 81">
                <a:extLst>
                  <a:ext uri="{FF2B5EF4-FFF2-40B4-BE49-F238E27FC236}">
                    <a16:creationId xmlns:a16="http://schemas.microsoft.com/office/drawing/2014/main" id="{F314CF67-98B9-1EAA-D222-DB210AD9508E}"/>
                  </a:ext>
                </a:extLst>
              </p:cNvPr>
              <p:cNvSpPr txBox="1">
                <a:spLocks noRot="1" noChangeAspect="1" noMove="1" noResize="1" noEditPoints="1" noAdjustHandles="1" noChangeArrowheads="1" noChangeShapeType="1" noTextEdit="1"/>
              </p:cNvSpPr>
              <p:nvPr/>
            </p:nvSpPr>
            <p:spPr>
              <a:xfrm>
                <a:off x="876899" y="4258154"/>
                <a:ext cx="1736052" cy="474425"/>
              </a:xfrm>
              <a:prstGeom prst="rect">
                <a:avLst/>
              </a:prstGeom>
              <a:blipFill>
                <a:blip r:embed="rId17"/>
                <a:stretch>
                  <a:fillRect l="-16140" r="-9474" b="-324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1BAB8A86-A7CE-7402-15F5-490F31481FE0}"/>
                  </a:ext>
                </a:extLst>
              </p:cNvPr>
              <p:cNvSpPr txBox="1"/>
              <p:nvPr/>
            </p:nvSpPr>
            <p:spPr>
              <a:xfrm>
                <a:off x="387506" y="4872141"/>
                <a:ext cx="2519011" cy="3940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l-GR" i="1" smtClean="0">
                          <a:latin typeface="Cambria Math" panose="02040503050406030204" pitchFamily="18" charset="0"/>
                          <a:ea typeface="Cambria Math" panose="02040503050406030204" pitchFamily="18" charset="0"/>
                        </a:rPr>
                        <m:t>𝓏</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𝜙</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𝜎</m:t>
                          </m:r>
                        </m:e>
                        <m:sub>
                          <m:r>
                            <a:rPr lang="zh-CN" altLang="en-US" i="1">
                              <a:latin typeface="Cambria Math" panose="02040503050406030204" pitchFamily="18" charset="0"/>
                            </a:rPr>
                            <m:t>𝜃</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𝜖</m:t>
                      </m:r>
                    </m:oMath>
                  </m:oMathPara>
                </a14:m>
                <a:endParaRPr lang="en-US" altLang="zh-CN" i="1" dirty="0">
                  <a:latin typeface="Cambria Math" panose="02040503050406030204" pitchFamily="18" charset="0"/>
                  <a:ea typeface="Cambria Math" panose="02040503050406030204" pitchFamily="18" charset="0"/>
                </a:endParaRPr>
              </a:p>
            </p:txBody>
          </p:sp>
        </mc:Choice>
        <mc:Fallback xmlns="">
          <p:sp>
            <p:nvSpPr>
              <p:cNvPr id="83" name="文本框 82">
                <a:extLst>
                  <a:ext uri="{FF2B5EF4-FFF2-40B4-BE49-F238E27FC236}">
                    <a16:creationId xmlns:a16="http://schemas.microsoft.com/office/drawing/2014/main" id="{1BAB8A86-A7CE-7402-15F5-490F31481FE0}"/>
                  </a:ext>
                </a:extLst>
              </p:cNvPr>
              <p:cNvSpPr txBox="1">
                <a:spLocks noRot="1" noChangeAspect="1" noMove="1" noResize="1" noEditPoints="1" noAdjustHandles="1" noChangeArrowheads="1" noChangeShapeType="1" noTextEdit="1"/>
              </p:cNvSpPr>
              <p:nvPr/>
            </p:nvSpPr>
            <p:spPr>
              <a:xfrm>
                <a:off x="387506" y="4872141"/>
                <a:ext cx="2519011" cy="394082"/>
              </a:xfrm>
              <a:prstGeom prst="rect">
                <a:avLst/>
              </a:prstGeom>
              <a:blipFill>
                <a:blip r:embed="rId18"/>
                <a:stretch>
                  <a:fillRect b="-2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ECE3D91D-5BB3-1EF5-0F2C-09D98AABBF1E}"/>
                  </a:ext>
                </a:extLst>
              </p:cNvPr>
              <p:cNvSpPr txBox="1"/>
              <p:nvPr/>
            </p:nvSpPr>
            <p:spPr>
              <a:xfrm>
                <a:off x="1141595" y="5373239"/>
                <a:ext cx="11095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ea typeface="Cambria Math" panose="02040503050406030204" pitchFamily="18" charset="0"/>
                        </a:rPr>
                        <m:t>𝜖</m:t>
                      </m:r>
                      <m:r>
                        <a:rPr lang="en-US" altLang="zh-CN" b="0" i="1" smtClean="0">
                          <a:latin typeface="Cambria Math" panose="02040503050406030204" pitchFamily="18" charset="0"/>
                        </a:rPr>
                        <m:t>~</m:t>
                      </m:r>
                      <m:r>
                        <a:rPr lang="zh-CN" altLang="en-US" i="1">
                          <a:latin typeface="Cambria Math" panose="02040503050406030204" pitchFamily="18" charset="0"/>
                        </a:rPr>
                        <m:t>𝒩</m:t>
                      </m:r>
                      <m:r>
                        <a:rPr lang="en-US" altLang="zh-CN" i="1">
                          <a:latin typeface="Cambria Math" panose="02040503050406030204" pitchFamily="18" charset="0"/>
                        </a:rPr>
                        <m:t>(0, 1)</m:t>
                      </m:r>
                    </m:oMath>
                  </m:oMathPara>
                </a14:m>
                <a:endParaRPr lang="zh-CN" altLang="en-US" dirty="0"/>
              </a:p>
            </p:txBody>
          </p:sp>
        </mc:Choice>
        <mc:Fallback xmlns="">
          <p:sp>
            <p:nvSpPr>
              <p:cNvPr id="84" name="文本框 83">
                <a:extLst>
                  <a:ext uri="{FF2B5EF4-FFF2-40B4-BE49-F238E27FC236}">
                    <a16:creationId xmlns:a16="http://schemas.microsoft.com/office/drawing/2014/main" id="{ECE3D91D-5BB3-1EF5-0F2C-09D98AABBF1E}"/>
                  </a:ext>
                </a:extLst>
              </p:cNvPr>
              <p:cNvSpPr txBox="1">
                <a:spLocks noRot="1" noChangeAspect="1" noMove="1" noResize="1" noEditPoints="1" noAdjustHandles="1" noChangeArrowheads="1" noChangeShapeType="1" noTextEdit="1"/>
              </p:cNvSpPr>
              <p:nvPr/>
            </p:nvSpPr>
            <p:spPr>
              <a:xfrm>
                <a:off x="1141595" y="5373239"/>
                <a:ext cx="1109599" cy="276999"/>
              </a:xfrm>
              <a:prstGeom prst="rect">
                <a:avLst/>
              </a:prstGeom>
              <a:blipFill>
                <a:blip r:embed="rId19"/>
                <a:stretch>
                  <a:fillRect l="-6593" r="-37912" b="-826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509F8C9C-F64D-9AA4-F0E9-1AFF1D15D605}"/>
                  </a:ext>
                </a:extLst>
              </p:cNvPr>
              <p:cNvSpPr txBox="1"/>
              <p:nvPr/>
            </p:nvSpPr>
            <p:spPr>
              <a:xfrm>
                <a:off x="4622049" y="2713395"/>
                <a:ext cx="540789" cy="3398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zh-CN" altLang="en-US" sz="2200" i="1" smtClean="0">
                              <a:latin typeface="Cambria Math" panose="02040503050406030204" pitchFamily="18" charset="0"/>
                            </a:rPr>
                          </m:ctrlPr>
                        </m:radPr>
                        <m:deg/>
                        <m:e>
                          <m:sSub>
                            <m:sSubPr>
                              <m:ctrlPr>
                                <a:rPr lang="en-US" altLang="zh-CN" sz="2200" i="1" smtClean="0">
                                  <a:latin typeface="Cambria Math" panose="02040503050406030204" pitchFamily="18" charset="0"/>
                                </a:rPr>
                              </m:ctrlPr>
                            </m:sSubPr>
                            <m:e>
                              <m:r>
                                <a:rPr lang="zh-CN" altLang="en-US" sz="2200" i="1" smtClean="0">
                                  <a:latin typeface="Cambria Math" panose="02040503050406030204" pitchFamily="18" charset="0"/>
                                </a:rPr>
                                <m:t>𝛼</m:t>
                              </m:r>
                            </m:e>
                            <m:sub>
                              <m:r>
                                <a:rPr lang="en-US" altLang="zh-CN" sz="2200" b="0" i="1" smtClean="0">
                                  <a:latin typeface="Cambria Math" panose="02040503050406030204" pitchFamily="18" charset="0"/>
                                </a:rPr>
                                <m:t>𝑡</m:t>
                              </m:r>
                            </m:sub>
                          </m:sSub>
                        </m:e>
                      </m:rad>
                    </m:oMath>
                  </m:oMathPara>
                </a14:m>
                <a:endParaRPr lang="zh-CN" altLang="en-US" sz="2200" dirty="0"/>
              </a:p>
            </p:txBody>
          </p:sp>
        </mc:Choice>
        <mc:Fallback xmlns="">
          <p:sp>
            <p:nvSpPr>
              <p:cNvPr id="85" name="文本框 84">
                <a:extLst>
                  <a:ext uri="{FF2B5EF4-FFF2-40B4-BE49-F238E27FC236}">
                    <a16:creationId xmlns:a16="http://schemas.microsoft.com/office/drawing/2014/main" id="{509F8C9C-F64D-9AA4-F0E9-1AFF1D15D605}"/>
                  </a:ext>
                </a:extLst>
              </p:cNvPr>
              <p:cNvSpPr txBox="1">
                <a:spLocks noRot="1" noChangeAspect="1" noMove="1" noResize="1" noEditPoints="1" noAdjustHandles="1" noChangeArrowheads="1" noChangeShapeType="1" noTextEdit="1"/>
              </p:cNvSpPr>
              <p:nvPr/>
            </p:nvSpPr>
            <p:spPr>
              <a:xfrm>
                <a:off x="4622049" y="2713395"/>
                <a:ext cx="540789" cy="339837"/>
              </a:xfrm>
              <a:prstGeom prst="rect">
                <a:avLst/>
              </a:prstGeom>
              <a:blipFill>
                <a:blip r:embed="rId20"/>
                <a:stretch>
                  <a:fillRect r="-2247"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E6AB3620-C21B-269A-643B-64388DC696AE}"/>
                  </a:ext>
                </a:extLst>
              </p:cNvPr>
              <p:cNvSpPr txBox="1"/>
              <p:nvPr/>
            </p:nvSpPr>
            <p:spPr>
              <a:xfrm>
                <a:off x="4176146" y="4881566"/>
                <a:ext cx="3819187" cy="4472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𝑡</m:t>
                              </m:r>
                            </m:sub>
                          </m:sSub>
                        </m:e>
                      </m:ra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𝑡</m:t>
                              </m:r>
                            </m:sub>
                          </m:sSub>
                        </m:e>
                      </m:rad>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𝜀</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86" name="文本框 85">
                <a:extLst>
                  <a:ext uri="{FF2B5EF4-FFF2-40B4-BE49-F238E27FC236}">
                    <a16:creationId xmlns:a16="http://schemas.microsoft.com/office/drawing/2014/main" id="{E6AB3620-C21B-269A-643B-64388DC696AE}"/>
                  </a:ext>
                </a:extLst>
              </p:cNvPr>
              <p:cNvSpPr txBox="1">
                <a:spLocks noRot="1" noChangeAspect="1" noMove="1" noResize="1" noEditPoints="1" noAdjustHandles="1" noChangeArrowheads="1" noChangeShapeType="1" noTextEdit="1"/>
              </p:cNvSpPr>
              <p:nvPr/>
            </p:nvSpPr>
            <p:spPr>
              <a:xfrm>
                <a:off x="4176146" y="4881566"/>
                <a:ext cx="3819187" cy="447238"/>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D7443DC6-A276-9A4E-8EA5-E27BF93615F7}"/>
                  </a:ext>
                </a:extLst>
              </p:cNvPr>
              <p:cNvSpPr txBox="1"/>
              <p:nvPr/>
            </p:nvSpPr>
            <p:spPr>
              <a:xfrm>
                <a:off x="3237643" y="5519113"/>
                <a:ext cx="5226303" cy="3707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𝑞</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sub>
                          </m:sSub>
                        </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𝒩</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𝑡</m:t>
                              </m:r>
                            </m:sub>
                          </m:sSub>
                        </m:e>
                      </m:ra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1−</m:t>
                          </m:r>
                          <m:r>
                            <a:rPr lang="zh-CN" altLang="en-US" sz="2400" i="1">
                              <a:latin typeface="Cambria Math" panose="02040503050406030204" pitchFamily="18" charset="0"/>
                            </a:rPr>
                            <m:t>𝛼</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m:rPr>
                          <m:sty m:val="p"/>
                        </m:rPr>
                        <a:rPr lang="el-GR" altLang="zh-CN" sz="2400" b="0" i="1" smtClean="0">
                          <a:latin typeface="Cambria Math" panose="02040503050406030204" pitchFamily="18" charset="0"/>
                          <a:ea typeface="Cambria Math" panose="02040503050406030204" pitchFamily="18" charset="0"/>
                        </a:rPr>
                        <m:t>Ι</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87" name="文本框 86">
                <a:extLst>
                  <a:ext uri="{FF2B5EF4-FFF2-40B4-BE49-F238E27FC236}">
                    <a16:creationId xmlns:a16="http://schemas.microsoft.com/office/drawing/2014/main" id="{D7443DC6-A276-9A4E-8EA5-E27BF93615F7}"/>
                  </a:ext>
                </a:extLst>
              </p:cNvPr>
              <p:cNvSpPr txBox="1">
                <a:spLocks noRot="1" noChangeAspect="1" noMove="1" noResize="1" noEditPoints="1" noAdjustHandles="1" noChangeArrowheads="1" noChangeShapeType="1" noTextEdit="1"/>
              </p:cNvSpPr>
              <p:nvPr/>
            </p:nvSpPr>
            <p:spPr>
              <a:xfrm>
                <a:off x="3237643" y="5519113"/>
                <a:ext cx="5226303" cy="370743"/>
              </a:xfrm>
              <a:prstGeom prst="rect">
                <a:avLst/>
              </a:prstGeom>
              <a:blipFill>
                <a:blip r:embed="rId22"/>
                <a:stretch>
                  <a:fillRect l="-817" r="-1517" b="-36066"/>
                </a:stretch>
              </a:blipFill>
            </p:spPr>
            <p:txBody>
              <a:bodyPr/>
              <a:lstStyle/>
              <a:p>
                <a:r>
                  <a:rPr lang="zh-CN" altLang="en-US">
                    <a:noFill/>
                  </a:rPr>
                  <a:t> </a:t>
                </a:r>
              </a:p>
            </p:txBody>
          </p:sp>
        </mc:Fallback>
      </mc:AlternateContent>
      <p:sp>
        <p:nvSpPr>
          <p:cNvPr id="88" name="文本框 87">
            <a:extLst>
              <a:ext uri="{FF2B5EF4-FFF2-40B4-BE49-F238E27FC236}">
                <a16:creationId xmlns:a16="http://schemas.microsoft.com/office/drawing/2014/main" id="{8A4C2545-0B3B-6099-C87E-9A34EDEA1402}"/>
              </a:ext>
            </a:extLst>
          </p:cNvPr>
          <p:cNvSpPr txBox="1"/>
          <p:nvPr/>
        </p:nvSpPr>
        <p:spPr>
          <a:xfrm>
            <a:off x="615476" y="3154374"/>
            <a:ext cx="2411950" cy="276999"/>
          </a:xfrm>
          <a:prstGeom prst="rect">
            <a:avLst/>
          </a:prstGeom>
          <a:noFill/>
        </p:spPr>
        <p:txBody>
          <a:bodyPr wrap="square">
            <a:spAutoFit/>
          </a:bodyPr>
          <a:lstStyle/>
          <a:p>
            <a:r>
              <a:rPr lang="en-US" altLang="zh-CN" sz="1200" b="1" dirty="0">
                <a:solidFill>
                  <a:schemeClr val="bg2">
                    <a:lumMod val="50000"/>
                  </a:schemeClr>
                </a:solidFill>
              </a:rPr>
              <a:t>The reparameterization trick</a:t>
            </a:r>
            <a:endParaRPr lang="zh-CN" altLang="en-US" sz="1200" dirty="0">
              <a:solidFill>
                <a:schemeClr val="bg2">
                  <a:lumMod val="50000"/>
                </a:schemeClr>
              </a:solidFill>
            </a:endParaRPr>
          </a:p>
        </p:txBody>
      </p:sp>
      <p:sp>
        <p:nvSpPr>
          <p:cNvPr id="89" name="矩形: 圆角 88">
            <a:extLst>
              <a:ext uri="{FF2B5EF4-FFF2-40B4-BE49-F238E27FC236}">
                <a16:creationId xmlns:a16="http://schemas.microsoft.com/office/drawing/2014/main" id="{01712C2D-55D7-1C47-3BCD-A749E87D8081}"/>
              </a:ext>
            </a:extLst>
          </p:cNvPr>
          <p:cNvSpPr/>
          <p:nvPr/>
        </p:nvSpPr>
        <p:spPr>
          <a:xfrm>
            <a:off x="5919992" y="5519113"/>
            <a:ext cx="1017383" cy="422759"/>
          </a:xfrm>
          <a:prstGeom prst="roundRect">
            <a:avLst/>
          </a:prstGeom>
          <a:solidFill>
            <a:srgbClr val="5B9BD5">
              <a:alpha val="2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0" name="矩形: 圆角 89">
            <a:extLst>
              <a:ext uri="{FF2B5EF4-FFF2-40B4-BE49-F238E27FC236}">
                <a16:creationId xmlns:a16="http://schemas.microsoft.com/office/drawing/2014/main" id="{63AEDBDB-BA17-FC94-4016-7596AD5BDF33}"/>
              </a:ext>
            </a:extLst>
          </p:cNvPr>
          <p:cNvSpPr/>
          <p:nvPr/>
        </p:nvSpPr>
        <p:spPr>
          <a:xfrm>
            <a:off x="7079543" y="5519113"/>
            <a:ext cx="1096398" cy="422759"/>
          </a:xfrm>
          <a:prstGeom prst="roundRect">
            <a:avLst/>
          </a:prstGeom>
          <a:solidFill>
            <a:srgbClr val="5B9BD5">
              <a:alpha val="2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91" name="图片 90">
            <a:extLst>
              <a:ext uri="{FF2B5EF4-FFF2-40B4-BE49-F238E27FC236}">
                <a16:creationId xmlns:a16="http://schemas.microsoft.com/office/drawing/2014/main" id="{332B245C-8734-7404-1EC6-F2900E697A87}"/>
              </a:ext>
            </a:extLst>
          </p:cNvPr>
          <p:cNvPicPr>
            <a:picLocks noChangeAspect="1"/>
          </p:cNvPicPr>
          <p:nvPr/>
        </p:nvPicPr>
        <p:blipFill>
          <a:blip r:embed="rId23"/>
          <a:stretch>
            <a:fillRect/>
          </a:stretch>
        </p:blipFill>
        <p:spPr>
          <a:xfrm>
            <a:off x="9000057" y="2875131"/>
            <a:ext cx="2719172" cy="3294616"/>
          </a:xfrm>
          <a:prstGeom prst="rect">
            <a:avLst/>
          </a:prstGeom>
        </p:spPr>
      </p:pic>
      <p:sp>
        <p:nvSpPr>
          <p:cNvPr id="92" name="标题 1">
            <a:extLst>
              <a:ext uri="{FF2B5EF4-FFF2-40B4-BE49-F238E27FC236}">
                <a16:creationId xmlns:a16="http://schemas.microsoft.com/office/drawing/2014/main" id="{3E6ED777-6EC3-5C78-C30B-CF66F1407180}"/>
              </a:ext>
            </a:extLst>
          </p:cNvPr>
          <p:cNvSpPr txBox="1">
            <a:spLocks/>
          </p:cNvSpPr>
          <p:nvPr/>
        </p:nvSpPr>
        <p:spPr>
          <a:xfrm>
            <a:off x="363130" y="319791"/>
            <a:ext cx="7515628" cy="728030"/>
          </a:xfrm>
          <a:prstGeom prst="rect">
            <a:avLst/>
          </a:prstGeom>
        </p:spPr>
        <p:txBody>
          <a:bodyPr/>
          <a:lstStyle>
            <a:lvl1pPr algn="ctr" defTabSz="1219170" rtl="0" eaLnBrk="1" latinLnBrk="0" hangingPunct="1">
              <a:spcBef>
                <a:spcPct val="0"/>
              </a:spcBef>
              <a:buNone/>
              <a:defRPr sz="5867" kern="1200">
                <a:solidFill>
                  <a:schemeClr val="tx1"/>
                </a:solidFill>
                <a:latin typeface="+mj-lt"/>
                <a:ea typeface="+mj-ea"/>
                <a:cs typeface="+mj-cs"/>
              </a:defRPr>
            </a:lvl1pPr>
          </a:lstStyle>
          <a:p>
            <a:pPr algn="l"/>
            <a:r>
              <a:rPr lang="en-US" altLang="zh-CN" sz="4400" b="1" dirty="0">
                <a:latin typeface="Calibri"/>
                <a:cs typeface="Calibri"/>
              </a:rPr>
              <a:t>Forward</a:t>
            </a:r>
            <a:r>
              <a:rPr lang="en-US" altLang="zh-CN" sz="4400" b="1" spc="-125" dirty="0">
                <a:latin typeface="Calibri"/>
                <a:cs typeface="Calibri"/>
              </a:rPr>
              <a:t> </a:t>
            </a:r>
            <a:r>
              <a:rPr lang="en-US" altLang="zh-CN" sz="4400" dirty="0"/>
              <a:t>Diffusion</a:t>
            </a:r>
            <a:r>
              <a:rPr lang="en-US" altLang="zh-CN" sz="4400" spc="-150" dirty="0"/>
              <a:t> </a:t>
            </a:r>
            <a:r>
              <a:rPr lang="en-US" altLang="zh-CN" sz="4400" spc="-10" dirty="0"/>
              <a:t>Process</a:t>
            </a:r>
            <a:endParaRPr lang="zh-CN" altLang="en-US" sz="4400" dirty="0"/>
          </a:p>
        </p:txBody>
      </p:sp>
    </p:spTree>
    <p:extLst>
      <p:ext uri="{BB962C8B-B14F-4D97-AF65-F5344CB8AC3E}">
        <p14:creationId xmlns:p14="http://schemas.microsoft.com/office/powerpoint/2010/main" val="1909142419"/>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up)">
                                      <p:cBhvr>
                                        <p:cTn id="7" dur="500"/>
                                        <p:tgtEl>
                                          <p:spTgt spid="7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wipe(left)">
                                      <p:cBhvr>
                                        <p:cTn id="11" dur="500"/>
                                        <p:tgtEl>
                                          <p:spTgt spid="7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5"/>
                                        </p:tgtEl>
                                        <p:attrNameLst>
                                          <p:attrName>style.visibility</p:attrName>
                                        </p:attrNameLst>
                                      </p:cBhvr>
                                      <p:to>
                                        <p:strVal val="visible"/>
                                      </p:to>
                                    </p:set>
                                    <p:animEffect transition="in" filter="fade">
                                      <p:cBhvr>
                                        <p:cTn id="14" dur="500"/>
                                        <p:tgtEl>
                                          <p:spTgt spid="85"/>
                                        </p:tgtEl>
                                      </p:cBhvr>
                                    </p:animEffect>
                                  </p:childTnLst>
                                </p:cTn>
                              </p:par>
                            </p:childTnLst>
                          </p:cTn>
                        </p:par>
                        <p:par>
                          <p:cTn id="15" fill="hold">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72"/>
                                        </p:tgtEl>
                                        <p:attrNameLst>
                                          <p:attrName>style.visibility</p:attrName>
                                        </p:attrNameLst>
                                      </p:cBhvr>
                                      <p:to>
                                        <p:strVal val="visible"/>
                                      </p:to>
                                    </p:set>
                                    <p:animEffect transition="in" filter="wipe(up)">
                                      <p:cBhvr>
                                        <p:cTn id="18" dur="500"/>
                                        <p:tgtEl>
                                          <p:spTgt spid="7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fade">
                                      <p:cBhvr>
                                        <p:cTn id="21" dur="500"/>
                                        <p:tgtEl>
                                          <p:spTgt spid="78"/>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fade">
                                      <p:cBhvr>
                                        <p:cTn id="28" dur="500"/>
                                        <p:tgtEl>
                                          <p:spTgt spid="71"/>
                                        </p:tgtEl>
                                      </p:cBhvr>
                                    </p:animEffec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77"/>
                                        </p:tgtEl>
                                        <p:attrNameLst>
                                          <p:attrName>style.visibility</p:attrName>
                                        </p:attrNameLst>
                                      </p:cBhvr>
                                      <p:to>
                                        <p:strVal val="visible"/>
                                      </p:to>
                                    </p:set>
                                    <p:animEffect transition="in" filter="wipe(left)">
                                      <p:cBhvr>
                                        <p:cTn id="32" dur="500"/>
                                        <p:tgtEl>
                                          <p:spTgt spid="77"/>
                                        </p:tgtEl>
                                      </p:cBhvr>
                                    </p:animEffect>
                                  </p:childTnLst>
                                </p:cTn>
                              </p:par>
                            </p:childTnLst>
                          </p:cTn>
                        </p:par>
                        <p:par>
                          <p:cTn id="33" fill="hold">
                            <p:stCondLst>
                              <p:cond delay="2500"/>
                            </p:stCondLst>
                            <p:childTnLst>
                              <p:par>
                                <p:cTn id="34" presetID="22" presetClass="entr" presetSubtype="4" fill="hold" grpId="0" nodeType="afterEffect">
                                  <p:stCondLst>
                                    <p:cond delay="0"/>
                                  </p:stCondLst>
                                  <p:childTnLst>
                                    <p:set>
                                      <p:cBhvr>
                                        <p:cTn id="35" dur="1" fill="hold">
                                          <p:stCondLst>
                                            <p:cond delay="0"/>
                                          </p:stCondLst>
                                        </p:cTn>
                                        <p:tgtEl>
                                          <p:spTgt spid="76"/>
                                        </p:tgtEl>
                                        <p:attrNameLst>
                                          <p:attrName>style.visibility</p:attrName>
                                        </p:attrNameLst>
                                      </p:cBhvr>
                                      <p:to>
                                        <p:strVal val="visible"/>
                                      </p:to>
                                    </p:set>
                                    <p:animEffect transition="in" filter="wipe(down)">
                                      <p:cBhvr>
                                        <p:cTn id="36" dur="500"/>
                                        <p:tgtEl>
                                          <p:spTgt spid="7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500"/>
                                        <p:tgtEl>
                                          <p:spTgt spid="4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fade">
                                      <p:cBhvr>
                                        <p:cTn id="44" dur="500"/>
                                        <p:tgtEl>
                                          <p:spTgt spid="56"/>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wipe(left)">
                                      <p:cBhvr>
                                        <p:cTn id="48" dur="500"/>
                                        <p:tgtEl>
                                          <p:spTgt spid="46"/>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wipe(left)">
                                      <p:cBhvr>
                                        <p:cTn id="52" dur="500"/>
                                        <p:tgtEl>
                                          <p:spTgt spid="75"/>
                                        </p:tgtEl>
                                      </p:cBhvr>
                                    </p:animEffect>
                                  </p:childTnLst>
                                </p:cTn>
                              </p:par>
                            </p:childTnLst>
                          </p:cTn>
                        </p:par>
                        <p:par>
                          <p:cTn id="53" fill="hold">
                            <p:stCondLst>
                              <p:cond delay="1500"/>
                            </p:stCondLst>
                            <p:childTnLst>
                              <p:par>
                                <p:cTn id="54" presetID="22" presetClass="entr" presetSubtype="8" fill="hold" nodeType="afterEffect">
                                  <p:stCondLst>
                                    <p:cond delay="0"/>
                                  </p:stCondLst>
                                  <p:childTnLst>
                                    <p:set>
                                      <p:cBhvr>
                                        <p:cTn id="55" dur="1" fill="hold">
                                          <p:stCondLst>
                                            <p:cond delay="0"/>
                                          </p:stCondLst>
                                        </p:cTn>
                                        <p:tgtEl>
                                          <p:spTgt spid="47"/>
                                        </p:tgtEl>
                                        <p:attrNameLst>
                                          <p:attrName>style.visibility</p:attrName>
                                        </p:attrNameLst>
                                      </p:cBhvr>
                                      <p:to>
                                        <p:strVal val="visible"/>
                                      </p:to>
                                    </p:set>
                                    <p:animEffect transition="in" filter="wipe(left)">
                                      <p:cBhvr>
                                        <p:cTn id="56" dur="500"/>
                                        <p:tgtEl>
                                          <p:spTgt spid="47"/>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wipe(left)">
                                      <p:cBhvr>
                                        <p:cTn id="59" dur="500"/>
                                        <p:tgtEl>
                                          <p:spTgt spid="57"/>
                                        </p:tgtEl>
                                      </p:cBhvr>
                                    </p:animEffect>
                                  </p:childTnLst>
                                </p:cTn>
                              </p:par>
                            </p:childTnLst>
                          </p:cTn>
                        </p:par>
                        <p:par>
                          <p:cTn id="60" fill="hold">
                            <p:stCondLst>
                              <p:cond delay="2000"/>
                            </p:stCondLst>
                            <p:childTnLst>
                              <p:par>
                                <p:cTn id="61" presetID="22" presetClass="entr" presetSubtype="8" fill="hold" grpId="0" nodeType="after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wipe(left)">
                                      <p:cBhvr>
                                        <p:cTn id="63" dur="500"/>
                                        <p:tgtEl>
                                          <p:spTgt spid="48"/>
                                        </p:tgtEl>
                                      </p:cBhvr>
                                    </p:animEffect>
                                  </p:childTnLst>
                                </p:cTn>
                              </p:par>
                            </p:childTnLst>
                          </p:cTn>
                        </p:par>
                        <p:par>
                          <p:cTn id="64" fill="hold">
                            <p:stCondLst>
                              <p:cond delay="2500"/>
                            </p:stCondLst>
                            <p:childTnLst>
                              <p:par>
                                <p:cTn id="65" presetID="22" presetClass="entr" presetSubtype="8" fill="hold" grpId="0" nodeType="afterEffect">
                                  <p:stCondLst>
                                    <p:cond delay="0"/>
                                  </p:stCondLst>
                                  <p:childTnLst>
                                    <p:set>
                                      <p:cBhvr>
                                        <p:cTn id="66" dur="1" fill="hold">
                                          <p:stCondLst>
                                            <p:cond delay="0"/>
                                          </p:stCondLst>
                                        </p:cTn>
                                        <p:tgtEl>
                                          <p:spTgt spid="79"/>
                                        </p:tgtEl>
                                        <p:attrNameLst>
                                          <p:attrName>style.visibility</p:attrName>
                                        </p:attrNameLst>
                                      </p:cBhvr>
                                      <p:to>
                                        <p:strVal val="visible"/>
                                      </p:to>
                                    </p:set>
                                    <p:animEffect transition="in" filter="wipe(left)">
                                      <p:cBhvr>
                                        <p:cTn id="67" dur="500"/>
                                        <p:tgtEl>
                                          <p:spTgt spid="79"/>
                                        </p:tgtEl>
                                      </p:cBhvr>
                                    </p:animEffect>
                                  </p:childTnLst>
                                </p:cTn>
                              </p:par>
                            </p:childTnLst>
                          </p:cTn>
                        </p:par>
                        <p:par>
                          <p:cTn id="68" fill="hold">
                            <p:stCondLst>
                              <p:cond delay="3000"/>
                            </p:stCondLst>
                            <p:childTnLst>
                              <p:par>
                                <p:cTn id="69" presetID="22" presetClass="entr" presetSubtype="8" fill="hold" grpId="0" nodeType="after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wipe(left)">
                                      <p:cBhvr>
                                        <p:cTn id="71" dur="500"/>
                                        <p:tgtEl>
                                          <p:spTgt spid="58"/>
                                        </p:tgtEl>
                                      </p:cBhvr>
                                    </p:animEffect>
                                  </p:childTnLst>
                                </p:cTn>
                              </p:par>
                            </p:childTnLst>
                          </p:cTn>
                        </p:par>
                        <p:par>
                          <p:cTn id="72" fill="hold">
                            <p:stCondLst>
                              <p:cond delay="3500"/>
                            </p:stCondLst>
                            <p:childTnLst>
                              <p:par>
                                <p:cTn id="73" presetID="22" presetClass="entr" presetSubtype="8" fill="hold" nodeType="after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wipe(left)">
                                      <p:cBhvr>
                                        <p:cTn id="75" dur="500"/>
                                        <p:tgtEl>
                                          <p:spTgt spid="4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80"/>
                                        </p:tgtEl>
                                        <p:attrNameLst>
                                          <p:attrName>style.visibility</p:attrName>
                                        </p:attrNameLst>
                                      </p:cBhvr>
                                      <p:to>
                                        <p:strVal val="visible"/>
                                      </p:to>
                                    </p:set>
                                    <p:animEffect transition="in" filter="fade">
                                      <p:cBhvr>
                                        <p:cTn id="80" dur="500"/>
                                        <p:tgtEl>
                                          <p:spTgt spid="8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88"/>
                                        </p:tgtEl>
                                        <p:attrNameLst>
                                          <p:attrName>style.visibility</p:attrName>
                                        </p:attrNameLst>
                                      </p:cBhvr>
                                      <p:to>
                                        <p:strVal val="visible"/>
                                      </p:to>
                                    </p:set>
                                    <p:animEffect transition="in" filter="fade">
                                      <p:cBhvr>
                                        <p:cTn id="83" dur="500"/>
                                        <p:tgtEl>
                                          <p:spTgt spid="8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81"/>
                                        </p:tgtEl>
                                        <p:attrNameLst>
                                          <p:attrName>style.visibility</p:attrName>
                                        </p:attrNameLst>
                                      </p:cBhvr>
                                      <p:to>
                                        <p:strVal val="visible"/>
                                      </p:to>
                                    </p:set>
                                    <p:animEffect transition="in" filter="fade">
                                      <p:cBhvr>
                                        <p:cTn id="88" dur="500"/>
                                        <p:tgtEl>
                                          <p:spTgt spid="81"/>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82"/>
                                        </p:tgtEl>
                                        <p:attrNameLst>
                                          <p:attrName>style.visibility</p:attrName>
                                        </p:attrNameLst>
                                      </p:cBhvr>
                                      <p:to>
                                        <p:strVal val="visible"/>
                                      </p:to>
                                    </p:set>
                                    <p:animEffect transition="in" filter="fade">
                                      <p:cBhvr>
                                        <p:cTn id="93" dur="500"/>
                                        <p:tgtEl>
                                          <p:spTgt spid="8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83"/>
                                        </p:tgtEl>
                                        <p:attrNameLst>
                                          <p:attrName>style.visibility</p:attrName>
                                        </p:attrNameLst>
                                      </p:cBhvr>
                                      <p:to>
                                        <p:strVal val="visible"/>
                                      </p:to>
                                    </p:set>
                                    <p:animEffect transition="in" filter="fade">
                                      <p:cBhvr>
                                        <p:cTn id="98" dur="500"/>
                                        <p:tgtEl>
                                          <p:spTgt spid="83"/>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84"/>
                                        </p:tgtEl>
                                        <p:attrNameLst>
                                          <p:attrName>style.visibility</p:attrName>
                                        </p:attrNameLst>
                                      </p:cBhvr>
                                      <p:to>
                                        <p:strVal val="visible"/>
                                      </p:to>
                                    </p:set>
                                    <p:animEffect transition="in" filter="fade">
                                      <p:cBhvr>
                                        <p:cTn id="103" dur="500"/>
                                        <p:tgtEl>
                                          <p:spTgt spid="84"/>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86"/>
                                        </p:tgtEl>
                                        <p:attrNameLst>
                                          <p:attrName>style.visibility</p:attrName>
                                        </p:attrNameLst>
                                      </p:cBhvr>
                                      <p:to>
                                        <p:strVal val="visible"/>
                                      </p:to>
                                    </p:set>
                                    <p:animEffect transition="in" filter="fade">
                                      <p:cBhvr>
                                        <p:cTn id="108" dur="500"/>
                                        <p:tgtEl>
                                          <p:spTgt spid="86"/>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87"/>
                                        </p:tgtEl>
                                        <p:attrNameLst>
                                          <p:attrName>style.visibility</p:attrName>
                                        </p:attrNameLst>
                                      </p:cBhvr>
                                      <p:to>
                                        <p:strVal val="visible"/>
                                      </p:to>
                                    </p:set>
                                    <p:animEffect transition="in" filter="fade">
                                      <p:cBhvr>
                                        <p:cTn id="113" dur="500"/>
                                        <p:tgtEl>
                                          <p:spTgt spid="87"/>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89"/>
                                        </p:tgtEl>
                                        <p:attrNameLst>
                                          <p:attrName>style.visibility</p:attrName>
                                        </p:attrNameLst>
                                      </p:cBhvr>
                                      <p:to>
                                        <p:strVal val="visible"/>
                                      </p:to>
                                    </p:set>
                                    <p:animEffect transition="in" filter="fade">
                                      <p:cBhvr>
                                        <p:cTn id="118" dur="500"/>
                                        <p:tgtEl>
                                          <p:spTgt spid="89"/>
                                        </p:tgtEl>
                                      </p:cBhvr>
                                    </p:animEffect>
                                  </p:childTnLst>
                                </p:cTn>
                              </p:par>
                            </p:childTnLst>
                          </p:cTn>
                        </p:par>
                        <p:par>
                          <p:cTn id="119" fill="hold">
                            <p:stCondLst>
                              <p:cond delay="500"/>
                            </p:stCondLst>
                            <p:childTnLst>
                              <p:par>
                                <p:cTn id="120" presetID="10" presetClass="entr" presetSubtype="0" fill="hold" grpId="0" nodeType="after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fade">
                                      <p:cBhvr>
                                        <p:cTn id="122" dur="500"/>
                                        <p:tgtEl>
                                          <p:spTgt spid="54"/>
                                        </p:tgtEl>
                                      </p:cBhvr>
                                    </p:animEffect>
                                  </p:childTnLst>
                                </p:cTn>
                              </p:par>
                            </p:childTnLst>
                          </p:cTn>
                        </p:par>
                        <p:par>
                          <p:cTn id="123" fill="hold">
                            <p:stCondLst>
                              <p:cond delay="1000"/>
                            </p:stCondLst>
                            <p:childTnLst>
                              <p:par>
                                <p:cTn id="124" presetID="10" presetClass="entr" presetSubtype="0" fill="hold" grpId="0" nodeType="afterEffect">
                                  <p:stCondLst>
                                    <p:cond delay="0"/>
                                  </p:stCondLst>
                                  <p:childTnLst>
                                    <p:set>
                                      <p:cBhvr>
                                        <p:cTn id="125" dur="1" fill="hold">
                                          <p:stCondLst>
                                            <p:cond delay="0"/>
                                          </p:stCondLst>
                                        </p:cTn>
                                        <p:tgtEl>
                                          <p:spTgt spid="90"/>
                                        </p:tgtEl>
                                        <p:attrNameLst>
                                          <p:attrName>style.visibility</p:attrName>
                                        </p:attrNameLst>
                                      </p:cBhvr>
                                      <p:to>
                                        <p:strVal val="visible"/>
                                      </p:to>
                                    </p:set>
                                    <p:animEffect transition="in" filter="fade">
                                      <p:cBhvr>
                                        <p:cTn id="126" dur="500"/>
                                        <p:tgtEl>
                                          <p:spTgt spid="90"/>
                                        </p:tgtEl>
                                      </p:cBhvr>
                                    </p:animEffect>
                                  </p:childTnLst>
                                </p:cTn>
                              </p:par>
                            </p:childTnLst>
                          </p:cTn>
                        </p:par>
                        <p:par>
                          <p:cTn id="127" fill="hold">
                            <p:stCondLst>
                              <p:cond delay="1500"/>
                            </p:stCondLst>
                            <p:childTnLst>
                              <p:par>
                                <p:cTn id="128" presetID="10" presetClass="entr" presetSubtype="0" fill="hold" grpId="0" nodeType="afterEffect">
                                  <p:stCondLst>
                                    <p:cond delay="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500"/>
                                        <p:tgtEl>
                                          <p:spTgt spid="55"/>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nodeType="clickEffect">
                                  <p:stCondLst>
                                    <p:cond delay="0"/>
                                  </p:stCondLst>
                                  <p:childTnLst>
                                    <p:set>
                                      <p:cBhvr>
                                        <p:cTn id="134" dur="1" fill="hold">
                                          <p:stCondLst>
                                            <p:cond delay="0"/>
                                          </p:stCondLst>
                                        </p:cTn>
                                        <p:tgtEl>
                                          <p:spTgt spid="91"/>
                                        </p:tgtEl>
                                        <p:attrNameLst>
                                          <p:attrName>style.visibility</p:attrName>
                                        </p:attrNameLst>
                                      </p:cBhvr>
                                      <p:to>
                                        <p:strVal val="visible"/>
                                      </p:to>
                                    </p:set>
                                    <p:animEffect transition="in" filter="fade">
                                      <p:cBhvr>
                                        <p:cTn id="135"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animBg="1"/>
      <p:bldP spid="48" grpId="0" animBg="1"/>
      <p:bldP spid="54" grpId="0"/>
      <p:bldP spid="55" grpId="0"/>
      <p:bldP spid="56" grpId="0" animBg="1"/>
      <p:bldP spid="57" grpId="0"/>
      <p:bldP spid="58" grpId="0"/>
      <p:bldP spid="71" grpId="0" animBg="1"/>
      <p:bldP spid="72" grpId="0" animBg="1"/>
      <p:bldP spid="73" grpId="0" animBg="1"/>
      <p:bldP spid="74" grpId="0" animBg="1"/>
      <p:bldP spid="75" grpId="0"/>
      <p:bldP spid="76" grpId="0" animBg="1"/>
      <p:bldP spid="77" grpId="0" animBg="1"/>
      <p:bldP spid="78" grpId="0"/>
      <p:bldP spid="79" grpId="0"/>
      <p:bldP spid="80" grpId="0" animBg="1"/>
      <p:bldP spid="81" grpId="0"/>
      <p:bldP spid="82" grpId="0"/>
      <p:bldP spid="83" grpId="0"/>
      <p:bldP spid="84" grpId="0"/>
      <p:bldP spid="85" grpId="0"/>
      <p:bldP spid="86" grpId="0"/>
      <p:bldP spid="87" grpId="0"/>
      <p:bldP spid="88" grpId="0"/>
      <p:bldP spid="89" grpId="0" animBg="1"/>
      <p:bldP spid="9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FF5FB1-1394-92B0-6FA9-344DF890305F}"/>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6EFE9624-36E3-8E10-A43A-93C681D9C91E}"/>
              </a:ext>
            </a:extLst>
          </p:cNvPr>
          <p:cNvSpPr>
            <a:spLocks noGrp="1"/>
          </p:cNvSpPr>
          <p:nvPr>
            <p:ph type="sldNum" sz="quarter" idx="12"/>
          </p:nvPr>
        </p:nvSpPr>
        <p:spPr/>
        <p:txBody>
          <a:bodyPr/>
          <a:lstStyle/>
          <a:p>
            <a:fld id="{0C913308-F349-4B6D-A68A-DD1791B4A57B}" type="slidenum">
              <a:rPr lang="zh-CN" altLang="en-US" smtClean="0"/>
              <a:t>10</a:t>
            </a:fld>
            <a:endParaRPr lang="zh-CN" altLang="en-US"/>
          </a:p>
        </p:txBody>
      </p:sp>
    </p:spTree>
    <p:extLst>
      <p:ext uri="{BB962C8B-B14F-4D97-AF65-F5344CB8AC3E}">
        <p14:creationId xmlns:p14="http://schemas.microsoft.com/office/powerpoint/2010/main" val="3808271266"/>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0EDCDBC-2301-E3EA-67B1-1285430C2048}"/>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6A3AE971-C632-8997-ED76-018B0207B26A}"/>
              </a:ext>
            </a:extLst>
          </p:cNvPr>
          <p:cNvSpPr>
            <a:spLocks noGrp="1"/>
          </p:cNvSpPr>
          <p:nvPr>
            <p:ph type="sldNum" sz="quarter" idx="12"/>
          </p:nvPr>
        </p:nvSpPr>
        <p:spPr/>
        <p:txBody>
          <a:bodyPr/>
          <a:lstStyle/>
          <a:p>
            <a:fld id="{0C913308-F349-4B6D-A68A-DD1791B4A57B}" type="slidenum">
              <a:rPr lang="zh-CN" altLang="en-US" smtClean="0"/>
              <a:t>11</a:t>
            </a:fld>
            <a:endParaRPr lang="zh-CN" altLang="en-US"/>
          </a:p>
        </p:txBody>
      </p:sp>
    </p:spTree>
    <p:extLst>
      <p:ext uri="{BB962C8B-B14F-4D97-AF65-F5344CB8AC3E}">
        <p14:creationId xmlns:p14="http://schemas.microsoft.com/office/powerpoint/2010/main" val="1739278590"/>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908CA08-19FE-1585-E97B-7EB6A4A3031B}"/>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748D3B00-4B85-B825-9425-EFB80F993E6F}"/>
              </a:ext>
            </a:extLst>
          </p:cNvPr>
          <p:cNvSpPr>
            <a:spLocks noGrp="1"/>
          </p:cNvSpPr>
          <p:nvPr>
            <p:ph type="sldNum" sz="quarter" idx="12"/>
          </p:nvPr>
        </p:nvSpPr>
        <p:spPr/>
        <p:txBody>
          <a:bodyPr/>
          <a:lstStyle/>
          <a:p>
            <a:fld id="{0C913308-F349-4B6D-A68A-DD1791B4A57B}" type="slidenum">
              <a:rPr lang="zh-CN" altLang="en-US" smtClean="0"/>
              <a:t>12</a:t>
            </a:fld>
            <a:endParaRPr lang="zh-CN" altLang="en-US"/>
          </a:p>
        </p:txBody>
      </p:sp>
    </p:spTree>
    <p:extLst>
      <p:ext uri="{BB962C8B-B14F-4D97-AF65-F5344CB8AC3E}">
        <p14:creationId xmlns:p14="http://schemas.microsoft.com/office/powerpoint/2010/main" val="1538092239"/>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B0E18CD-89E0-5CA3-511B-21AE5685EC06}"/>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61D2E287-46BE-90A2-DF2F-0710CCACF80F}"/>
              </a:ext>
            </a:extLst>
          </p:cNvPr>
          <p:cNvSpPr>
            <a:spLocks noGrp="1"/>
          </p:cNvSpPr>
          <p:nvPr>
            <p:ph type="sldNum" sz="quarter" idx="12"/>
          </p:nvPr>
        </p:nvSpPr>
        <p:spPr/>
        <p:txBody>
          <a:bodyPr/>
          <a:lstStyle/>
          <a:p>
            <a:fld id="{0C913308-F349-4B6D-A68A-DD1791B4A57B}" type="slidenum">
              <a:rPr lang="zh-CN" altLang="en-US" smtClean="0"/>
              <a:t>13</a:t>
            </a:fld>
            <a:endParaRPr lang="zh-CN" altLang="en-US"/>
          </a:p>
        </p:txBody>
      </p:sp>
    </p:spTree>
    <p:extLst>
      <p:ext uri="{BB962C8B-B14F-4D97-AF65-F5344CB8AC3E}">
        <p14:creationId xmlns:p14="http://schemas.microsoft.com/office/powerpoint/2010/main" val="1831433793"/>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C2DC9-9EC9-B74F-3104-815F2F7294C5}"/>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8007936A-A0B8-9B28-FBCC-19C526050886}"/>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3D2C59F7-CFC6-ACB4-C7FF-6821EC90059F}"/>
              </a:ext>
            </a:extLst>
          </p:cNvPr>
          <p:cNvSpPr>
            <a:spLocks noGrp="1"/>
          </p:cNvSpPr>
          <p:nvPr>
            <p:ph type="sldNum" sz="quarter" idx="12"/>
          </p:nvPr>
        </p:nvSpPr>
        <p:spPr/>
        <p:txBody>
          <a:bodyPr/>
          <a:lstStyle/>
          <a:p>
            <a:fld id="{0C913308-F349-4B6D-A68A-DD1791B4A57B}" type="slidenum">
              <a:rPr lang="zh-CN" altLang="en-US" smtClean="0"/>
              <a:t>14</a:t>
            </a:fld>
            <a:endParaRPr lang="zh-CN" altLang="en-US"/>
          </a:p>
        </p:txBody>
      </p:sp>
      <p:grpSp>
        <p:nvGrpSpPr>
          <p:cNvPr id="6" name="组合 5">
            <a:extLst>
              <a:ext uri="{FF2B5EF4-FFF2-40B4-BE49-F238E27FC236}">
                <a16:creationId xmlns:a16="http://schemas.microsoft.com/office/drawing/2014/main" id="{A62A373E-19CF-8F3E-0B90-13DD2D2BF09F}"/>
              </a:ext>
            </a:extLst>
          </p:cNvPr>
          <p:cNvGrpSpPr/>
          <p:nvPr/>
        </p:nvGrpSpPr>
        <p:grpSpPr>
          <a:xfrm>
            <a:off x="-63871" y="0"/>
            <a:ext cx="2688299" cy="816704"/>
            <a:chOff x="-47903" y="0"/>
            <a:chExt cx="2016224" cy="612528"/>
          </a:xfrm>
        </p:grpSpPr>
        <p:grpSp>
          <p:nvGrpSpPr>
            <p:cNvPr id="7" name="组合 6">
              <a:extLst>
                <a:ext uri="{FF2B5EF4-FFF2-40B4-BE49-F238E27FC236}">
                  <a16:creationId xmlns:a16="http://schemas.microsoft.com/office/drawing/2014/main" id="{77D9BA73-6029-5BB9-4A8F-BD2FBFCE84A2}"/>
                </a:ext>
              </a:extLst>
            </p:cNvPr>
            <p:cNvGrpSpPr/>
            <p:nvPr/>
          </p:nvGrpSpPr>
          <p:grpSpPr>
            <a:xfrm rot="16200000" flipV="1">
              <a:off x="629840" y="-629840"/>
              <a:ext cx="612528" cy="1872208"/>
              <a:chOff x="604102" y="1347614"/>
              <a:chExt cx="1075775" cy="2149930"/>
            </a:xfrm>
          </p:grpSpPr>
          <p:grpSp>
            <p:nvGrpSpPr>
              <p:cNvPr id="9" name="组合 8">
                <a:extLst>
                  <a:ext uri="{FF2B5EF4-FFF2-40B4-BE49-F238E27FC236}">
                    <a16:creationId xmlns:a16="http://schemas.microsoft.com/office/drawing/2014/main" id="{2BEA1063-A657-55D1-9FBD-2AC0D5C6C928}"/>
                  </a:ext>
                </a:extLst>
              </p:cNvPr>
              <p:cNvGrpSpPr/>
              <p:nvPr/>
            </p:nvGrpSpPr>
            <p:grpSpPr>
              <a:xfrm>
                <a:off x="755576" y="1347614"/>
                <a:ext cx="806989" cy="2149930"/>
                <a:chOff x="1477543" y="637844"/>
                <a:chExt cx="6486890" cy="3157021"/>
              </a:xfrm>
            </p:grpSpPr>
            <p:sp>
              <p:nvSpPr>
                <p:cNvPr id="12" name="矩形 11">
                  <a:extLst>
                    <a:ext uri="{FF2B5EF4-FFF2-40B4-BE49-F238E27FC236}">
                      <a16:creationId xmlns:a16="http://schemas.microsoft.com/office/drawing/2014/main" id="{09183F2A-3894-A64E-61B4-26218568D381}"/>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3" name="矩形 12">
                  <a:extLst>
                    <a:ext uri="{FF2B5EF4-FFF2-40B4-BE49-F238E27FC236}">
                      <a16:creationId xmlns:a16="http://schemas.microsoft.com/office/drawing/2014/main" id="{6806C23C-2145-0A84-84C3-66D8A95AE457}"/>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4" name="矩形 13">
                  <a:extLst>
                    <a:ext uri="{FF2B5EF4-FFF2-40B4-BE49-F238E27FC236}">
                      <a16:creationId xmlns:a16="http://schemas.microsoft.com/office/drawing/2014/main" id="{C54638F1-D60E-F0C5-0772-FE947B1622FF}"/>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10" name="直接连接符 9">
                <a:extLst>
                  <a:ext uri="{FF2B5EF4-FFF2-40B4-BE49-F238E27FC236}">
                    <a16:creationId xmlns:a16="http://schemas.microsoft.com/office/drawing/2014/main" id="{5773DD16-606C-9B1B-97F4-A1E0F4AC1C49}"/>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ABEEF4C9-D75F-146A-F55C-824FA137D2A3}"/>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文本框 7">
              <a:extLst>
                <a:ext uri="{FF2B5EF4-FFF2-40B4-BE49-F238E27FC236}">
                  <a16:creationId xmlns:a16="http://schemas.microsoft.com/office/drawing/2014/main" id="{3F816689-24B4-3468-6561-64100D78560A}"/>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创新点</a:t>
              </a:r>
            </a:p>
          </p:txBody>
        </p:sp>
      </p:grpSp>
    </p:spTree>
    <p:extLst>
      <p:ext uri="{BB962C8B-B14F-4D97-AF65-F5344CB8AC3E}">
        <p14:creationId xmlns:p14="http://schemas.microsoft.com/office/powerpoint/2010/main" val="3773792175"/>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A9D97-DABC-5F32-FF70-9B8A4F05C094}"/>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379D8794-0509-37E0-A997-48ACAC92DBA3}"/>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6A902648-CB5B-64F7-18FF-56A395808901}"/>
              </a:ext>
            </a:extLst>
          </p:cNvPr>
          <p:cNvSpPr>
            <a:spLocks noGrp="1"/>
          </p:cNvSpPr>
          <p:nvPr>
            <p:ph type="sldNum" sz="quarter" idx="12"/>
          </p:nvPr>
        </p:nvSpPr>
        <p:spPr/>
        <p:txBody>
          <a:bodyPr/>
          <a:lstStyle/>
          <a:p>
            <a:fld id="{0C913308-F349-4B6D-A68A-DD1791B4A57B}" type="slidenum">
              <a:rPr lang="zh-CN" altLang="en-US" smtClean="0"/>
              <a:t>15</a:t>
            </a:fld>
            <a:endParaRPr lang="zh-CN" altLang="en-US"/>
          </a:p>
        </p:txBody>
      </p:sp>
      <p:grpSp>
        <p:nvGrpSpPr>
          <p:cNvPr id="6" name="组合 5">
            <a:extLst>
              <a:ext uri="{FF2B5EF4-FFF2-40B4-BE49-F238E27FC236}">
                <a16:creationId xmlns:a16="http://schemas.microsoft.com/office/drawing/2014/main" id="{90843991-9CD9-BFD3-B176-A836F2AE85D7}"/>
              </a:ext>
            </a:extLst>
          </p:cNvPr>
          <p:cNvGrpSpPr/>
          <p:nvPr/>
        </p:nvGrpSpPr>
        <p:grpSpPr>
          <a:xfrm>
            <a:off x="-63871" y="0"/>
            <a:ext cx="2688299" cy="816704"/>
            <a:chOff x="-47903" y="0"/>
            <a:chExt cx="2016224" cy="612528"/>
          </a:xfrm>
        </p:grpSpPr>
        <p:grpSp>
          <p:nvGrpSpPr>
            <p:cNvPr id="7" name="组合 6">
              <a:extLst>
                <a:ext uri="{FF2B5EF4-FFF2-40B4-BE49-F238E27FC236}">
                  <a16:creationId xmlns:a16="http://schemas.microsoft.com/office/drawing/2014/main" id="{747E7D79-9FFD-64ED-31A4-F051F5EE3F14}"/>
                </a:ext>
              </a:extLst>
            </p:cNvPr>
            <p:cNvGrpSpPr/>
            <p:nvPr/>
          </p:nvGrpSpPr>
          <p:grpSpPr>
            <a:xfrm rot="16200000" flipV="1">
              <a:off x="629840" y="-629840"/>
              <a:ext cx="612528" cy="1872208"/>
              <a:chOff x="604102" y="1347614"/>
              <a:chExt cx="1075775" cy="2149930"/>
            </a:xfrm>
          </p:grpSpPr>
          <p:grpSp>
            <p:nvGrpSpPr>
              <p:cNvPr id="9" name="组合 8">
                <a:extLst>
                  <a:ext uri="{FF2B5EF4-FFF2-40B4-BE49-F238E27FC236}">
                    <a16:creationId xmlns:a16="http://schemas.microsoft.com/office/drawing/2014/main" id="{C40402D3-F7E5-DBA4-E3C9-1703B3C7E261}"/>
                  </a:ext>
                </a:extLst>
              </p:cNvPr>
              <p:cNvGrpSpPr/>
              <p:nvPr/>
            </p:nvGrpSpPr>
            <p:grpSpPr>
              <a:xfrm>
                <a:off x="755576" y="1347614"/>
                <a:ext cx="806989" cy="2149930"/>
                <a:chOff x="1477543" y="637844"/>
                <a:chExt cx="6486890" cy="3157021"/>
              </a:xfrm>
            </p:grpSpPr>
            <p:sp>
              <p:nvSpPr>
                <p:cNvPr id="12" name="矩形 11">
                  <a:extLst>
                    <a:ext uri="{FF2B5EF4-FFF2-40B4-BE49-F238E27FC236}">
                      <a16:creationId xmlns:a16="http://schemas.microsoft.com/office/drawing/2014/main" id="{104A41C7-A3EF-4E42-9BE9-6B66FE94A47E}"/>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3" name="矩形 12">
                  <a:extLst>
                    <a:ext uri="{FF2B5EF4-FFF2-40B4-BE49-F238E27FC236}">
                      <a16:creationId xmlns:a16="http://schemas.microsoft.com/office/drawing/2014/main" id="{746DAB70-99C6-C856-AF03-ACD5A601DFF3}"/>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4" name="矩形 13">
                  <a:extLst>
                    <a:ext uri="{FF2B5EF4-FFF2-40B4-BE49-F238E27FC236}">
                      <a16:creationId xmlns:a16="http://schemas.microsoft.com/office/drawing/2014/main" id="{572871B3-B593-2DBE-9487-038D4E566CE3}"/>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10" name="直接连接符 9">
                <a:extLst>
                  <a:ext uri="{FF2B5EF4-FFF2-40B4-BE49-F238E27FC236}">
                    <a16:creationId xmlns:a16="http://schemas.microsoft.com/office/drawing/2014/main" id="{1B5D81E1-C590-3A2F-1112-5FE90A528B43}"/>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1D7BBAAE-1BC5-C073-2E7A-1945237638BD}"/>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文本框 7">
              <a:extLst>
                <a:ext uri="{FF2B5EF4-FFF2-40B4-BE49-F238E27FC236}">
                  <a16:creationId xmlns:a16="http://schemas.microsoft.com/office/drawing/2014/main" id="{6E2A515F-10CB-9EEF-A0D7-08C8EF881D3C}"/>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创新点</a:t>
              </a:r>
            </a:p>
          </p:txBody>
        </p:sp>
      </p:grpSp>
    </p:spTree>
    <p:extLst>
      <p:ext uri="{BB962C8B-B14F-4D97-AF65-F5344CB8AC3E}">
        <p14:creationId xmlns:p14="http://schemas.microsoft.com/office/powerpoint/2010/main" val="128984206"/>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A1D1F-38F7-D485-0FC2-FED3920283F9}"/>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D3795337-D6BF-15C7-D969-546442E1B2BD}"/>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B426068D-A23A-B7F7-88B6-D4DA662176B2}"/>
              </a:ext>
            </a:extLst>
          </p:cNvPr>
          <p:cNvSpPr>
            <a:spLocks noGrp="1"/>
          </p:cNvSpPr>
          <p:nvPr>
            <p:ph type="sldNum" sz="quarter" idx="12"/>
          </p:nvPr>
        </p:nvSpPr>
        <p:spPr/>
        <p:txBody>
          <a:bodyPr/>
          <a:lstStyle/>
          <a:p>
            <a:fld id="{0C913308-F349-4B6D-A68A-DD1791B4A57B}" type="slidenum">
              <a:rPr lang="zh-CN" altLang="en-US" smtClean="0"/>
              <a:t>16</a:t>
            </a:fld>
            <a:endParaRPr lang="zh-CN" altLang="en-US"/>
          </a:p>
        </p:txBody>
      </p:sp>
      <p:grpSp>
        <p:nvGrpSpPr>
          <p:cNvPr id="6" name="组合 5">
            <a:extLst>
              <a:ext uri="{FF2B5EF4-FFF2-40B4-BE49-F238E27FC236}">
                <a16:creationId xmlns:a16="http://schemas.microsoft.com/office/drawing/2014/main" id="{C82763A4-D29B-E695-ACE4-398D617E49D5}"/>
              </a:ext>
            </a:extLst>
          </p:cNvPr>
          <p:cNvGrpSpPr/>
          <p:nvPr/>
        </p:nvGrpSpPr>
        <p:grpSpPr>
          <a:xfrm>
            <a:off x="-63871" y="0"/>
            <a:ext cx="2688299" cy="816704"/>
            <a:chOff x="-47903" y="0"/>
            <a:chExt cx="2016224" cy="612528"/>
          </a:xfrm>
        </p:grpSpPr>
        <p:grpSp>
          <p:nvGrpSpPr>
            <p:cNvPr id="7" name="组合 6">
              <a:extLst>
                <a:ext uri="{FF2B5EF4-FFF2-40B4-BE49-F238E27FC236}">
                  <a16:creationId xmlns:a16="http://schemas.microsoft.com/office/drawing/2014/main" id="{BD11D78E-F531-4B52-F1F0-5D2D009EEA88}"/>
                </a:ext>
              </a:extLst>
            </p:cNvPr>
            <p:cNvGrpSpPr/>
            <p:nvPr/>
          </p:nvGrpSpPr>
          <p:grpSpPr>
            <a:xfrm rot="16200000" flipV="1">
              <a:off x="629840" y="-629840"/>
              <a:ext cx="612528" cy="1872208"/>
              <a:chOff x="604102" y="1347614"/>
              <a:chExt cx="1075775" cy="2149930"/>
            </a:xfrm>
          </p:grpSpPr>
          <p:grpSp>
            <p:nvGrpSpPr>
              <p:cNvPr id="9" name="组合 8">
                <a:extLst>
                  <a:ext uri="{FF2B5EF4-FFF2-40B4-BE49-F238E27FC236}">
                    <a16:creationId xmlns:a16="http://schemas.microsoft.com/office/drawing/2014/main" id="{A44731F1-A807-A1FF-4B4E-4A0C0BCF8146}"/>
                  </a:ext>
                </a:extLst>
              </p:cNvPr>
              <p:cNvGrpSpPr/>
              <p:nvPr/>
            </p:nvGrpSpPr>
            <p:grpSpPr>
              <a:xfrm>
                <a:off x="755576" y="1347614"/>
                <a:ext cx="806989" cy="2149930"/>
                <a:chOff x="1477543" y="637844"/>
                <a:chExt cx="6486890" cy="3157021"/>
              </a:xfrm>
            </p:grpSpPr>
            <p:sp>
              <p:nvSpPr>
                <p:cNvPr id="12" name="矩形 11">
                  <a:extLst>
                    <a:ext uri="{FF2B5EF4-FFF2-40B4-BE49-F238E27FC236}">
                      <a16:creationId xmlns:a16="http://schemas.microsoft.com/office/drawing/2014/main" id="{41CFB71D-EB5B-A7CB-DA32-BE34CB6B42A8}"/>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3" name="矩形 12">
                  <a:extLst>
                    <a:ext uri="{FF2B5EF4-FFF2-40B4-BE49-F238E27FC236}">
                      <a16:creationId xmlns:a16="http://schemas.microsoft.com/office/drawing/2014/main" id="{FBB8725F-2545-4BDA-8537-BC4BA6B8C7A0}"/>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4" name="矩形 13">
                  <a:extLst>
                    <a:ext uri="{FF2B5EF4-FFF2-40B4-BE49-F238E27FC236}">
                      <a16:creationId xmlns:a16="http://schemas.microsoft.com/office/drawing/2014/main" id="{63B09485-1D82-A4D6-6CE5-A84EEBCA386C}"/>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10" name="直接连接符 9">
                <a:extLst>
                  <a:ext uri="{FF2B5EF4-FFF2-40B4-BE49-F238E27FC236}">
                    <a16:creationId xmlns:a16="http://schemas.microsoft.com/office/drawing/2014/main" id="{B7A38374-618B-A8F3-F410-4FA2894301B8}"/>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F931667-78DF-F03C-1ACD-955546A4D638}"/>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文本框 7">
              <a:extLst>
                <a:ext uri="{FF2B5EF4-FFF2-40B4-BE49-F238E27FC236}">
                  <a16:creationId xmlns:a16="http://schemas.microsoft.com/office/drawing/2014/main" id="{195F8BCE-0F76-9B8C-A084-2A5BFBF45ED3}"/>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预期结果</a:t>
              </a:r>
            </a:p>
          </p:txBody>
        </p:sp>
      </p:grpSp>
    </p:spTree>
    <p:extLst>
      <p:ext uri="{BB962C8B-B14F-4D97-AF65-F5344CB8AC3E}">
        <p14:creationId xmlns:p14="http://schemas.microsoft.com/office/powerpoint/2010/main" val="370589843"/>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ACF35-D9E4-98B4-B49E-3EA55CEDE84A}"/>
            </a:ext>
          </a:extLst>
        </p:cNvPr>
        <p:cNvGrpSpPr/>
        <p:nvPr/>
      </p:nvGrpSpPr>
      <p:grpSpPr>
        <a:xfrm>
          <a:off x="0" y="0"/>
          <a:ext cx="0" cy="0"/>
          <a:chOff x="0" y="0"/>
          <a:chExt cx="0" cy="0"/>
        </a:xfrm>
      </p:grpSpPr>
      <p:sp>
        <p:nvSpPr>
          <p:cNvPr id="2" name="日期占位符 1">
            <a:extLst>
              <a:ext uri="{FF2B5EF4-FFF2-40B4-BE49-F238E27FC236}">
                <a16:creationId xmlns:a16="http://schemas.microsoft.com/office/drawing/2014/main" id="{893AFDAC-C494-0F1C-E31D-8E93CA152672}"/>
              </a:ext>
            </a:extLst>
          </p:cNvPr>
          <p:cNvSpPr>
            <a:spLocks noGrp="1"/>
          </p:cNvSpPr>
          <p:nvPr>
            <p:ph type="dt" sz="half" idx="10"/>
          </p:nvPr>
        </p:nvSpPr>
        <p:spPr/>
        <p:txBody>
          <a:bodyPr/>
          <a:lstStyle/>
          <a:p>
            <a:fld id="{0129A223-CDA2-4ADD-A070-BBC60E5C9F09}" type="datetime1">
              <a:rPr lang="zh-CN" altLang="en-US" smtClean="0"/>
              <a:t>2025/10/19</a:t>
            </a:fld>
            <a:endParaRPr lang="zh-CN" altLang="en-US"/>
          </a:p>
        </p:txBody>
      </p:sp>
      <p:sp>
        <p:nvSpPr>
          <p:cNvPr id="3" name="灯片编号占位符 2">
            <a:extLst>
              <a:ext uri="{FF2B5EF4-FFF2-40B4-BE49-F238E27FC236}">
                <a16:creationId xmlns:a16="http://schemas.microsoft.com/office/drawing/2014/main" id="{0180D7D7-B7E1-6E52-4DCD-953438EEA451}"/>
              </a:ext>
            </a:extLst>
          </p:cNvPr>
          <p:cNvSpPr>
            <a:spLocks noGrp="1"/>
          </p:cNvSpPr>
          <p:nvPr>
            <p:ph type="sldNum" sz="quarter" idx="12"/>
          </p:nvPr>
        </p:nvSpPr>
        <p:spPr/>
        <p:txBody>
          <a:bodyPr/>
          <a:lstStyle/>
          <a:p>
            <a:fld id="{0C913308-F349-4B6D-A68A-DD1791B4A57B}" type="slidenum">
              <a:rPr lang="zh-CN" altLang="en-US" smtClean="0"/>
              <a:t>17</a:t>
            </a:fld>
            <a:endParaRPr lang="zh-CN" altLang="en-US"/>
          </a:p>
        </p:txBody>
      </p:sp>
      <p:grpSp>
        <p:nvGrpSpPr>
          <p:cNvPr id="6" name="组合 5">
            <a:extLst>
              <a:ext uri="{FF2B5EF4-FFF2-40B4-BE49-F238E27FC236}">
                <a16:creationId xmlns:a16="http://schemas.microsoft.com/office/drawing/2014/main" id="{0EF3355C-8266-7AA8-3CA4-831B5CAF2975}"/>
              </a:ext>
            </a:extLst>
          </p:cNvPr>
          <p:cNvGrpSpPr/>
          <p:nvPr/>
        </p:nvGrpSpPr>
        <p:grpSpPr>
          <a:xfrm>
            <a:off x="-63871" y="0"/>
            <a:ext cx="2688299" cy="816704"/>
            <a:chOff x="-47903" y="0"/>
            <a:chExt cx="2016224" cy="612528"/>
          </a:xfrm>
        </p:grpSpPr>
        <p:grpSp>
          <p:nvGrpSpPr>
            <p:cNvPr id="7" name="组合 6">
              <a:extLst>
                <a:ext uri="{FF2B5EF4-FFF2-40B4-BE49-F238E27FC236}">
                  <a16:creationId xmlns:a16="http://schemas.microsoft.com/office/drawing/2014/main" id="{34C1DDFE-4E54-E752-1633-4BEE70BD0589}"/>
                </a:ext>
              </a:extLst>
            </p:cNvPr>
            <p:cNvGrpSpPr/>
            <p:nvPr/>
          </p:nvGrpSpPr>
          <p:grpSpPr>
            <a:xfrm rot="16200000" flipV="1">
              <a:off x="629840" y="-629840"/>
              <a:ext cx="612528" cy="1872208"/>
              <a:chOff x="604102" y="1347614"/>
              <a:chExt cx="1075775" cy="2149930"/>
            </a:xfrm>
          </p:grpSpPr>
          <p:grpSp>
            <p:nvGrpSpPr>
              <p:cNvPr id="9" name="组合 8">
                <a:extLst>
                  <a:ext uri="{FF2B5EF4-FFF2-40B4-BE49-F238E27FC236}">
                    <a16:creationId xmlns:a16="http://schemas.microsoft.com/office/drawing/2014/main" id="{086C5653-048A-41CE-68F3-79CBF12F98A8}"/>
                  </a:ext>
                </a:extLst>
              </p:cNvPr>
              <p:cNvGrpSpPr/>
              <p:nvPr/>
            </p:nvGrpSpPr>
            <p:grpSpPr>
              <a:xfrm>
                <a:off x="755576" y="1347614"/>
                <a:ext cx="806989" cy="2149930"/>
                <a:chOff x="1477543" y="637844"/>
                <a:chExt cx="6486890" cy="3157021"/>
              </a:xfrm>
            </p:grpSpPr>
            <p:sp>
              <p:nvSpPr>
                <p:cNvPr id="12" name="矩形 11">
                  <a:extLst>
                    <a:ext uri="{FF2B5EF4-FFF2-40B4-BE49-F238E27FC236}">
                      <a16:creationId xmlns:a16="http://schemas.microsoft.com/office/drawing/2014/main" id="{D90F5B79-A534-B1FB-F5A2-CFBC3467E80E}"/>
                    </a:ext>
                  </a:extLst>
                </p:cNvPr>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3" name="矩形 12">
                  <a:extLst>
                    <a:ext uri="{FF2B5EF4-FFF2-40B4-BE49-F238E27FC236}">
                      <a16:creationId xmlns:a16="http://schemas.microsoft.com/office/drawing/2014/main" id="{48A10F46-5425-6AB8-DD63-22930C20B3C6}"/>
                    </a:ext>
                  </a:extLst>
                </p:cNvPr>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sp>
              <p:nvSpPr>
                <p:cNvPr id="14" name="矩形 13">
                  <a:extLst>
                    <a:ext uri="{FF2B5EF4-FFF2-40B4-BE49-F238E27FC236}">
                      <a16:creationId xmlns:a16="http://schemas.microsoft.com/office/drawing/2014/main" id="{ED5EC13A-70E2-1AAE-D027-C6C607E98139}"/>
                    </a:ext>
                  </a:extLst>
                </p:cNvPr>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cs typeface="+mn-ea"/>
                  </a:endParaRPr>
                </a:p>
              </p:txBody>
            </p:sp>
          </p:grpSp>
          <p:cxnSp>
            <p:nvCxnSpPr>
              <p:cNvPr id="10" name="直接连接符 9">
                <a:extLst>
                  <a:ext uri="{FF2B5EF4-FFF2-40B4-BE49-F238E27FC236}">
                    <a16:creationId xmlns:a16="http://schemas.microsoft.com/office/drawing/2014/main" id="{F97F29A2-B998-6445-4567-D566BEC2CC37}"/>
                  </a:ext>
                </a:extLst>
              </p:cNvPr>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2FE1BB7F-869A-4E6D-F650-5168B14388D3}"/>
                  </a:ext>
                </a:extLst>
              </p:cNvPr>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文本框 7">
              <a:extLst>
                <a:ext uri="{FF2B5EF4-FFF2-40B4-BE49-F238E27FC236}">
                  <a16:creationId xmlns:a16="http://schemas.microsoft.com/office/drawing/2014/main" id="{E92386B2-2A25-5B69-8181-8E51241E5D61}"/>
                </a:ext>
              </a:extLst>
            </p:cNvPr>
            <p:cNvSpPr txBox="1"/>
            <p:nvPr/>
          </p:nvSpPr>
          <p:spPr>
            <a:xfrm>
              <a:off x="-47903" y="144445"/>
              <a:ext cx="2016224" cy="315423"/>
            </a:xfrm>
            <a:prstGeom prst="rect">
              <a:avLst/>
            </a:prstGeom>
            <a:noFill/>
          </p:spPr>
          <p:txBody>
            <a:bodyPr wrap="square" rtlCol="0">
              <a:spAutoFit/>
            </a:bodyPr>
            <a:lstStyle/>
            <a:p>
              <a:pPr algn="ctr"/>
              <a:r>
                <a:rPr lang="zh-CN" altLang="en-US" sz="2133" b="1" dirty="0">
                  <a:latin typeface="苹方-简" panose="020B0400000000000000" pitchFamily="34" charset="-122"/>
                  <a:ea typeface="苹方-简" panose="020B0400000000000000" pitchFamily="34" charset="-122"/>
                  <a:cs typeface="+mn-ea"/>
                </a:rPr>
                <a:t>预期结果</a:t>
              </a:r>
            </a:p>
          </p:txBody>
        </p:sp>
      </p:grpSp>
    </p:spTree>
    <p:extLst>
      <p:ext uri="{BB962C8B-B14F-4D97-AF65-F5344CB8AC3E}">
        <p14:creationId xmlns:p14="http://schemas.microsoft.com/office/powerpoint/2010/main" val="294820647"/>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1344" y="164638"/>
            <a:ext cx="11809312" cy="6528725"/>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sp>
        <p:nvSpPr>
          <p:cNvPr id="7" name="文本框 6"/>
          <p:cNvSpPr txBox="1"/>
          <p:nvPr/>
        </p:nvSpPr>
        <p:spPr>
          <a:xfrm>
            <a:off x="3359696" y="2207188"/>
            <a:ext cx="5472608" cy="502766"/>
          </a:xfrm>
          <a:prstGeom prst="rect">
            <a:avLst/>
          </a:prstGeom>
          <a:noFill/>
        </p:spPr>
        <p:txBody>
          <a:bodyPr wrap="square" rtlCol="0">
            <a:spAutoFit/>
          </a:bodyPr>
          <a:lstStyle/>
          <a:p>
            <a:pPr algn="ctr"/>
            <a:r>
              <a:rPr lang="zh-CN" altLang="en-US" sz="2667" dirty="0">
                <a:solidFill>
                  <a:schemeClr val="bg1"/>
                </a:solidFill>
                <a:latin typeface="苹方-简" panose="020B0400000000000000" pitchFamily="34" charset="-122"/>
                <a:ea typeface="苹方-简" panose="020B0400000000000000" pitchFamily="34" charset="-122"/>
                <a:cs typeface="+mn-ea"/>
              </a:rPr>
              <a:t>沈阳建筑大学</a:t>
            </a:r>
          </a:p>
        </p:txBody>
      </p:sp>
      <p:grpSp>
        <p:nvGrpSpPr>
          <p:cNvPr id="18" name="组合 17"/>
          <p:cNvGrpSpPr/>
          <p:nvPr/>
        </p:nvGrpSpPr>
        <p:grpSpPr>
          <a:xfrm>
            <a:off x="1913345" y="770428"/>
            <a:ext cx="8705900" cy="4289393"/>
            <a:chOff x="1435008" y="577820"/>
            <a:chExt cx="6529425" cy="3217045"/>
          </a:xfrm>
        </p:grpSpPr>
        <p:sp>
          <p:nvSpPr>
            <p:cNvPr id="8" name="矩形 7"/>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sp>
          <p:nvSpPr>
            <p:cNvPr id="9" name="矩形 8"/>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sp>
          <p:nvSpPr>
            <p:cNvPr id="11" name="矩形 10"/>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endParaRPr>
            </a:p>
          </p:txBody>
        </p:sp>
        <p:cxnSp>
          <p:nvCxnSpPr>
            <p:cNvPr id="13" name="直接连接符 12"/>
            <p:cNvCxnSpPr/>
            <p:nvPr/>
          </p:nvCxnSpPr>
          <p:spPr>
            <a:xfrm flipH="1">
              <a:off x="7015627" y="577820"/>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35008" y="2975534"/>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15BC0E7A-0D44-0CE9-276D-FD6EB0610555}"/>
              </a:ext>
            </a:extLst>
          </p:cNvPr>
          <p:cNvGrpSpPr/>
          <p:nvPr/>
        </p:nvGrpSpPr>
        <p:grpSpPr>
          <a:xfrm>
            <a:off x="1622402" y="2253125"/>
            <a:ext cx="8599541" cy="1297179"/>
            <a:chOff x="1216801" y="1689844"/>
            <a:chExt cx="6449656" cy="972884"/>
          </a:xfrm>
        </p:grpSpPr>
        <p:sp>
          <p:nvSpPr>
            <p:cNvPr id="5" name="文本框 4"/>
            <p:cNvSpPr txBox="1"/>
            <p:nvPr/>
          </p:nvSpPr>
          <p:spPr>
            <a:xfrm>
              <a:off x="1216801" y="2377986"/>
              <a:ext cx="6449656" cy="284742"/>
            </a:xfrm>
            <a:prstGeom prst="rect">
              <a:avLst/>
            </a:prstGeom>
            <a:noFill/>
          </p:spPr>
          <p:txBody>
            <a:bodyPr wrap="square" rtlCol="0">
              <a:spAutoFit/>
            </a:bodyPr>
            <a:lstStyle/>
            <a:p>
              <a:pPr algn="ctr"/>
              <a:r>
                <a:rPr lang="zh-CN" altLang="en-US" sz="1867" b="1" dirty="0">
                  <a:latin typeface="苹方-简" panose="020B0400000000000000" pitchFamily="34" charset="-122"/>
                  <a:ea typeface="苹方-简" panose="020B0400000000000000" pitchFamily="34" charset="-122"/>
                  <a:cs typeface="+mn-ea"/>
                </a:rPr>
                <a:t>答辩人：王佳伟  指导教师：袁帅</a:t>
              </a:r>
            </a:p>
          </p:txBody>
        </p:sp>
        <p:sp>
          <p:nvSpPr>
            <p:cNvPr id="4" name="文本框 3"/>
            <p:cNvSpPr txBox="1"/>
            <p:nvPr/>
          </p:nvSpPr>
          <p:spPr>
            <a:xfrm>
              <a:off x="2404324" y="1689844"/>
              <a:ext cx="4279832" cy="746406"/>
            </a:xfrm>
            <a:prstGeom prst="rect">
              <a:avLst/>
            </a:prstGeom>
            <a:noFill/>
          </p:spPr>
          <p:txBody>
            <a:bodyPr wrap="square" rtlCol="0">
              <a:spAutoFit/>
            </a:bodyPr>
            <a:lstStyle/>
            <a:p>
              <a:pPr algn="ctr"/>
              <a:r>
                <a:rPr lang="zh-CN" altLang="en-US" sz="5867" b="1" dirty="0">
                  <a:latin typeface="苹方-简 中黑体" panose="020B0600000000000000" pitchFamily="34" charset="-122"/>
                  <a:ea typeface="苹方-简 中黑体" panose="020B0600000000000000" pitchFamily="34" charset="-122"/>
                  <a:cs typeface="+mn-ea"/>
                </a:rPr>
                <a:t>感谢观看</a:t>
              </a:r>
            </a:p>
          </p:txBody>
        </p:sp>
      </p:grpSp>
    </p:spTree>
    <p:extLst>
      <p:ext uri="{BB962C8B-B14F-4D97-AF65-F5344CB8AC3E}">
        <p14:creationId xmlns:p14="http://schemas.microsoft.com/office/powerpoint/2010/main" val="2618248312"/>
      </p:ext>
    </p:extLst>
  </p:cSld>
  <p:clrMapOvr>
    <a:masterClrMapping/>
  </p:clrMapOvr>
  <mc:AlternateContent xmlns:mc="http://schemas.openxmlformats.org/markup-compatibility/2006" xmlns:p159="http://schemas.microsoft.com/office/powerpoint/2015/09/main">
    <mc:Choice Requires="p159">
      <p:transition spd="slow" advTm="3000">
        <p159:morph option="byObject"/>
      </p:transition>
    </mc:Choice>
    <mc:Fallback xmlns="">
      <p:transition spd="slow" advTm="3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简洁2018运营总结报告ppt模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179.85,&quot;left&quot;:14.8,&quot;top&quot;:102.55,&quot;width&quot;:958.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zc1lhhoj">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1607</TotalTime>
  <Words>934</Words>
  <Application>Microsoft Office PowerPoint</Application>
  <PresentationFormat>宽屏</PresentationFormat>
  <Paragraphs>187</Paragraphs>
  <Slides>19</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Yu Gothic UI</vt:lpstr>
      <vt:lpstr>黑体</vt:lpstr>
      <vt:lpstr>苹方-简</vt:lpstr>
      <vt:lpstr>苹方-简 中黑体</vt:lpstr>
      <vt:lpstr>Microsoft YaHei</vt:lpstr>
      <vt:lpstr>Arial</vt:lpstr>
      <vt:lpstr>Calibri</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简洁2018运营总结报告ppt模板</dc:title>
  <dc:creator>gkl</dc:creator>
  <cp:lastModifiedBy>Haruko386 Hare</cp:lastModifiedBy>
  <cp:revision>118</cp:revision>
  <dcterms:created xsi:type="dcterms:W3CDTF">2018-11-28T05:41:12Z</dcterms:created>
  <dcterms:modified xsi:type="dcterms:W3CDTF">2025-10-19T02:29:00Z</dcterms:modified>
</cp:coreProperties>
</file>